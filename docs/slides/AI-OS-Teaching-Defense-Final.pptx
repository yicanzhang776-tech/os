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a09234f13241dc" /><Relationship Type="http://schemas.openxmlformats.org/officeDocument/2006/relationships/extended-properties" Target="/docProps/app.xml" Id="R3a2754f4dbb545bd" /><Relationship Type="http://schemas.openxmlformats.org/officeDocument/2006/relationships/officeDocument" Target="/ppt/presentation.xml" Id="Ref977098cb234c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0634c468154a7f"/>
  </p:sldMasterIdLst>
  <p:notesMasterIdLst>
    <p:notesMasterId xmlns:r="http://schemas.openxmlformats.org/officeDocument/2006/relationships" r:id="R93e57957f2aa4474"/>
  </p:notesMasterIdLst>
  <p:sldIdLst>
    <p:sldId xmlns:r="http://schemas.openxmlformats.org/officeDocument/2006/relationships" id="256" r:id="R5d5ff3b75e8d48d3"/>
    <p:sldId xmlns:r="http://schemas.openxmlformats.org/officeDocument/2006/relationships" id="257" r:id="R76c7dfb882164af5"/>
    <p:sldId xmlns:r="http://schemas.openxmlformats.org/officeDocument/2006/relationships" id="258" r:id="R256e10fec2b64a44"/>
    <p:sldId xmlns:r="http://schemas.openxmlformats.org/officeDocument/2006/relationships" id="259" r:id="R40163c873905482d"/>
    <p:sldId xmlns:r="http://schemas.openxmlformats.org/officeDocument/2006/relationships" id="260" r:id="R93f9322a43bf4706"/>
    <p:sldId xmlns:r="http://schemas.openxmlformats.org/officeDocument/2006/relationships" id="261" r:id="R9d333dfbdea94c6f"/>
    <p:sldId xmlns:r="http://schemas.openxmlformats.org/officeDocument/2006/relationships" id="262" r:id="R55dadc4a9a13405f"/>
    <p:sldId xmlns:r="http://schemas.openxmlformats.org/officeDocument/2006/relationships" id="263" r:id="Ra3802db80f564cb8"/>
    <p:sldId xmlns:r="http://schemas.openxmlformats.org/officeDocument/2006/relationships" id="264" r:id="R52e9bcffb6b343a6"/>
    <p:sldId xmlns:r="http://schemas.openxmlformats.org/officeDocument/2006/relationships" id="265" r:id="R870e64fd6da44972"/>
    <p:sldId xmlns:r="http://schemas.openxmlformats.org/officeDocument/2006/relationships" id="266" r:id="Rd016fbf1018a436a"/>
    <p:sldId xmlns:r="http://schemas.openxmlformats.org/officeDocument/2006/relationships" id="267" r:id="R8d2a86ba65d44944"/>
    <p:sldId xmlns:r="http://schemas.openxmlformats.org/officeDocument/2006/relationships" id="268" r:id="Rab82edd74a6c464c"/>
    <p:sldId xmlns:r="http://schemas.openxmlformats.org/officeDocument/2006/relationships" id="269" r:id="Rff361580cf93491a"/>
    <p:sldId xmlns:r="http://schemas.openxmlformats.org/officeDocument/2006/relationships" id="270" r:id="Reb508319a7054818"/>
    <p:sldId xmlns:r="http://schemas.openxmlformats.org/officeDocument/2006/relationships" id="271" r:id="Ra377e3daf98a41ac"/>
    <p:sldId xmlns:r="http://schemas.openxmlformats.org/officeDocument/2006/relationships" id="272" r:id="Rc68fad366e2b4e8a"/>
    <p:sldId xmlns:r="http://schemas.openxmlformats.org/officeDocument/2006/relationships" id="273" r:id="R027aba2a2b6b430f"/>
    <p:sldId xmlns:r="http://schemas.openxmlformats.org/officeDocument/2006/relationships" id="274" r:id="R05da0418380d4532"/>
    <p:sldId xmlns:r="http://schemas.openxmlformats.org/officeDocument/2006/relationships" id="275" r:id="R9edf11432e8541e0"/>
    <p:sldId xmlns:r="http://schemas.openxmlformats.org/officeDocument/2006/relationships" id="276" r:id="Re28470856cc94fd5"/>
    <p:sldId xmlns:r="http://schemas.openxmlformats.org/officeDocument/2006/relationships" id="277" r:id="R1fafe820803a461a"/>
    <p:sldId xmlns:r="http://schemas.openxmlformats.org/officeDocument/2006/relationships" id="278" r:id="Re540456bf2064672"/>
    <p:sldId xmlns:r="http://schemas.openxmlformats.org/officeDocument/2006/relationships" id="279" r:id="R2e05cc6eda8348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9c3822d660498b" /><Relationship Type="http://schemas.openxmlformats.org/officeDocument/2006/relationships/slideMaster" Target="/ppt/slideMasters/slideMaster1.xml" Id="Rda0634c468154a7f" /><Relationship Type="http://schemas.openxmlformats.org/officeDocument/2006/relationships/notesMaster" Target="/ppt/notesMasters/notesMaster1.xml" Id="R93e57957f2aa4474" /><Relationship Type="http://schemas.openxmlformats.org/officeDocument/2006/relationships/presProps" Target="/ppt/presProps.xml" Id="Ree040277158a4a75" /><Relationship Type="http://schemas.openxmlformats.org/officeDocument/2006/relationships/tableStyles" Target="/ppt/tableStyles.xml" Id="R03d796e930474394" /><Relationship Type="http://schemas.openxmlformats.org/officeDocument/2006/relationships/slide" Target="/ppt/slides/slide1.xml" Id="R5d5ff3b75e8d48d3" /><Relationship Type="http://schemas.openxmlformats.org/officeDocument/2006/relationships/slide" Target="/ppt/slides/slide2.xml" Id="R76c7dfb882164af5" /><Relationship Type="http://schemas.openxmlformats.org/officeDocument/2006/relationships/slide" Target="/ppt/slides/slide3.xml" Id="R256e10fec2b64a44" /><Relationship Type="http://schemas.openxmlformats.org/officeDocument/2006/relationships/slide" Target="/ppt/slides/slide4.xml" Id="R40163c873905482d" /><Relationship Type="http://schemas.openxmlformats.org/officeDocument/2006/relationships/slide" Target="/ppt/slides/slide5.xml" Id="R93f9322a43bf4706" /><Relationship Type="http://schemas.openxmlformats.org/officeDocument/2006/relationships/slide" Target="/ppt/slides/slide6.xml" Id="R9d333dfbdea94c6f" /><Relationship Type="http://schemas.openxmlformats.org/officeDocument/2006/relationships/slide" Target="/ppt/slides/slide7.xml" Id="R55dadc4a9a13405f" /><Relationship Type="http://schemas.openxmlformats.org/officeDocument/2006/relationships/slide" Target="/ppt/slides/slide8.xml" Id="Ra3802db80f564cb8" /><Relationship Type="http://schemas.openxmlformats.org/officeDocument/2006/relationships/slide" Target="/ppt/slides/slide9.xml" Id="R52e9bcffb6b343a6" /><Relationship Type="http://schemas.openxmlformats.org/officeDocument/2006/relationships/slide" Target="/ppt/slides/slide10.xml" Id="R870e64fd6da44972" /><Relationship Type="http://schemas.openxmlformats.org/officeDocument/2006/relationships/slide" Target="/ppt/slides/slide11.xml" Id="Rd016fbf1018a436a" /><Relationship Type="http://schemas.openxmlformats.org/officeDocument/2006/relationships/slide" Target="/ppt/slides/slide12.xml" Id="R8d2a86ba65d44944" /><Relationship Type="http://schemas.openxmlformats.org/officeDocument/2006/relationships/slide" Target="/ppt/slides/slide13.xml" Id="Rab82edd74a6c464c" /><Relationship Type="http://schemas.openxmlformats.org/officeDocument/2006/relationships/slide" Target="/ppt/slides/slide14.xml" Id="Rff361580cf93491a" /><Relationship Type="http://schemas.openxmlformats.org/officeDocument/2006/relationships/slide" Target="/ppt/slides/slide15.xml" Id="Reb508319a7054818" /><Relationship Type="http://schemas.openxmlformats.org/officeDocument/2006/relationships/slide" Target="/ppt/slides/slide16.xml" Id="Ra377e3daf98a41ac" /><Relationship Type="http://schemas.openxmlformats.org/officeDocument/2006/relationships/slide" Target="/ppt/slides/slide17.xml" Id="Rc68fad366e2b4e8a" /><Relationship Type="http://schemas.openxmlformats.org/officeDocument/2006/relationships/slide" Target="/ppt/slides/slide18.xml" Id="R027aba2a2b6b430f" /><Relationship Type="http://schemas.openxmlformats.org/officeDocument/2006/relationships/slide" Target="/ppt/slides/slide19.xml" Id="R05da0418380d4532" /><Relationship Type="http://schemas.openxmlformats.org/officeDocument/2006/relationships/slide" Target="/ppt/slides/slide20.xml" Id="R9edf11432e8541e0" /><Relationship Type="http://schemas.openxmlformats.org/officeDocument/2006/relationships/slide" Target="/ppt/slides/slide21.xml" Id="Re28470856cc94fd5" /><Relationship Type="http://schemas.openxmlformats.org/officeDocument/2006/relationships/slide" Target="/ppt/slides/slide22.xml" Id="R1fafe820803a461a" /><Relationship Type="http://schemas.openxmlformats.org/officeDocument/2006/relationships/slide" Target="/ppt/slides/slide23.xml" Id="Re540456bf2064672" /><Relationship Type="http://schemas.openxmlformats.org/officeDocument/2006/relationships/slide" Target="/ppt/slides/slide24.xml" Id="R2e05cc6eda8348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ab1f42c31e49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60bb0ef623410a" /><Relationship Type="http://schemas.openxmlformats.org/officeDocument/2006/relationships/notesMaster" Target="/ppt/notesMasters/notesMaster1.xml" Id="Rff03c8fe067342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d37332e6f64567" /><Relationship Type="http://schemas.openxmlformats.org/officeDocument/2006/relationships/notesMaster" Target="/ppt/notesMasters/notesMaster1.xml" Id="Rd9f405c7a16c4b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ed5bf1a08f4b13" /><Relationship Type="http://schemas.openxmlformats.org/officeDocument/2006/relationships/notesMaster" Target="/ppt/notesMasters/notesMaster1.xml" Id="R19384ada4ec047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481d6e197f421d" /><Relationship Type="http://schemas.openxmlformats.org/officeDocument/2006/relationships/notesMaster" Target="/ppt/notesMasters/notesMaster1.xml" Id="R5689c57679f143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7e1d51a4054c6d" /><Relationship Type="http://schemas.openxmlformats.org/officeDocument/2006/relationships/notesMaster" Target="/ppt/notesMasters/notesMaster1.xml" Id="R4853aedab3f64d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bb28710b6341d0" /><Relationship Type="http://schemas.openxmlformats.org/officeDocument/2006/relationships/notesMaster" Target="/ppt/notesMasters/notesMaster1.xml" Id="R94f3ac5c138242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e7ab13d7eb4d34" /><Relationship Type="http://schemas.openxmlformats.org/officeDocument/2006/relationships/notesMaster" Target="/ppt/notesMasters/notesMaster1.xml" Id="R6b757e7d327441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e520d37a12471b" /><Relationship Type="http://schemas.openxmlformats.org/officeDocument/2006/relationships/notesMaster" Target="/ppt/notesMasters/notesMaster1.xml" Id="R25e14f30ceeb46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dc80b8862e452e" /><Relationship Type="http://schemas.openxmlformats.org/officeDocument/2006/relationships/notesMaster" Target="/ppt/notesMasters/notesMaster1.xml" Id="R28d456fe08ed4b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a6171d3cad478b" /><Relationship Type="http://schemas.openxmlformats.org/officeDocument/2006/relationships/notesMaster" Target="/ppt/notesMasters/notesMaster1.xml" Id="R0cd17419e6f249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54b649861f4985" /><Relationship Type="http://schemas.openxmlformats.org/officeDocument/2006/relationships/notesMaster" Target="/ppt/notesMasters/notesMaster1.xml" Id="R23851fa09c8d42a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fc1a981d7940f4" /><Relationship Type="http://schemas.openxmlformats.org/officeDocument/2006/relationships/notesMaster" Target="/ppt/notesMasters/notesMaster1.xml" Id="R77841e961afc403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26338e4aaf042d2" /><Relationship Type="http://schemas.openxmlformats.org/officeDocument/2006/relationships/notesMaster" Target="/ppt/notesMasters/notesMaster1.xml" Id="R98a18f5f738f4c0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63f5bd8eee24f03" /><Relationship Type="http://schemas.openxmlformats.org/officeDocument/2006/relationships/notesMaster" Target="/ppt/notesMasters/notesMaster1.xml" Id="Rc4710553fcd1476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48b8e31dac5453f" /><Relationship Type="http://schemas.openxmlformats.org/officeDocument/2006/relationships/notesMaster" Target="/ppt/notesMasters/notesMaster1.xml" Id="Rbd9a701f82b8445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52aecdeed0d4843" /><Relationship Type="http://schemas.openxmlformats.org/officeDocument/2006/relationships/notesMaster" Target="/ppt/notesMasters/notesMaster1.xml" Id="Rbae3508fbda2418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209708713694d0c" /><Relationship Type="http://schemas.openxmlformats.org/officeDocument/2006/relationships/notesMaster" Target="/ppt/notesMasters/notesMaster1.xml" Id="Rf4f0bad8ef1342e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917777c8c4a4967" /><Relationship Type="http://schemas.openxmlformats.org/officeDocument/2006/relationships/notesMaster" Target="/ppt/notesMasters/notesMaster1.xml" Id="Rc12c52f40d854cc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7fcd5aebea74676" /><Relationship Type="http://schemas.openxmlformats.org/officeDocument/2006/relationships/notesMaster" Target="/ppt/notesMasters/notesMaster1.xml" Id="Rfb3007c0136c49c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5d5b9da2a7a42a0" /><Relationship Type="http://schemas.openxmlformats.org/officeDocument/2006/relationships/notesMaster" Target="/ppt/notesMasters/notesMaster1.xml" Id="R73dd491c3e49403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16872990e1e46a2" /><Relationship Type="http://schemas.openxmlformats.org/officeDocument/2006/relationships/notesMaster" Target="/ppt/notesMasters/notesMaster1.xml" Id="R32d7039de7084ff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8fd631ac80349ca" /><Relationship Type="http://schemas.openxmlformats.org/officeDocument/2006/relationships/notesMaster" Target="/ppt/notesMasters/notesMaster1.xml" Id="Rc9c34a52b8a84d0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86a5e794fcd4859" /><Relationship Type="http://schemas.openxmlformats.org/officeDocument/2006/relationships/notesMaster" Target="/ppt/notesMasters/notesMaster1.xml" Id="Re24ed0b2601f4a4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10e6d7668d74d2a" /><Relationship Type="http://schemas.openxmlformats.org/officeDocument/2006/relationships/notesMaster" Target="/ppt/notesMasters/notesMaster1.xml" Id="R6cc590e0a2a749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README.md；docs/testing.md；2026-08-12 本地命令输出。</a:t>
            </a:r>
          </a:p>
          <a:p xmlns:a="http://schemas.openxmlformats.org/drawingml/2006/main">
            <a:r>
              <a:t>分支：codex/agent-docs-integration；基线：origin/main 4e60638，origin/agent-mvp d46cbba。</a:t>
            </a:r>
          </a:p>
          <a:p xmlns:a="http://schemas.openxmlformats.org/drawingml/2006/main">
            <a:r>
              <a:t>最终 Node 全量为 585 项中 579 通过、6 跳过、0 失败；80 项为学生端与智能体定向测试。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docs/interactive-demo/index.html；docs/architecture.md；kernel/src/telemetry.rs。</a:t>
            </a:r>
          </a:p>
          <a:p xmlns:a="http://schemas.openxmlformats.org/drawingml/2006/main">
            <a:r>
              <a:t>截图来自仓库真实演示页面；分支 codex/agent-docs-integration，2026-08-12。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docs/interactive-demo/README.md；docs/demo-script.md。</a:t>
            </a:r>
          </a:p>
          <a:p xmlns:a="http://schemas.openxmlformats.org/drawingml/2006/main">
            <a:r>
              <a:t>本地确定性诊断与云端教学智能体是两种能力；本页只描述前者。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docs/teaching-agent.md；docs/interactive-demo/agent/；docs/interactive-demo/server.js。</a:t>
            </a:r>
          </a:p>
          <a:p xmlns:a="http://schemas.openxmlformats.org/drawingml/2006/main">
            <a:r>
              <a:t>分支 codex/agent-docs-integration；基线 main 4e60638 + agent-mvp d46cbba。</a:t>
            </a:r>
          </a:p>
          <a:p xmlns:a="http://schemas.openxmlformats.org/drawingml/2006/main">
            <a:r>
              <a:t>定向测试：80/80 通过；在线 Agent Plan 联调尚未完成，不作为本页通过证据。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docs/teaching-agent.md；docs/feedback-admin/README.md；docs/teacher-grading/README.md。</a:t>
            </a:r>
          </a:p>
          <a:p xmlns:a="http://schemas.openxmlformats.org/drawingml/2006/main">
            <a:r>
              <a:t>首次模型同意只在当前浏览器会话有效；本页不声明问答记录的保存、刷新、恢复或导出行为。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docs/interactive-demo/README.md；docs/feedback-admin/README.md；docs/interactive-demo/feedback-server.js。</a:t>
            </a:r>
          </a:p>
          <a:p xmlns:a="http://schemas.openxmlformats.org/drawingml/2006/main">
            <a:r>
              <a:t>页面截图来自仓库真实前端；邀请码是课堂门槛，不替代 HTTPS、网络隔离或备份控制。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docs/teacher-grading/README.md；docs/teacher-grading/index.html。</a:t>
            </a:r>
          </a:p>
          <a:p xmlns:a="http://schemas.openxmlformats.org/drawingml/2006/main">
            <a:r>
              <a:t>截图来自仓库真实教师评分页面；成绩、姓名和评语不会自动匿名化。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DESIGN.md；docs/requirements.md；docs/architecture.md。</a:t>
            </a:r>
          </a:p>
          <a:p xmlns:a="http://schemas.openxmlformats.org/drawingml/2006/main">
            <a:r>
              <a:t>创新点是端到端约束关系，不以单次模型回答或单个可视化效果代替教学结果。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docs/final-acceptance-report.md；2026-08-12 本地命令输出。</a:t>
            </a:r>
          </a:p>
          <a:p xmlns:a="http://schemas.openxmlformats.org/drawingml/2006/main">
            <a:r>
              <a:t>最终 Node 全量：585 项中 579 通过、6 跳过；学生端/模型/服务器定向：80/80。</a:t>
            </a:r>
          </a:p>
          <a:p xmlns:a="http://schemas.openxmlformats.org/drawingml/2006/main">
            <a:r>
              <a:t>Rust/QEMU、Stage、分支链接与视觉验收已完成；在线 Agent Plan 与远程 CI 尚未运行。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docs/teaching-agent.md；docs/submission-checklist.md；docs/teacher-grading/README.md。</a:t>
            </a:r>
          </a:p>
          <a:p xmlns:a="http://schemas.openxmlformats.org/drawingml/2006/main">
            <a:r>
              <a:t>模型认证、限流、超时、任务繁忙和上下文变化均映射为固定中文错误。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docs/demo-script.md；docs/teaching-agent.md。</a:t>
            </a:r>
          </a:p>
          <a:p xmlns:a="http://schemas.openxmlformats.org/drawingml/2006/main">
            <a:r>
              <a:t>现场提问由演示者完成首次同意后手动发送；演示模式不会自动调用模型。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148e2b9fcd4d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9f3402f2894cc9" /><Relationship Type="http://schemas.openxmlformats.org/officeDocument/2006/relationships/slideLayout" Target="/ppt/slideLayouts/slideLayout1.xml" Id="R0bdb6dca0edb40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db6dca0edb40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bc6e4898a4bb3" /><Relationship Type="http://schemas.openxmlformats.org/officeDocument/2006/relationships/notesSlide" Target="/ppt/notesSlides/notesSlide1.xml" Id="Rd18346840cb748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901a5f4554875" /><Relationship Type="http://schemas.openxmlformats.org/officeDocument/2006/relationships/notesSlide" Target="/ppt/notesSlides/notesSlide2.xml" Id="Rf7de5678fc3a45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0a5be71434435" /><Relationship Type="http://schemas.openxmlformats.org/officeDocument/2006/relationships/notesSlide" Target="/ppt/notesSlides/notesSlide3.xml" Id="Rfa61fe0372bd42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77318d6f04ca2" /><Relationship Type="http://schemas.openxmlformats.org/officeDocument/2006/relationships/notesSlide" Target="/ppt/notesSlides/notesSlide4.xml" Id="R3c3eaae8852d45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c3df9164d412e" /><Relationship Type="http://schemas.openxmlformats.org/officeDocument/2006/relationships/notesSlide" Target="/ppt/notesSlides/notesSlide5.xml" Id="R579d426e88ec48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afd775b71481c" /><Relationship Type="http://schemas.openxmlformats.org/officeDocument/2006/relationships/notesSlide" Target="/ppt/notesSlides/notesSlide6.xml" Id="R99c2448a59a549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e875f00f94d93" /><Relationship Type="http://schemas.openxmlformats.org/officeDocument/2006/relationships/notesSlide" Target="/ppt/notesSlides/notesSlide7.xml" Id="R4a0885ba513c4f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8fb30f37e4aba" /><Relationship Type="http://schemas.openxmlformats.org/officeDocument/2006/relationships/notesSlide" Target="/ppt/notesSlides/notesSlide8.xml" Id="R87ccafdfd34f40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fec4d6506488c" /><Relationship Type="http://schemas.openxmlformats.org/officeDocument/2006/relationships/notesSlide" Target="/ppt/notesSlides/notesSlide9.xml" Id="R1278ad07bc1441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ecbe001fb4251" /><Relationship Type="http://schemas.openxmlformats.org/officeDocument/2006/relationships/notesSlide" Target="/ppt/notesSlides/notesSlide10.xml" Id="R953e2c8013ce42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0eea9529f4725" /><Relationship Type="http://schemas.openxmlformats.org/officeDocument/2006/relationships/notesSlide" Target="/ppt/notesSlides/notesSlide11.xml" Id="R8e95a1df193946b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609775bd9c45d7" /><Relationship Type="http://schemas.openxmlformats.org/officeDocument/2006/relationships/notesSlide" Target="/ppt/notesSlides/notesSlide12.xml" Id="Rb8936031e497469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8355d280b42f5" /><Relationship Type="http://schemas.openxmlformats.org/officeDocument/2006/relationships/notesSlide" Target="/ppt/notesSlides/notesSlide13.xml" Id="Rc53dba80876245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72a8a7d004970" /><Relationship Type="http://schemas.openxmlformats.org/officeDocument/2006/relationships/notesSlide" Target="/ppt/notesSlides/notesSlide14.xml" Id="R3b4f7ef5e226489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f5fdc00c8412d" /><Relationship Type="http://schemas.openxmlformats.org/officeDocument/2006/relationships/image" Target="/ppt/media/image.jpeg" Id="R9c4de6557a794ec0" /><Relationship Type="http://schemas.openxmlformats.org/officeDocument/2006/relationships/notesSlide" Target="/ppt/notesSlides/notesSlide15.xml" Id="R8552e2865f80472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f8e5763e24118" /><Relationship Type="http://schemas.openxmlformats.org/officeDocument/2006/relationships/notesSlide" Target="/ppt/notesSlides/notesSlide16.xml" Id="R60b62046422140b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57f59cceb49e1" /><Relationship Type="http://schemas.openxmlformats.org/officeDocument/2006/relationships/notesSlide" Target="/ppt/notesSlides/notesSlide17.xml" Id="Re5e94194b73f4a7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fabf2f88e4619" /><Relationship Type="http://schemas.openxmlformats.org/officeDocument/2006/relationships/notesSlide" Target="/ppt/notesSlides/notesSlide18.xml" Id="R0b2bec1ee34c4ac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71d3bc9f84b87" /><Relationship Type="http://schemas.openxmlformats.org/officeDocument/2006/relationships/image" Target="/ppt/media/image2.jpeg" Id="Rd521eae05daa47ec" /><Relationship Type="http://schemas.openxmlformats.org/officeDocument/2006/relationships/image" Target="/ppt/media/image.png" Id="Re5d068623ce34bec" /><Relationship Type="http://schemas.openxmlformats.org/officeDocument/2006/relationships/notesSlide" Target="/ppt/notesSlides/notesSlide19.xml" Id="R7dbce19d00b04fb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1d51edc2945c7" /><Relationship Type="http://schemas.openxmlformats.org/officeDocument/2006/relationships/image" Target="/ppt/media/image2.jpeg" Id="Rcd892917e9c54c24" /><Relationship Type="http://schemas.openxmlformats.org/officeDocument/2006/relationships/image" Target="/ppt/media/image.png" Id="Rabe1cf5788ab416a" /><Relationship Type="http://schemas.openxmlformats.org/officeDocument/2006/relationships/notesSlide" Target="/ppt/notesSlides/notesSlide20.xml" Id="R9728c1c488244a4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53d7a6e974630" /><Relationship Type="http://schemas.openxmlformats.org/officeDocument/2006/relationships/notesSlide" Target="/ppt/notesSlides/notesSlide21.xml" Id="Rf0a572ef90384d1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fe3232b024339" /><Relationship Type="http://schemas.openxmlformats.org/officeDocument/2006/relationships/notesSlide" Target="/ppt/notesSlides/notesSlide22.xml" Id="R2ddcc8650c0748d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97f1ad2f9404e" /><Relationship Type="http://schemas.openxmlformats.org/officeDocument/2006/relationships/notesSlide" Target="/ppt/notesSlides/notesSlide23.xml" Id="R68f3edd19c38447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902e7231a4b43" /><Relationship Type="http://schemas.openxmlformats.org/officeDocument/2006/relationships/notesSlide" Target="/ppt/notesSlides/notesSlide24.xml" Id="Rbf8fb5ba6ef443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E18321E-8348-4686-849F-C9F57BB4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D97DE-028A-4D83-A7B8-23AB6269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6EB6D-3F9C-4223-A7F7-EEEEEDE4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8094A-92F3-443D-90E4-A22217D4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21D55-32E4-4E22-91A4-4BD775A3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24503-D046-4C77-BD23-FAD3229A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B42171-66A4-4AF7-AC1D-92D158122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F2764-D4BB-49A3-A8CC-0F46A6CD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617F9-BF78-477D-B517-4D64FC1C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7F9ED-C09B-4871-B832-321C4D1C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582CA1-3FC2-44FF-94E1-1A8D1190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74C754-9EBD-4DA7-9AE0-A040823F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3F8FC-4823-4F28-9BDF-5E56CBFC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D6FB95-9921-4E95-B9D3-730BE3F1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CD06D8-2565-477F-B494-4F661014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4F1186-916C-4E5F-B64A-AAC170BA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A5D704-8EFF-4703-A040-1947EDF1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096C4A-FB2C-4CB5-BDC0-D2404A4F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15765C-CBD2-4CF2-B2AC-682125EF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CE68A2-4DC1-46F6-A7BB-9EF8F48D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428A3B-8480-49DE-BFB0-0A08134C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66C117-F2B8-4576-9953-E28617E0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FCA5F3-4FC7-46D6-81E5-01647676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A39EFB-E40F-401A-B4A2-C792A851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205607-D945-44EC-B841-0DC8148F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03D5FC-7F11-44FA-B387-029F8784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3555B1-AB3C-432A-90E6-B9497264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01E791-A415-46AD-A951-DF8FE6C6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B1C38E-7111-4ECB-96ED-D825F93E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55D341-8DB3-4705-8B17-5E29596F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171CCF-2D65-47E3-90E1-4090A1FB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9D5FF"/>
                </a:solidFill>
              </a:defRPr>
            </a:pPr>
            <a:r>
              <a:rPr sz="1125" b="1">
                <a:solidFill>
                  <a:srgbClr val="39D5FF"/>
                </a:solidFill>
              </a:rPr>
              <a:t>2026 OS 功能挑战赛道第 20 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95E746-E19E-4EBE-8848-449CCE2C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57250"/>
            <a:ext cx="3714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A2D"/>
          </a:solidFill>
          <a:ln xmlns:a="http://schemas.openxmlformats.org/drawingml/2006/main" w="19050">
            <a:solidFill>
              <a:srgbClr val="39D5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424742-8337-45F9-81CE-6925B905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314450"/>
            <a:ext cx="293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4B6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57137E-B4B2-4472-A239-7BA9AFCE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266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972CCE-0B91-477F-B061-8DB9C086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181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DBA74"/>
                </a:solidFill>
              </a:defRPr>
            </a:pPr>
            <a:r>
              <a:rPr sz="1125" b="1">
                <a:solidFill>
                  <a:srgbClr val="FDBA74"/>
                </a:solidFill>
              </a:rPr>
              <a:t>P0 最小内核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163419-69DE-4F3D-842E-EFFA89BD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71650"/>
            <a:ext cx="293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34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F5A332-ECB6-4844-A7B7-EBCE10E0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24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B82281-8A6E-42A2-AC68-0DA177BD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38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Lab1 启动/控制台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868CB7-5064-4471-B721-1F566194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28850"/>
            <a:ext cx="293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4B6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8582EC-7B37-455F-BAFF-5E9D3C24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81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CDBE1E-E1F5-4C35-B028-532DAF08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95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Lab2 Trap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460D24-28A1-4403-B7D1-69E3D4BB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86050"/>
            <a:ext cx="293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34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759E5F-07A1-4DCF-9E18-E6079967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38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990FEDA-768D-43C2-97C5-038B2CF7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52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DBA74"/>
                </a:solidFill>
              </a:defRPr>
            </a:pPr>
            <a:r>
              <a:rPr sz="1125" b="0">
                <a:solidFill>
                  <a:srgbClr val="FDBA74"/>
                </a:solidFill>
              </a:rPr>
              <a:t>Lab3 物理内存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920EA3-9723-4240-87A3-3E1238F0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43250"/>
            <a:ext cx="293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4B6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94D80DB-E74F-4A4E-815E-2DE75E37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95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9820AB-172D-44E5-A513-18B17D48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09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Lab4 Sv39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EE13FC8-7500-43F4-99DF-1C627CFF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293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34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C0BDF9-AD86-42A6-9115-1E65FA80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52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7209EAE-EB60-4847-9B12-D1D3E95F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67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Lab5 调度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F36D1C-0424-41AF-A39D-1A84D9CF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57650"/>
            <a:ext cx="293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4B6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493B6A9-8535-4B42-8BAE-235DCEF7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10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0048BCB-2C90-4519-9775-6EC56F62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24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DBA74"/>
                </a:solidFill>
              </a:defRPr>
            </a:pPr>
            <a:r>
              <a:rPr sz="1125" b="0">
                <a:solidFill>
                  <a:srgbClr val="FDBA74"/>
                </a:solidFill>
              </a:rPr>
              <a:t>Lab6 用户态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25DB04B-B85B-4E95-B67C-7F90537C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14850"/>
            <a:ext cx="293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334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C2B71D0-C1C3-432C-90A6-74C79832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467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97A219-6AA8-4BE8-8054-76859175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81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Lab7 文件 I/O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FD2D711-9270-473D-8613-9621B1F5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972050"/>
            <a:ext cx="293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E4B6C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5DD2976-9F11-4D19-9043-C8FBD200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24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35F9A06-D002-4996-B7F2-E4721F94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38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9BAD0"/>
                </a:solidFill>
              </a:defRPr>
            </a:pPr>
            <a:r>
              <a:rPr sz="1125" b="1">
                <a:solidFill>
                  <a:srgbClr val="A9BAD0"/>
                </a:solidFill>
              </a:rPr>
              <a:t>测试与文档闭环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FECB193-A0FC-45F1-A4B8-CE6B2FE4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F8FAFC"/>
                </a:solidFill>
              </a:defRPr>
            </a:pPr>
            <a:r>
              <a:rPr sz="4200" b="1">
                <a:solidFill>
                  <a:srgbClr val="F8FAFC"/>
                </a:solidFill>
              </a:rPr>
              <a:t>AI 合作的操作系统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6E27B47-1A7A-4177-A458-0E635142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685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39D5FF"/>
                </a:solidFill>
              </a:defRPr>
            </a:pPr>
            <a:r>
              <a:rPr sz="4800" b="1">
                <a:solidFill>
                  <a:srgbClr val="39D5FF"/>
                </a:solidFill>
              </a:rPr>
              <a:t>教学实验环境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ABE664F-42E7-4EBB-A130-FD8B83C2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A9BAD0"/>
                </a:solidFill>
              </a:defRPr>
            </a:pPr>
            <a:r>
              <a:rPr sz="1800" b="0">
                <a:solidFill>
                  <a:srgbClr val="A9BAD0"/>
                </a:solidFill>
              </a:rPr>
              <a:t>Rust · RISC-V 64 · QEMU/OpenSBI · P0-Lab7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C371712-B513-4517-A536-A6A7F92BC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62400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DBA74"/>
                </a:solidFill>
              </a:defRPr>
            </a:pPr>
            <a:r>
              <a:rPr sz="2250" b="1">
                <a:solidFill>
                  <a:srgbClr val="FDBA74"/>
                </a:solidFill>
              </a:rPr>
              <a:t>从可运行内核到可直接教学的实验仓库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D687B24-A91A-4C55-8A76-4C1A3774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0060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39D5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604F3F0-AE9A-423B-BB6C-CBACFD08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9D5FF"/>
                </a:solidFill>
              </a:defRPr>
            </a:pPr>
            <a:r>
              <a:rPr sz="1125" b="1">
                <a:solidFill>
                  <a:srgbClr val="39D5FF"/>
                </a:solidFill>
              </a:rPr>
              <a:t>设计方案答辩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2C968FC-BB67-4DAA-81D1-96D2A271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0060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D78DABA-83B7-4121-9AD5-EEB9D078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57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2C55E"/>
                </a:solidFill>
              </a:defRPr>
            </a:pPr>
            <a:r>
              <a:rPr sz="1125" b="1">
                <a:solidFill>
                  <a:srgbClr val="22C55E"/>
                </a:solidFill>
              </a:rPr>
              <a:t>教学实验体系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BEC8A18-DCE8-4202-A1A6-384C2AB1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0060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E319BE1-544D-43DE-8195-DE750F58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577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DBA74"/>
                </a:solidFill>
              </a:defRPr>
            </a:pPr>
            <a:r>
              <a:rPr sz="1125" b="1">
                <a:solidFill>
                  <a:srgbClr val="FDBA74"/>
                </a:solidFill>
              </a:rPr>
              <a:t>QEMU 自动验收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85735DE-6715-405F-A450-0C655D98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57850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AD0"/>
                </a:solidFill>
              </a:defRPr>
            </a:pPr>
            <a:r>
              <a:rPr sz="1275" b="0">
                <a:solidFill>
                  <a:srgbClr val="A9BAD0"/>
                </a:solidFill>
              </a:rPr>
              <a:t>项目负责人 / 内核实现：李浩明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A9BAD0"/>
                </a:solidFill>
              </a:defRPr>
            </a:pPr>
            <a:r>
              <a:rPr sz="1275" b="0">
                <a:solidFill>
                  <a:srgbClr val="A9BAD0"/>
                </a:solidFill>
              </a:rPr>
              <a:t>教学设计、测试与验收、文档与答辩：李昊然、张义灿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98B2FFB-5E42-4959-9538-18BDD2B4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498593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B60A21-7D1F-40D6-A919-C7B94DE9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A08F1-BE32-4181-8FEC-AEA99E71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F2CDF-FB9F-4573-8042-102B8F6A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99A7A-5C44-4C77-9F61-9EA04F05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D568D-0506-455B-B604-DB268B0E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B7B998-5729-4028-85C4-3162C431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E7224-8CF6-42B2-936E-C2E49111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D42D7-6018-4A76-80D8-3BEF02CC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7CD551-E029-4B39-9BD2-21E2A74E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B194AC-1C6B-477B-969E-9580FA71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7F6998-8EB8-4AC0-9FD9-2AEEB4AF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B0BFBD-1D87-4A57-B0EF-DB3A5F21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0AB725-599D-4C06-891B-C406F3B4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04D83-10F6-40F8-BF77-B39EA851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BD1D1-948D-424D-BBE0-1F2B64D0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179BCA-7344-45CA-A30F-0660F51C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0FBEEF-C14D-427E-B177-0D033A03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30D5F5-13CD-475E-AD5A-A52BA394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CCBB2F-A78D-4597-8858-BE69A95D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714020-F798-4B29-BD43-54F390B1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6C007F-1DF4-4198-B85D-B5AA648F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8188AC-FB01-4F67-B3A6-728C967F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36F81F-1F9E-49E9-BD96-16569605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1474D4-4B01-4B6A-9C55-45439159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259D0C-33E4-4894-8D33-34EC3125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699518-0AB2-4864-8075-A53FB9FF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8F7E3B-1482-4923-BF57-AAA0133C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C9658B-113B-46D6-B888-DB6ECAA6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246F72-5290-4E8A-8B33-3B30B2E4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1EC522-191E-4CE3-BB06-DF240EBD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2DC539-5F6E-4C48-AA56-47264EB8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9D5FF"/>
                </a:solidFill>
              </a:defRPr>
            </a:pPr>
            <a:r>
              <a:rPr sz="1125" b="1">
                <a:solidFill>
                  <a:srgbClr val="39D5FF"/>
                </a:solidFill>
              </a:rPr>
              <a:t>赛题分析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B15432-6171-4E62-871E-C5C8D292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8FAFC"/>
                </a:solidFill>
              </a:defRPr>
            </a:pPr>
            <a:r>
              <a:rPr sz="3150" b="1">
                <a:solidFill>
                  <a:srgbClr val="F8FAFC"/>
                </a:solidFill>
              </a:rPr>
              <a:t>题目要求的不是“大而全 OS”，而是可教学的 OS 实验环境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D4A1D0-172D-4E3A-9ABA-196564F3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9BAD0"/>
                </a:solidFill>
              </a:defRPr>
            </a:pPr>
            <a:r>
              <a:rPr sz="1425" b="0">
                <a:solidFill>
                  <a:srgbClr val="A9BAD0"/>
                </a:solidFill>
              </a:rPr>
              <a:t>我们把评分关注点拆成工程基线、教学设计、测试证据和文档交付四条线。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1A0504-DA10-42DA-A8FF-A42DC9F7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573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25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C4602E-4ACD-4D8C-B561-F3F59C1D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038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39D5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70895E-A921-4630-8C19-5D441690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CBCFC5-96C8-43B9-8B4F-51E92C18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193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9D5FF"/>
                </a:solidFill>
              </a:defRPr>
            </a:pPr>
            <a:r>
              <a:rPr sz="1650" b="1">
                <a:solidFill>
                  <a:srgbClr val="39D5FF"/>
                </a:solidFill>
              </a:rPr>
              <a:t>Rust / RISC-V / QEMU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E2F134-0C7F-43D1-8E1B-32FE046D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384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BAD0"/>
                </a:solidFill>
              </a:defRPr>
            </a:pPr>
            <a:r>
              <a:rPr sz="1350" b="0">
                <a:solidFill>
                  <a:srgbClr val="A9BAD0"/>
                </a:solidFill>
              </a:rPr>
              <a:t>内核主体使用 Rust，目标为 RISC-V 64，通过 QEMU virt + OpenSBI 运行。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DED322-0CF8-49D0-8740-07CA2491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038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4E515A-2928-4EF3-A468-8E2C70D9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D45925-3D32-417F-A29D-CF5D8557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956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2C55E"/>
                </a:solidFill>
              </a:defRPr>
            </a:pPr>
            <a:r>
              <a:rPr sz="1650" b="1">
                <a:solidFill>
                  <a:srgbClr val="22C55E"/>
                </a:solidFill>
              </a:rPr>
              <a:t>至少 5 个基础实验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620C79-69CD-4123-A1A5-C9DBA7D1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147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BAD0"/>
                </a:solidFill>
              </a:defRPr>
            </a:pPr>
            <a:r>
              <a:rPr sz="1350" b="0">
                <a:solidFill>
                  <a:srgbClr val="A9BAD0"/>
                </a:solidFill>
              </a:rPr>
              <a:t>最终设计 7 个递进实验，从启动到文件 I/O，知识点前后衔接。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858CA5-FE12-4219-A59C-8651BDA7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1038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3C1A47-9FDF-4BB1-BDB1-CE576486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A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C1B5FF-6C67-4CB8-99FE-A5383C61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719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DBA74"/>
                </a:solidFill>
              </a:defRPr>
            </a:pPr>
            <a:r>
              <a:rPr sz="1650" b="1">
                <a:solidFill>
                  <a:srgbClr val="FDBA74"/>
                </a:solidFill>
              </a:rPr>
              <a:t>Crate 与测试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8A504BC-6543-401F-B2FA-A523394F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910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BAD0"/>
                </a:solidFill>
              </a:defRPr>
            </a:pPr>
            <a:r>
              <a:rPr sz="1350" b="0">
                <a:solidFill>
                  <a:srgbClr val="A9BAD0"/>
                </a:solidFill>
              </a:rPr>
              <a:t>Rust workspace + kernel crate，配套主机单测与 QEMU 系统测试。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A6BB1D-9106-407C-B404-D551543C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1038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1F46B8-7358-4515-A6E0-7EA067FD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C66D407-438B-428C-8181-34E90601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482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A78BFA"/>
                </a:solidFill>
              </a:defRPr>
            </a:pPr>
            <a:r>
              <a:rPr sz="1650" b="1">
                <a:solidFill>
                  <a:srgbClr val="A78BFA"/>
                </a:solidFill>
              </a:rPr>
              <a:t>Markdown 与 Mermaid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BA8C56-DC5B-46DE-80BE-4693036A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673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BAD0"/>
                </a:solidFill>
              </a:defRPr>
            </a:pPr>
            <a:r>
              <a:rPr sz="1350" b="0">
                <a:solidFill>
                  <a:srgbClr val="A9BAD0"/>
                </a:solidFill>
              </a:rPr>
              <a:t>README、任务书、提示、教师指南、设计文档均使用 Markdown。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B5757C5-6F33-488B-BCF6-2FB84E84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23311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DD337F0-A45D-4A6D-AAFD-CBE65F38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48029-0764-4FBF-9E0B-A5B16AAF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83C17-E778-4B13-9080-2C156DFF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D38CF-4CEE-4A8B-B4A6-251CFCB6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7C6664-3328-46F5-B30E-1E058B52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2F9B9-EBED-425C-87D9-BB5E65F1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974CF5-43BB-41F5-A613-FD97D58A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04B340-F1F4-4B1D-AE72-0E1F4529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F7778-37AB-481A-89B9-A0CD52BD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275DC8-8B06-4BA1-A542-A89931C4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D1F08-CD1B-4C71-8E64-41A11486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0EB91-97AA-4749-93C8-9B4E983F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F5064-EBBC-4D7D-B5E6-BEC4D596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6879F9-EF76-4F36-81E1-F4E7B57B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AACBB-F964-4AA9-9BD3-B956817D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8F75B1-B9F1-4DEA-80CD-7576E00F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3DF1BC-9CB5-40AE-82F5-AF23AD59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F7F6A1-96EE-410C-B087-194121CD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19AF06-24B9-4BC2-8FC7-34D0D9B2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F4267D-62E0-4D0E-B84D-0A9C365B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F29291-5AD3-4C97-825A-37A8C5F8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8A8F1B-4FF4-4E62-896E-78947A2F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865F4C-9EFB-4257-9195-900FF61C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44B141-035A-44E3-A4AE-2B43DE37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11D6AC-28AB-4DBF-BB5B-5B29D622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CB60A2-4F05-48B8-AECF-9FC44F91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23AF49-D423-4977-BE85-D82B03E6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537AA3-E2E5-40EA-AA26-119BC667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B32ADF-CE1B-4B05-A505-EB3A0DF4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F976F1-216B-4D79-A70A-0E9D6014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DB6838-64CB-4B3B-92FB-0E9F4BD6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9D5FF"/>
                </a:solidFill>
              </a:defRPr>
            </a:pPr>
            <a:r>
              <a:rPr sz="1125" b="1">
                <a:solidFill>
                  <a:srgbClr val="39D5FF"/>
                </a:solidFill>
              </a:rPr>
              <a:t>核心判断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2B2E38-0DBF-4DB0-8F5A-724CEE93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8FAFC"/>
                </a:solidFill>
              </a:defRPr>
            </a:pPr>
            <a:r>
              <a:rPr sz="3150" b="1">
                <a:solidFill>
                  <a:srgbClr val="F8FAFC"/>
                </a:solidFill>
              </a:rPr>
              <a:t>把赛题从“实现更多功能”转化为“构建可教学体系”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09883E-5D64-4460-AAB4-2F90785B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9BAD0"/>
                </a:solidFill>
              </a:defRPr>
            </a:pPr>
            <a:r>
              <a:rPr sz="1425" b="0">
                <a:solidFill>
                  <a:srgbClr val="A9BAD0"/>
                </a:solidFill>
              </a:rPr>
              <a:t>功能是基础，教学可用性才是本题区别于普通 OS 作业的关键。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0DE61D-4BFD-4B21-A573-2A7C7F17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573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25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469BB2-8D66-4BAE-A6D5-3CB186B8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3190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94068A-82FE-455C-B2FF-E60B487B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76A4D3-4C0D-4F79-8895-D4A1E80B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B7185"/>
                </a:solidFill>
              </a:defRPr>
            </a:pPr>
            <a:r>
              <a:rPr sz="2100" b="1">
                <a:solidFill>
                  <a:srgbClr val="FB7185"/>
                </a:solidFill>
              </a:rPr>
              <a:t>如果只做功能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9ABC8C-6AFE-43C6-AF44-5177C33C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AD0"/>
                </a:solidFill>
              </a:defRPr>
            </a:pPr>
            <a:r>
              <a:rPr sz="1275" b="0">
                <a:solidFill>
                  <a:srgbClr val="A9BAD0"/>
                </a:solidFill>
              </a:rPr>
              <a:t>• 评委看到能跑的内核，但学生未必知道从哪里学。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A9BAD0"/>
                </a:solidFill>
              </a:defRPr>
            </a:pPr>
            <a:r>
              <a:rPr sz="1275" b="0">
                <a:solidFill>
                  <a:srgbClr val="A9BAD0"/>
                </a:solidFill>
              </a:rPr>
              <a:t>• 文档和测试容易变成附属品。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A130CE-C13A-4D4D-B6CD-F4D5F50D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333625"/>
            <a:ext cx="3190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C2235"/>
          </a:solidFill>
          <a:ln xmlns:a="http://schemas.openxmlformats.org/drawingml/2006/main" w="9525">
            <a:solidFill>
              <a:srgbClr val="39D5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250702-AFDD-492F-A5D6-F4855950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33362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D847D6-9CBA-4040-B29D-3805A397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09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9D5FF"/>
                </a:solidFill>
              </a:defRPr>
            </a:pPr>
            <a:r>
              <a:rPr sz="2100" b="1">
                <a:solidFill>
                  <a:srgbClr val="39D5FF"/>
                </a:solidFill>
              </a:rPr>
              <a:t>我们的设计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07219D-3A9A-4D98-A29D-50818F53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2194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AD0"/>
                </a:solidFill>
              </a:defRPr>
            </a:pPr>
            <a:r>
              <a:rPr sz="1275" b="0">
                <a:solidFill>
                  <a:srgbClr val="A9BAD0"/>
                </a:solidFill>
              </a:rPr>
              <a:t>• P0 先保证可重复运行。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A9BAD0"/>
                </a:solidFill>
              </a:defRPr>
            </a:pPr>
            <a:r>
              <a:rPr sz="1275" b="0">
                <a:solidFill>
                  <a:srgbClr val="A9BAD0"/>
                </a:solidFill>
              </a:rPr>
              <a:t>• Lab1-Lab7 每个实验都有 starter/solution。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A9BAD0"/>
                </a:solidFill>
              </a:defRPr>
            </a:pPr>
            <a:r>
              <a:rPr sz="1275" b="0">
                <a:solidFill>
                  <a:srgbClr val="A9BAD0"/>
                </a:solidFill>
              </a:rPr>
              <a:t>• 每个实验约 3 个任务，任务完成即可阶段测试。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8C1D8E-444E-4527-8A9C-5241301B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33625"/>
            <a:ext cx="319087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A75684-3FDB-4AC4-8158-361F51A5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33625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B5A8A4E-8FAD-467A-BAEE-75717CAF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09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2C55E"/>
                </a:solidFill>
              </a:defRPr>
            </a:pPr>
            <a:r>
              <a:rPr sz="2100" b="1">
                <a:solidFill>
                  <a:srgbClr val="22C55E"/>
                </a:solidFill>
              </a:rPr>
              <a:t>最终效果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D2BB96-4B28-4B58-BDF4-92724868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194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AD0"/>
                </a:solidFill>
              </a:defRPr>
            </a:pPr>
            <a:r>
              <a:rPr sz="1275" b="0">
                <a:solidFill>
                  <a:srgbClr val="A9BAD0"/>
                </a:solidFill>
              </a:rPr>
              <a:t>• 学生有任务书与分级提示。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A9BAD0"/>
                </a:solidFill>
              </a:defRPr>
            </a:pPr>
            <a:r>
              <a:rPr sz="1275" b="0">
                <a:solidFill>
                  <a:srgbClr val="A9BAD0"/>
                </a:solidFill>
              </a:rPr>
              <a:t>• 教师有参考实现与教师指南。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A9BAD0"/>
                </a:solidFill>
              </a:defRPr>
            </a:pPr>
            <a:r>
              <a:rPr sz="1275" b="0">
                <a:solidFill>
                  <a:srgbClr val="A9BAD0"/>
                </a:solidFill>
              </a:rPr>
              <a:t>• 评委可用脚本复现验收。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5CAFE2-AAAB-4347-B51F-0303A36A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9144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E41B22-3A82-4BD2-829A-7E791000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3400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A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4C3A5C-6641-4DFC-815D-2BA7274C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483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DBA74"/>
                </a:solidFill>
              </a:defRPr>
            </a:pPr>
            <a:r>
              <a:rPr sz="1425" b="1">
                <a:solidFill>
                  <a:srgbClr val="FDBA74"/>
                </a:solidFill>
              </a:rPr>
              <a:t>一句话定位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CFB6F19-06EF-407C-A568-D71162C0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734050"/>
            <a:ext cx="8724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这不是工业级通用 OS，而是一套能把 OS 核心机制讲清楚、跑起来、测出来的本科教学实验环境。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BFA8996-66F2-4DC5-9F04-93149924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248083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64DD3E7-2B85-4E3E-BBEB-F7D7AA71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4E8EA-F3E5-4B15-A29E-C1ACCEA6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452B2-9232-4AA5-ADF1-A5552A67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76A29-6FCC-40F6-9870-4A9D382A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FA8F8-7EB9-4EE8-8EFC-BAB54121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A1911-F358-4763-95B8-269D7757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8D2742-1948-41F5-AB78-46BDEB18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E6C1D-5A32-41DB-AC7B-E28101EC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877BB0-DF1A-4903-836C-59BD7D35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3E0C17-EA31-4B49-9D32-3A41355E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4878E5-5ADE-4BDA-86B2-BBA7F661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56F2E-8A05-482C-A62C-621CE704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EA5BA7-F6CF-43DD-A064-4C3B7CAA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BD0D57-BB07-4BDE-8F63-FE52EB07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682175-E6BA-49ED-8A54-BA2050D9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F636A8-0325-4885-BA5D-4ABFF41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6B7827-6639-4E0A-A0E4-1C7E58E0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C7A323-1D15-44D7-B26E-8A3AD025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07C221-278C-43C9-B496-BB62AD1D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9A0368-CDB2-40B5-86F6-BB9D12DC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028335-D274-40BE-8F0D-16061EA2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3A08B6-4464-4FE9-96E9-4255158F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30EECE-4FD2-477D-81A9-36CD81C8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962A80-84ED-4596-8FC4-945EA780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363020-2D87-4151-8D58-3CF0F1E6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5CA145-1058-4C30-83AF-2AD89646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6455D7-D9AC-46B7-9AA4-44AD6735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5CEA0C-D431-4062-B9E5-B6C7F7A5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B47F29-96DC-4443-A3F8-B3EFD36C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3A2F68-C221-4D5C-A8FC-CE80134B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F28A76-B1F7-4413-8771-004E859F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成果展示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B10695-0B07-473A-AAF9-D36F750B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B8C9"/>
                </a:solidFill>
              </a:defRPr>
            </a:pPr>
            <a:r>
              <a:rPr sz="1350" b="0">
                <a:solidFill>
                  <a:srgbClr val="A9B8C9"/>
                </a:solidFill>
              </a:rPr>
              <a:t>一套仓库串起教学、可视化、反馈、验收和答辩证据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586FE4-8050-4A4C-AB9C-986CBA20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16BFB3-EA2A-4E07-AC84-27216DC9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A9B8C9"/>
                </a:solidFill>
              </a:defRPr>
            </a:pPr>
            <a:r>
              <a:rPr sz="1050" b="0">
                <a:solidFill>
                  <a:srgbClr val="A9B8C9"/>
                </a:solidFill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1DF762-A6F3-4820-A01C-F3E1AF7A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2000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C21D36-1BD7-4233-9B45-3A925C33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682D8C-A469-44F0-9830-B4AF9875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35C8F4"/>
                </a:solidFill>
              </a:defRPr>
            </a:pPr>
            <a:r>
              <a:rPr sz="3150" b="1">
                <a:solidFill>
                  <a:srgbClr val="35C8F4"/>
                </a:solidFill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BCF6D3-2157-46E8-B19A-9616E163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递进式教学实验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388FA7-6A20-4938-83E3-D69F8A2A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33600"/>
            <a:ext cx="2000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3A0B81-865F-49EC-92E7-EE445B52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336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F2B651-1A3C-4435-ABCF-F04D8D99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431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FF7A1A"/>
                </a:solidFill>
              </a:defRPr>
            </a:pPr>
            <a:r>
              <a:rPr sz="3150" b="1">
                <a:solidFill>
                  <a:srgbClr val="FF7A1A"/>
                </a:solidFill>
              </a:rPr>
              <a:t>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6E2188-C2C0-44F5-963B-D0C8316A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718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每个 Lab 分阶段验收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E54281-C84F-494B-A0E6-91CC1AB1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33600"/>
            <a:ext cx="2000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586773-63DF-4947-A317-FA958796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336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C9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DCA81E-31B8-4D05-8F68-F4897831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30C980"/>
                </a:solidFill>
              </a:defRPr>
            </a:pPr>
            <a:r>
              <a:rPr sz="3150" b="1">
                <a:solidFill>
                  <a:srgbClr val="30C980"/>
                </a:solidFill>
              </a:rPr>
              <a:t>579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26E3402-BFD2-495E-B4D6-C02D53D1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718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最终全量通过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A655754-EA81-488C-BE6D-DCC4359F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33600"/>
            <a:ext cx="2000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9A41EBF-2234-44F7-BE8A-5E09E31F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336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5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6D35DB-E282-4C91-B554-57537647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431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F3B562"/>
                </a:solidFill>
              </a:defRPr>
            </a:pPr>
            <a:r>
              <a:rPr sz="3150" b="1">
                <a:solidFill>
                  <a:srgbClr val="F3B562"/>
                </a:solidFill>
              </a:rPr>
              <a:t>80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40CB385-AB53-45EE-BE5E-4B4C4CD8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718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新增定向测试通过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4E83011-2924-4FB2-86E5-ACFE05E3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33600"/>
            <a:ext cx="2000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3F73EE-FFA2-4143-BA7F-7FFBF025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336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98D1507-D46F-4838-8739-D0099653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34315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35C8F4"/>
                </a:solidFill>
              </a:defRPr>
            </a:pPr>
            <a:r>
              <a:rPr sz="3150" b="1">
                <a:solidFill>
                  <a:srgbClr val="35C8F4"/>
                </a:solidFill>
              </a:rPr>
              <a:t>18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0121CFD-AC0B-4275-88BE-99108F69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9718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已同步工作分支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76BE905-CF94-4E5D-A579-18519EEC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4572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C11C381-E8A9-4AE1-9297-A7759B7E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67DC812-71A7-4C4A-A77A-26B0490F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417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7A1A"/>
                </a:solidFill>
              </a:defRPr>
            </a:pPr>
            <a:r>
              <a:rPr sz="1575" b="1">
                <a:solidFill>
                  <a:srgbClr val="FF7A1A"/>
                </a:solidFill>
              </a:rPr>
              <a:t>main：完整产品说明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E8CF39E-DDAA-447A-8941-FF32411A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4171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</a:defRPr>
            </a:pPr>
            <a:r>
              <a:rPr sz="1200" b="0">
                <a:solidFill>
                  <a:srgbClr val="F7FAFC"/>
                </a:solidFill>
              </a:rPr>
              <a:t>面向评委和教师：真实 QEMU 证据、可视化、受限教学智能体、主动远程反馈和本机人工评分。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4B120A3-FE74-417F-AA24-4623EB33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95750"/>
            <a:ext cx="5429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33799B7-F716-4C43-8A18-DA62B237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9575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3900B3D-E3D8-4E44-9A70-7F2241C5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6720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5C8F4"/>
                </a:solidFill>
              </a:defRPr>
            </a:pPr>
            <a:r>
              <a:rPr sz="1575" b="1">
                <a:solidFill>
                  <a:srgbClr val="35C8F4"/>
                </a:solidFill>
              </a:rPr>
              <a:t>最新 main + agent-mvp 集成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A333CA6-29FA-446A-91DC-36FFCC9C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86300"/>
            <a:ext cx="5029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</a:defRPr>
            </a:pPr>
            <a:r>
              <a:rPr sz="1200" b="0">
                <a:solidFill>
                  <a:srgbClr val="F7FAFC"/>
                </a:solidFill>
              </a:rPr>
              <a:t>origin/main 与 origin/agent-mvp 已在隔离分支合并；Rust/QEMU、18 分支链接和 24 页 PPT 已验收。在线 Agent Plan 与远程 CI 未运行。</a:t>
            </a:r>
          </a:p>
        </p:txBody>
      </p:sp>
    </p:spTree>
    <p:extLst>
      <p:ext uri="{BB962C8B-B14F-4D97-AF65-F5344CB8AC3E}">
        <p14:creationId xmlns:p14="http://schemas.microsoft.com/office/powerpoint/2010/main" val="14776036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1B367C4-957E-4B8F-A3C8-428555A6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F28DD-EE51-49AA-A365-8244466C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CDAF7-75AC-439D-9531-6B7DC5CC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379C8-BCE1-4938-A379-E9CC6EB4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BA249-1031-4625-A6DF-F445AB96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6BE12-BCB9-4549-BFB3-258AC034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3AA5B-F58B-48C0-B244-CD909577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0AA84-A868-4A03-BEC7-9418DA4E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B726A-688E-4942-BBFD-348FCBC6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ED467-CB12-47A6-9AB1-409C80F9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29E6B-21FB-4ABC-A636-6AE1B5EF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84B15-AF66-413E-A840-843523D9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BB2E1-A1C8-440B-A6F9-AAFCAB86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DD3040-F5B8-4B1A-A4A8-9FFFD1FB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0D5C4A-3F4E-448D-8414-AF097119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F385A0-C561-4101-9819-587F2B60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25C680-DA65-4946-A1D4-A91931A7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2569D7-62BE-4FD6-974B-CF06CFC4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F38BDE-7739-4BE9-8538-B8BCA5B1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821C11-A7F9-4ED7-9483-9D11FFD6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D65BC7-1B38-4546-AC77-0E10C046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99939B-A6BE-4885-82FD-E2B099EB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528190-2EDB-4DED-A640-0D326CE5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09E89F-B96A-4795-9EDE-80A8537F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ED7974-8373-4877-897E-57345B2A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E775AF-7375-4E80-AA3E-FF16981A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4A583C-5D51-44B3-961D-CC0D03E1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192F3D-F0FF-46DB-BDC4-0A688929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1FBF24-7534-4A74-885C-02DC7CAA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D76683-331D-47CE-B7CF-20B3CB7B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A2B236-F87A-4CF1-81D2-095E439C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9D5FF"/>
                </a:solidFill>
              </a:defRPr>
            </a:pPr>
            <a:r>
              <a:rPr sz="1125" b="1">
                <a:solidFill>
                  <a:srgbClr val="39D5FF"/>
                </a:solidFill>
              </a:rPr>
              <a:t>教学设计方法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861B12-1C65-4D05-9340-72B98E82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8FAFC"/>
                </a:solidFill>
              </a:defRPr>
            </a:pPr>
            <a:r>
              <a:rPr sz="3150" b="1">
                <a:solidFill>
                  <a:srgbClr val="F8FAFC"/>
                </a:solidFill>
              </a:rPr>
              <a:t>每个实验都按“低门槛进入、分阶段验证、答案隔离”设计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F02FF3-EC72-4974-816A-EF12EB0B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9BAD0"/>
                </a:solidFill>
              </a:defRPr>
            </a:pPr>
            <a:r>
              <a:rPr sz="1425" b="0">
                <a:solidFill>
                  <a:srgbClr val="A9BAD0"/>
                </a:solidFill>
              </a:rPr>
              <a:t>面向普通本科生，不默认学生已经具备复杂内核开发经验。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35607C-AE6D-467A-B58A-34E59B46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573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25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5BECBD-1E5A-4610-95CD-3D958C28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4762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39D5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30F797-8BDD-4688-B4E1-E05D921F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B771D0-8143-4AC5-B0EE-D02DDC74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431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9D5FF"/>
                </a:solidFill>
              </a:defRPr>
            </a:pPr>
            <a:r>
              <a:rPr sz="1875" b="1">
                <a:solidFill>
                  <a:srgbClr val="39D5FF"/>
                </a:solidFill>
              </a:rPr>
              <a:t>约 3 个任务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E43B77-5649-496E-8BE9-9106251D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43175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AD0"/>
                </a:solidFill>
              </a:defRPr>
            </a:pPr>
            <a:r>
              <a:rPr sz="1275" b="0">
                <a:solidFill>
                  <a:srgbClr val="A9BAD0"/>
                </a:solidFill>
              </a:rPr>
              <a:t>每个实验拆成 3 个由易到难的小任务，避免一次性跨越过大。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4BA94B-1EC4-4CBF-9B6F-340BAEBB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4762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EA4F95-76DC-42AF-9592-2987F686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EBF1FD-5B03-4174-973C-2D3F36BA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431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2C55E"/>
                </a:solidFill>
              </a:defRPr>
            </a:pPr>
            <a:r>
              <a:rPr sz="1875" b="1">
                <a:solidFill>
                  <a:srgbClr val="22C55E"/>
                </a:solidFill>
              </a:rPr>
              <a:t>每步可验证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EE8CD4-B74B-459A-A127-7293B8C1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43175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AD0"/>
                </a:solidFill>
              </a:defRPr>
            </a:pPr>
            <a:r>
              <a:rPr sz="1275" b="0">
                <a:solidFill>
                  <a:srgbClr val="A9BAD0"/>
                </a:solidFill>
              </a:rPr>
              <a:t>Stage 1/2/3 独立 PASS，学生完成一小步就能看到结果。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184715-A1F5-4B64-A5C5-F9E4BF8E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4762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6145E4-FD0F-47C6-974E-DA4D41C5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A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1F78F5-3BC2-4C75-8B76-BA560891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0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DBA74"/>
                </a:solidFill>
              </a:defRPr>
            </a:pPr>
            <a:r>
              <a:rPr sz="1875" b="1">
                <a:solidFill>
                  <a:srgbClr val="FDBA74"/>
                </a:solidFill>
              </a:rPr>
              <a:t>分级提示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600348F-23B6-48F9-848D-1CA82288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100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AD0"/>
                </a:solidFill>
              </a:defRPr>
            </a:pPr>
            <a:r>
              <a:rPr sz="1275" b="0">
                <a:solidFill>
                  <a:srgbClr val="A9BAD0"/>
                </a:solidFill>
              </a:rPr>
              <a:t>HINTS 从概念方向到伪代码，不直接给可复制答案。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7B8916-F376-4605-8EDC-483B2302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762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A78BF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FC0F35-AC69-4F5D-AFC6-EACFE954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10BA62-2E0F-48FC-B15D-5F822D94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10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A78BFA"/>
                </a:solidFill>
              </a:defRPr>
            </a:pPr>
            <a:r>
              <a:rPr sz="1875" b="1">
                <a:solidFill>
                  <a:srgbClr val="A78BFA"/>
                </a:solidFill>
              </a:rPr>
              <a:t>答案隔离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362E019-CFC4-41B6-9141-E70687A0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100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AD0"/>
                </a:solidFill>
              </a:defRPr>
            </a:pPr>
            <a:r>
              <a:rPr sz="1275" b="0">
                <a:solidFill>
                  <a:srgbClr val="A9BAD0"/>
                </a:solidFill>
              </a:rPr>
              <a:t>starter 不含 SOLUTION，solution 才给参考实现和教师指南。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91DD57-511E-45D6-88B7-FEDB0048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534488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7BB7894-B112-4D96-9B05-71D3664F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E6ED6-E49D-4949-B884-50847176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BE624-FA3E-478D-8B21-707AC02B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C5AA3-E8D1-4961-AD74-02832E75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4E7E2-DEC6-407B-8B50-5C07141D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7D73EC-C543-4CF8-8CDD-DC32E218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4808F8-045E-44B6-A374-971D6E63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E532A2-6D0D-4D56-BAAC-3AB9A717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78134E-0704-4AB1-9237-C1DC8ED0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4D867-F31A-4EED-B1EA-1357EE04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A80F8-579F-4E08-A4AD-E5E27742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914543-052A-4E30-99E3-C7352F18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E6D7F-F57E-4FB9-818E-F6753359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C168BB-A6C1-44CA-B22F-6AD042F4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424293-CE5F-444C-9F17-EB63C3A1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5872B7-5ED1-4584-84EA-9E132DB7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105CA4-EB85-4F91-97C5-E560AE85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5CE2A0-B2B6-404B-98A6-90D96B1B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EF4743-4D2B-4830-9F7F-BB658A5C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6DD94E-B960-4CA3-8FAD-C740E382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DECEA2-12B2-4241-AA9F-177AD7F8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D3CF43-3C18-4455-90DD-F4C7821E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5A7B12-92CF-4812-B9E0-5DF5A2CE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3C35C0-67D4-40A9-95DD-54AEDC6A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20062A-884E-41F4-9B50-76ABC383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0E9F2E-6650-4BFE-AE8C-F2308F2C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DA891A-1B9A-4601-B01C-72746426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DAB4E4-6557-4A92-8508-2906FA56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CF1813-DB5E-4C02-ABF6-985272DA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980754-839E-4C6E-B893-AB6287E1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3194A2-22AD-4AE5-8E05-8F5AE649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9D5FF"/>
                </a:solidFill>
              </a:defRPr>
            </a:pPr>
            <a:r>
              <a:rPr sz="1125" b="1">
                <a:solidFill>
                  <a:srgbClr val="39D5FF"/>
                </a:solidFill>
              </a:rPr>
              <a:t>系统总体架构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26B308-7CB2-4392-A38F-8E170A5A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8FAFC"/>
                </a:solidFill>
              </a:defRPr>
            </a:pPr>
            <a:r>
              <a:rPr sz="3150" b="1">
                <a:solidFill>
                  <a:srgbClr val="F8FAFC"/>
                </a:solidFill>
              </a:rPr>
              <a:t>从 boot 到 fs 的教学内核路径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8EFE03-8DF1-4672-8482-E66D14DE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9BAD0"/>
                </a:solidFill>
              </a:defRPr>
            </a:pPr>
            <a:r>
              <a:rPr sz="1425" b="0">
                <a:solidFill>
                  <a:srgbClr val="A9BAD0"/>
                </a:solidFill>
              </a:rPr>
              <a:t>保留真实 OS 机制，但每一层都控制在本科教学可理解范围。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E50F87-0A5D-4BB3-AFCD-EF431DAA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573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25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B856CA-5B2E-4492-BB97-721AD514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4763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32940"/>
          </a:solidFill>
          <a:ln xmlns:a="http://schemas.openxmlformats.org/drawingml/2006/main" w="9525">
            <a:solidFill>
              <a:srgbClr val="39D5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8F2403-6260-49E6-A685-8330EFAF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57475"/>
            <a:ext cx="117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boot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2840BE-A0C1-4C9E-9F8C-AEB4A82A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62275"/>
            <a:ext cx="1171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_start / stack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CDC5941-FF61-43A6-A3D8-EBC62943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90700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32940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E340F1-7E7D-4C25-B0C8-74B84CC3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2405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sbi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FB96A8-F29C-4B62-8B1A-646DC5DA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288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console / reset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B75992-C4BD-4126-95C1-9D6B3180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38500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32940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454E77-B2B9-4530-AB50-1822884A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7185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console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950C43-0563-42A3-B626-652F889C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日志输出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2AC395-8C6F-4CDD-8A12-3B758B47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241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32940"/>
          </a:solidFill>
          <a:ln xmlns:a="http://schemas.openxmlformats.org/drawingml/2006/main" w="9525">
            <a:solidFill>
              <a:srgbClr val="39D5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C1202B-F32A-4C53-96B9-DF39A4B4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5747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trap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2F1FB2-70F2-40EC-BFA3-4F6B6C3A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6227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stvec / scause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578F07-3D8E-4B4B-80B2-81C36ED0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14500"/>
            <a:ext cx="1809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32940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690290A-0A20-4D10-BB2E-8211F456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8478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memory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9E109F-1B34-4C53-A55F-0F81841E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1526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frame + Sv39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B400D9A-B712-43E5-9856-2F49D7FE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1809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32940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137ECED-DFBF-4164-A6D4-578DAC74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478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task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256D6F4-B3A1-485D-860E-75B90901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526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yield + switch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B8A8D4A-5F15-4AC5-A9E3-7EAE2C10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714750"/>
            <a:ext cx="1809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32940"/>
          </a:solidFill>
          <a:ln xmlns:a="http://schemas.openxmlformats.org/drawingml/2006/main" w="9525">
            <a:solidFill>
              <a:srgbClr val="39D5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8E4C7F1-AA04-4F42-B17A-134DE283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84810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user/syscall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20B5525-C52D-4122-A156-C0086966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1529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U-mode + ecall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0728845-A9CC-4F6D-AC98-B674D15B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14750"/>
            <a:ext cx="1809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32940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8B0BAD8-9BA8-4362-94A2-27B92F36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4810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fs/drivers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3049EE4-C1A1-4C49-9658-7F9BA2EF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1529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SimpleFs + RAM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8C38802-D249-49B0-9D24-CA6C8B38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209800"/>
            <a:ext cx="428625" cy="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25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CB3200E-A0B7-4714-8355-6CD45C66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14650"/>
            <a:ext cx="428625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25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5C4A267-E9F0-4497-8D75-B878420B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14650"/>
            <a:ext cx="57150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25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D28B3EB-F464-4510-873A-30F7AF0C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05025"/>
            <a:ext cx="523875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25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CE4DFA0-C73D-4AEF-A6C7-48F1426F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0502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25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42D4F1C-4B56-40BA-A096-4A65CE34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14650"/>
            <a:ext cx="52387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25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9859FE7-B2FE-4A42-A3B4-BCCCCB12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10527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25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9792724-CD82-42F8-8BA7-2FC6F2C2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86375"/>
            <a:ext cx="9334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39D5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661BBA1-90D9-467E-A6BF-83FD4BD5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86375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23387FF-589C-4848-928F-7DF3BB29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00675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9D5FF"/>
                </a:solidFill>
              </a:defRPr>
            </a:pPr>
            <a:r>
              <a:rPr sz="1425" b="1">
                <a:solidFill>
                  <a:srgbClr val="39D5FF"/>
                </a:solidFill>
              </a:rPr>
              <a:t>架构亮点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0DC6717-9669-4AEF-8B25-127BE0A1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686425"/>
            <a:ext cx="891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模块顺序与实验顺序一致，学生看到的代码结构和课程路线一致。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测试脚本贯穿所有模块，用稳定 marker 验证真实行为。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850FF80-6F6E-4A28-8F31-4B03261C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66774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6C7DE6A-2D5A-4779-A7D5-98CAD22C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A7A8C-D764-41D0-9AD8-E78AF331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DEF38-A3DF-41AD-A2EF-49EE72A7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2AADC-EFF0-408D-A29E-71B826A6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83D4A-AB1B-4C44-817B-137C4444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7FE50-7D0A-491B-85A4-BE18CF5C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7A898-FDFE-4956-8455-0752D4E0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FE331-409B-4BE8-865B-BAD79FE7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7F911F-A8C9-4A51-8682-24F2D097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F01B5-C78F-4333-A07F-FEB09260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B35534-3FE0-4EA7-878F-56A1D483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4F04E-0FFC-4435-84EB-E3C582DA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B1EBBF-D690-4E91-BB21-269B1E17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4E1463-13AF-42CE-87A9-8A15AEF7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F46F2E-40A8-4B34-9CD3-B0625EAE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7346E-96F8-4829-8C47-59CA970B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E310B7-8DF8-43D0-BF51-8DF094B4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50D810-0AB6-4A17-B747-DB2B48A6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043C4B-59D5-45BC-9B40-B6D1CFEF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FCF672-EFFC-4620-9FBA-3AE6DF53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D06277-5CBF-49DB-ADD2-EBF240BE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C8DBC0-9632-4732-9A4E-F225FFBC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1CC9E5-094A-4BAB-8AB6-9978AAAD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33E1BB-F544-44DA-89D5-85ADAE62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A35C14-EDA9-4071-8F1C-03B2280C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386221-92EF-4863-B1C1-DAECF099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F14587-2B76-407C-99CE-4C3F2289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F69CF3-CE7F-4429-9C3A-49C6B26A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EB80F8-F2D5-4E9C-8227-8C44F3B2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5FE191-3500-4342-9FA1-9E9FD2B4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8C4F0C-AD33-43D9-9250-0E1FC246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9D5FF"/>
                </a:solidFill>
              </a:defRPr>
            </a:pPr>
            <a:r>
              <a:rPr sz="1125" b="1">
                <a:solidFill>
                  <a:srgbClr val="39D5FF"/>
                </a:solidFill>
              </a:rPr>
              <a:t>分支与教学材料架构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7AA262-AE0D-4307-A089-152A9779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8FAFC"/>
                </a:solidFill>
              </a:defRPr>
            </a:pPr>
            <a:r>
              <a:rPr sz="3150" b="1">
                <a:solidFill>
                  <a:srgbClr val="F8FAFC"/>
                </a:solidFill>
              </a:rPr>
              <a:t>学生、教师、评委各有入口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CD035A-054A-46A2-A5F1-17957FFC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9BAD0"/>
                </a:solidFill>
              </a:defRPr>
            </a:pPr>
            <a:r>
              <a:rPr sz="1425" b="0">
                <a:solidFill>
                  <a:srgbClr val="A9BAD0"/>
                </a:solidFill>
              </a:rPr>
              <a:t>Git 分支不只是版本管理，也承担教学组织和答案隔离。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B8AF2E-6ECF-48B3-A8A6-A9DB4370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573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25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292FB2-3AF2-4305-A1EB-DA57050B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3048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39D5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2E33E4-F484-4B6E-8CDC-2731FBB4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B6F486-E18E-4217-A7E9-B7D59FFC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527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9D5FF"/>
                </a:solidFill>
              </a:defRPr>
            </a:pPr>
            <a:r>
              <a:rPr sz="2250" b="1">
                <a:solidFill>
                  <a:srgbClr val="39D5FF"/>
                </a:solidFill>
              </a:rPr>
              <a:t>学生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2345B7-7DEC-4976-8C9D-7AA4529D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289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9525">
            <a:solidFill>
              <a:srgbClr val="1E3A5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8A25AA-EC1D-4507-B993-3278258F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81350"/>
            <a:ext cx="2133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9D5FF"/>
                </a:solidFill>
              </a:defRPr>
            </a:pPr>
            <a:r>
              <a:rPr sz="1200" b="0">
                <a:solidFill>
                  <a:srgbClr val="39D5FF"/>
                </a:solidFill>
              </a:rPr>
              <a:t>labN-starter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0C7546-96E9-42FC-B196-0748C931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671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AD0"/>
                </a:solidFill>
              </a:defRPr>
            </a:pPr>
            <a:r>
              <a:rPr sz="1275" b="0">
                <a:solidFill>
                  <a:srgbClr val="A9BAD0"/>
                </a:solidFill>
              </a:rPr>
              <a:t>README / TASKS / HINTS / TESTING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C2A22D-3296-4D4D-AE2B-ACBACD8A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7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不包含参考答案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F7146C-B43A-4908-ADBE-B5F4D446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305050"/>
            <a:ext cx="3048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D89521-88F4-4DFE-ACF1-67AE7860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30505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DB97A4-BA51-414B-92A7-01046EAD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5527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2C55E"/>
                </a:solidFill>
              </a:defRPr>
            </a:pPr>
            <a:r>
              <a:rPr sz="2250" b="1">
                <a:solidFill>
                  <a:srgbClr val="22C55E"/>
                </a:solidFill>
              </a:rPr>
              <a:t>教师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B06840-688E-4991-BA83-B9AB1148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0289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9525">
            <a:solidFill>
              <a:srgbClr val="1E3A5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3C61B2-A5B8-4F30-9C3B-46B22258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181350"/>
            <a:ext cx="2133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9D5FF"/>
                </a:solidFill>
              </a:defRPr>
            </a:pPr>
            <a:r>
              <a:rPr sz="1200" b="0">
                <a:solidFill>
                  <a:srgbClr val="39D5FF"/>
                </a:solidFill>
              </a:rPr>
              <a:t>labN-solution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25DB39-7386-4B94-84B0-C8E0E14C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671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AD0"/>
                </a:solidFill>
              </a:defRPr>
            </a:pPr>
            <a:r>
              <a:rPr sz="1275" b="0">
                <a:solidFill>
                  <a:srgbClr val="A9BAD0"/>
                </a:solidFill>
              </a:rPr>
              <a:t>SOLUTION / TEACHER_GUIDE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7C311CC-D759-4F71-81B8-6C4609A4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17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包含参考实现与验收说明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37CB93-DD88-4708-965C-992D2DCC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05050"/>
            <a:ext cx="3048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F265E18-8BF4-430C-9F43-12512FBF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0505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A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82F022-19D4-4FDA-9B39-43F61098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527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DBA74"/>
                </a:solidFill>
              </a:defRPr>
            </a:pPr>
            <a:r>
              <a:rPr sz="2250" b="1">
                <a:solidFill>
                  <a:srgbClr val="FDBA74"/>
                </a:solidFill>
              </a:rPr>
              <a:t>评委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E505835-8687-4CD2-8621-E0B881B6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289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6101D"/>
          </a:solidFill>
          <a:ln xmlns:a="http://schemas.openxmlformats.org/drawingml/2006/main" w="9525">
            <a:solidFill>
              <a:srgbClr val="1E3A5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85C1561-7D67-42D2-9F00-F9AB4E7C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81350"/>
            <a:ext cx="2133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9D5FF"/>
                </a:solidFill>
              </a:defRPr>
            </a:pPr>
            <a:r>
              <a:rPr sz="1200" b="0">
                <a:solidFill>
                  <a:srgbClr val="39D5FF"/>
                </a:solidFill>
              </a:rPr>
              <a:t>main / lab7-solution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E18737-1F1B-402E-9FE7-F9DFC90A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671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9BAD0"/>
                </a:solidFill>
              </a:defRPr>
            </a:pPr>
            <a:r>
              <a:rPr sz="1275" b="0">
                <a:solidFill>
                  <a:srgbClr val="A9BAD0"/>
                </a:solidFill>
              </a:rPr>
              <a:t>DESIGN.md / demo-script / tests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210A806-0A33-45EC-BC02-1B7F8EFD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719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完整成果与提交材料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0563C3-30C8-4843-A666-C143E34D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953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2AB8F70-154E-4BE6-924A-AA34C0B5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557192B-1029-4F52-A653-39C007F9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34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C55E"/>
                </a:solidFill>
              </a:defRPr>
            </a:pPr>
            <a:r>
              <a:rPr sz="1425" b="1">
                <a:solidFill>
                  <a:srgbClr val="22C55E"/>
                </a:solidFill>
              </a:rPr>
              <a:t>为什么这样设计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144A323-B126-4C0F-8A10-37E269CF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619750"/>
            <a:ext cx="853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starter 适合发布给学生，solution 适合教师讲解和评分，main 适合评委直接浏览最终成果。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1D446D7-C5B9-46E6-822C-1F8CB5F4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045518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0DDBB9B-0EEA-4046-8A96-4A6B8CE2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AB432-4A8C-422A-B62A-4AA0D55C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E8F1D-7573-4B9E-9829-B364BB2B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1F643-3DB6-4413-AEC1-FB67DC71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507DB-0F18-4F25-9578-FF178307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412108-4B4C-4097-AB07-B8C17FA4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B3ACF-DDCB-4D27-9879-80485905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16735-9FE7-4A4F-AC04-D99994BC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0D72D-61F9-4869-A059-82F5507F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DA5DA-47E8-4362-ACF7-DFCDE7F8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DB9DC-D027-4928-94F6-2C1782FB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2B77DB-1118-42A2-8997-CDE50331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80F377-51AD-4019-915C-6CB2A46B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45E731-B6FC-4492-B96B-3358578C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860043-876E-4B65-91AB-F99FE693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B8BC0A-66D6-45D8-8C6A-9EF50277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35DC4D-9507-4B3E-BC5E-38784414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FF1539-6F1F-4270-AC9A-281E14C9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482E2C-511E-4F68-BBE5-CC1CA7FC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D2081E-AB44-43C3-995B-E36C6794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72B71C-0608-47AB-B57C-196F7F4A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9EBAD0-8D28-4BBF-9907-F127AD00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18B26A-B3DB-4414-A449-5640A48B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EAF6F5-DAD7-4921-A117-7FB080C8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64B98D-0BBC-49AC-AC77-300E6520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52AD58-27C1-4520-BF75-7411729E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EF3CF4-9A30-4B1D-B8DE-7DAA3E7E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5238F5-5139-4606-8D4A-4F862A62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6A4B5A-1570-49C4-8682-D642E7AC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3819B7-61E3-4E5D-90CE-1E78B6F1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7FDF38-B145-4B2F-ADA2-F7C102DD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9D5FF"/>
                </a:solidFill>
              </a:defRPr>
            </a:pPr>
            <a:r>
              <a:rPr sz="1125" b="1">
                <a:solidFill>
                  <a:srgbClr val="39D5FF"/>
                </a:solidFill>
              </a:rPr>
              <a:t>P0 与 Lab1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61A5C6-3998-43EC-81E9-56C47DED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8FAFC"/>
                </a:solidFill>
              </a:defRPr>
            </a:pPr>
            <a:r>
              <a:rPr sz="3150" b="1">
                <a:solidFill>
                  <a:srgbClr val="F8FAFC"/>
                </a:solidFill>
              </a:rPr>
              <a:t>从第一条启动日志进入内核世界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204BCA-3F28-492F-A550-EE39D9CE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9BAD0"/>
                </a:solidFill>
              </a:defRPr>
            </a:pPr>
            <a:r>
              <a:rPr sz="1425" b="0">
                <a:solidFill>
                  <a:srgbClr val="A9BAD0"/>
                </a:solidFill>
              </a:rPr>
              <a:t>先建立可运行基线，再让学生理解 boot、启动栈、SBI 输出和正常关机。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792A42-B853-4E78-9C5E-B2249977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573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25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8787FC-31D8-4C62-B783-0854DDCA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37147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39D5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C65745-1A33-4C99-99DE-3BD14422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100984-E8B4-408E-89C6-33EB06C5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9D5FF"/>
                </a:solidFill>
              </a:defRPr>
            </a:pPr>
            <a:r>
              <a:rPr sz="2025" b="1">
                <a:solidFill>
                  <a:srgbClr val="39D5FF"/>
                </a:solidFill>
              </a:rPr>
              <a:t>实验设计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DD1FDC-C4E9-4E15-B5A8-2DFD4A97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P0 建立 Rust/RISC-V/QEMU 运行闭环。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Lab1 把启动流程变成可观察日志。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学生理解 _start、启动栈与 kernel_main。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70EA04-65C1-4409-879F-B69A0ED8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学生修改边界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9EEFDE-3891-4939-9B6C-8275D732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boot.rs / sbi.rs / console.rs；不改测试脚本和链接脚本。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C91DB5-9BCE-48D0-A63F-A893BB37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14550"/>
            <a:ext cx="63817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0A192B"/>
          </a:solidFill>
          <a:ln xmlns:a="http://schemas.openxmlformats.org/drawingml/2006/main" w="9525">
            <a:solidFill>
              <a:srgbClr val="24425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E593320-5DE0-4780-BDF3-45B07582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62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8FAFC"/>
                </a:solidFill>
              </a:defRPr>
            </a:pPr>
            <a:r>
              <a:rPr sz="2025" b="1">
                <a:solidFill>
                  <a:srgbClr val="F8FAFC"/>
                </a:solidFill>
              </a:rPr>
              <a:t>三段式任务路线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708ABF-5B54-4D95-83BD-0308210B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52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9525">
            <a:solidFill>
              <a:srgbClr val="39D5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9A9198-4BD8-440C-85E2-A0C01E1D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194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7111F"/>
                </a:solidFill>
              </a:defRPr>
            </a:pPr>
            <a:r>
              <a:rPr sz="12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8954C0-DDA1-45CF-95B2-FE8683EA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575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9D5FF"/>
                </a:solidFill>
              </a:defRPr>
            </a:pPr>
            <a:r>
              <a:rPr sz="1500" b="1">
                <a:solidFill>
                  <a:srgbClr val="39D5FF"/>
                </a:solidFill>
              </a:rPr>
              <a:t>理解内核启动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A91BF0-9282-48D0-A6A4-579A1A62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527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识别入口、启动栈和 Rust kernel_main，输出 Lab1-T1。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5F6B43-87C1-46A9-B74E-DB68B6C7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71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0B0B7A-F3A7-4A74-8B94-A3A42ADB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38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7111F"/>
                </a:solidFill>
              </a:defRPr>
            </a:pPr>
            <a:r>
              <a:rPr sz="12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8BBD6F-DB5E-4C57-8FC9-53EFAA55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76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C55E"/>
                </a:solidFill>
              </a:defRPr>
            </a:pPr>
            <a:r>
              <a:rPr sz="1500" b="1">
                <a:solidFill>
                  <a:srgbClr val="22C55E"/>
                </a:solidFill>
              </a:rPr>
              <a:t>实现 SBI 输出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8080AA-BF58-4FB9-A66F-9B117E3D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719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完成字符/字符串输出接口，输出 Lab1-T2。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5637130-0D91-48F4-AEF2-CCC6E026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91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06AFBD5-D0BD-4CEB-AA25-24D7F802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577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7111F"/>
                </a:solidFill>
              </a:defRPr>
            </a:pPr>
            <a:r>
              <a:rPr sz="12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ACBA62D-3F24-4F93-82E6-A1547271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95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97316"/>
                </a:solidFill>
              </a:defRPr>
            </a:pPr>
            <a:r>
              <a:rPr sz="1500" b="1">
                <a:solidFill>
                  <a:srgbClr val="F97316"/>
                </a:solidFill>
              </a:rPr>
              <a:t>启动日志与退出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3AD5EF5-3C52-46C2-9C8B-2703B080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7910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组织完整启动日志并通过 SBI reset 退出 QEMU。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4D3816D-A9F0-491A-8637-B8CE56E4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57800"/>
            <a:ext cx="962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39D5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A7D8EE2-54AE-4234-BBDB-CA8C99B7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578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46EB620-927C-4AA7-9C3C-969B5689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72100"/>
            <a:ext cx="923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9D5FF"/>
                </a:solidFill>
              </a:defRPr>
            </a:pPr>
            <a:r>
              <a:rPr sz="1425" b="1">
                <a:solidFill>
                  <a:srgbClr val="39D5FF"/>
                </a:solidFill>
              </a:rPr>
              <a:t>验收输出与亮点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66DB5D3-E97F-449D-9D1A-4C3F2C97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657850"/>
            <a:ext cx="920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关键输出：`[Lab1-T1] PASS`、`[Lab1-T2] PASS`、`[Lab1] PASS`。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亮点：第一节课就能看到真实内核在 QEMU 中启动和退出。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A9F769C-7C0A-45DC-A0B7-36275E2A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70304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944109A-1A12-489D-9CAE-A3E19CF9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F6254-EDB8-464B-876D-847F87FD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FC857-D9D1-48BF-95AC-0D3F002F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0CC96-FB98-45AC-B561-437C0F2B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6E1A1-7ABE-4208-98EF-961DF95E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7F0C0-56C6-4123-B9AC-FC7E07AA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FF3A9-5C9D-4D20-9B00-85169323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9C130-6B41-441A-96B3-98F44B6F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C3D301-CD80-43CC-A546-47B1B058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5E262D-D60D-4114-A86B-25FFC2DD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819E4-9E7A-425B-AD78-2B077350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3EF1A7-AE19-43E9-9FF3-B3481F03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B6CCA-2951-4EB7-9EDE-A0238CCB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DE98EF-C111-4B77-9BE8-391381BB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F3D5AD-8747-4E21-9FB1-2A8D9DBA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61FA6F-270B-4838-9108-B205B203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7E4D18-4FB3-4768-9A2B-55F3E030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C07F42-371C-4E28-919E-2C125389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7627F0-EF5C-4D7C-BDD1-F615FCBB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A93D44-6CF4-46FF-9693-834441CD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3D08A3-9FE4-4465-841E-CB183550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43FAA4-4BAC-4EB1-B0E7-DD43FEE3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4BECC5-A1BB-4604-90F5-960BA163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FB467A-3B07-4C8F-BBFA-CABB9EEA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80BB0E-8E47-464F-B2A6-F2C58322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B4241A-19EA-410C-864F-345DEB7D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82BA82-ED1C-4F04-8842-FA6BC2E7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D22508-DD4C-4CF1-B68D-5AE7D75A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A0B571-1243-4C65-B91F-6DCB992C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A2EE1E-CDD1-4ADC-8C74-8264E4D9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96913D-88C6-4F69-83A0-CCB43B0E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9D5FF"/>
                </a:solidFill>
              </a:defRPr>
            </a:pPr>
            <a:r>
              <a:rPr sz="1125" b="1">
                <a:solidFill>
                  <a:srgbClr val="39D5FF"/>
                </a:solidFill>
              </a:rPr>
              <a:t>Lab2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E22B81-28B4-4D94-9BF2-F86D3ACC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8FAFC"/>
                </a:solidFill>
              </a:defRPr>
            </a:pPr>
            <a:r>
              <a:rPr sz="3150" b="1">
                <a:solidFill>
                  <a:srgbClr val="F8FAFC"/>
                </a:solidFill>
              </a:rPr>
              <a:t>Trap 与异常处理：让 CPU 异常变成可观察流程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F8D89C-5305-4D28-B466-FBF202D3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9BAD0"/>
                </a:solidFill>
              </a:defRPr>
            </a:pPr>
            <a:r>
              <a:rPr sz="1425" b="0">
                <a:solidFill>
                  <a:srgbClr val="A9BAD0"/>
                </a:solidFill>
              </a:rPr>
              <a:t>Lab2 选择 breakpoint 作为低风险入口，讲清 stvec、scause、sepc 和 stval。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4015C7-A53E-4C12-ABE8-F5C92446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573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25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48A4CC-F79F-45AE-8CC6-C3ABE5DA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37147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C555B0-DBBD-4B4D-BB39-D6BF3C9D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A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78076A-CF88-499A-9FBC-E95D2C28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DBA74"/>
                </a:solidFill>
              </a:defRPr>
            </a:pPr>
            <a:r>
              <a:rPr sz="2025" b="1">
                <a:solidFill>
                  <a:srgbClr val="FDBA74"/>
                </a:solidFill>
              </a:rPr>
              <a:t>实验设计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4792F7-72B8-4B40-B0E9-313D1438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设置 stvec 指向 trap 入口。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读取 scause/sepc/stval 解释异常来源。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处理 breakpoint 后推进 sepc，避免重复异常。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A279CB-97A4-455B-9D17-BEA81F2D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学生修改边界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42E331-E611-43E1-AC9A-9CD1A025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trap.rs 与 trap 入口汇编；不引入内存管理、任务和系统调用。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611B19-EB05-4E48-9BC0-6690B07C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14550"/>
            <a:ext cx="63817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0A192B"/>
          </a:solidFill>
          <a:ln xmlns:a="http://schemas.openxmlformats.org/drawingml/2006/main" w="9525">
            <a:solidFill>
              <a:srgbClr val="24425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59BDF4-0253-41D7-A4E0-129E97E7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62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8FAFC"/>
                </a:solidFill>
              </a:defRPr>
            </a:pPr>
            <a:r>
              <a:rPr sz="2025" b="1">
                <a:solidFill>
                  <a:srgbClr val="F8FAFC"/>
                </a:solidFill>
              </a:rPr>
              <a:t>三段式任务路线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F44A81-DFFA-4648-8BC0-E6AB94EE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52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9525">
            <a:solidFill>
              <a:srgbClr val="39D5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0DF2F9-7DA4-4F39-87E0-1C713008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194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7111F"/>
                </a:solidFill>
              </a:defRPr>
            </a:pPr>
            <a:r>
              <a:rPr sz="12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5858FA-9FD1-40D0-B766-6AF07A12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575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9D5FF"/>
                </a:solidFill>
              </a:defRPr>
            </a:pPr>
            <a:r>
              <a:rPr sz="1500" b="1">
                <a:solidFill>
                  <a:srgbClr val="39D5FF"/>
                </a:solidFill>
              </a:rPr>
              <a:t>配置 trap 入口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4252353-C297-4CFC-9EA6-D43FB387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527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设置 stvec 并确认异常进入内核处理路径。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F9420D-6E63-4768-ACF0-803D3D83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71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C62F64C-BE76-469A-9F5F-E592E140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38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7111F"/>
                </a:solidFill>
              </a:defRPr>
            </a:pPr>
            <a:r>
              <a:rPr sz="12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AE7BB3-3345-492D-AEBE-94B1C5B8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76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C55E"/>
                </a:solidFill>
              </a:defRPr>
            </a:pPr>
            <a:r>
              <a:rPr sz="1500" b="1">
                <a:solidFill>
                  <a:srgbClr val="22C55E"/>
                </a:solidFill>
              </a:rPr>
              <a:t>解析异常寄存器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959B4F4-698E-4666-9319-BD4E161C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719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读取 scause、sepc、stval，识别 breakpoint。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D1FE388-892C-411B-97C6-E4E737E6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91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45E88D2-F98C-4F8F-9AE4-08662AD0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577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7111F"/>
                </a:solidFill>
              </a:defRPr>
            </a:pPr>
            <a:r>
              <a:rPr sz="12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1EDA028-BA37-4AD7-B97F-290494A6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95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97316"/>
                </a:solidFill>
              </a:defRPr>
            </a:pPr>
            <a:r>
              <a:rPr sz="1500" b="1">
                <a:solidFill>
                  <a:srgbClr val="F97316"/>
                </a:solidFill>
              </a:rPr>
              <a:t>恢复执行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4D08CF7-A72C-470A-9C02-125240D9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7910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正确推进 sepc 并返回，输出最终 Lab2 PASS。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E41F285-7453-464E-B582-B619C22C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57800"/>
            <a:ext cx="962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1322369-84C3-496B-A17B-422AE07B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578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A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56C463C-0384-4D4A-AD80-743B411E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72100"/>
            <a:ext cx="923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DBA74"/>
                </a:solidFill>
              </a:defRPr>
            </a:pPr>
            <a:r>
              <a:rPr sz="1425" b="1">
                <a:solidFill>
                  <a:srgbClr val="FDBA74"/>
                </a:solidFill>
              </a:rPr>
              <a:t>验收输出与亮点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C09483A-0D67-48ED-8A8F-8CAE3F33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657850"/>
            <a:ext cx="920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关键输出：`[Lab2-T1] PASS`、`[Lab2-T2] PASS`、`[Lab2] PASS`。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难点：`sepc += 4` 是避免同一条 ebreak 反复触发的关键。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3BD6071-7840-4F57-AD46-88A5D309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447197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52C6D50-0FA5-4B43-B258-E5637B7B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800E7-7D6B-4C2B-9946-F51FAE0C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165DD-B2AE-4660-8E8F-F94E7B0F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F3D2A-9072-46E9-98F4-94C33329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423D0-CBB9-46CD-A91B-75D5A79D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25F5E-A690-43DD-AADF-7D8541A7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FB372-8A13-411E-AD20-A916C24C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9BAEA-AF07-45BE-9F6B-B10C43ED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E5A850-6564-4E9F-8777-2D03F34C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883FEF-379D-49EA-B556-278C6CEE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6D0DB-E9DE-4637-8349-6397F7B1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BAFD7-444B-49AD-B406-A08852C8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17725-4A11-4E8B-A5BD-5890FBA0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A574D-62F4-4B13-8D8D-8914042A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DB62AE-FBF3-49DA-9BAC-55FAD8FF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3F8DCE-9935-4152-B896-083C7B88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EE700D-161C-40EB-82A8-E3F62CED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8D86CA-D7D2-46C4-BA3E-6DB1375A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9096F0-A043-4521-A800-26A459D4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C8169A-61E5-4087-B22B-8222BC74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91D07A-0C82-44E5-8F3D-573C9599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17F866-AABE-49C5-88DA-1C4F45F7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94FD85-1FB3-4699-B0E9-4C7CEB47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C14905-0C4D-41E0-BBDA-E2173DE1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DE6F6C-3863-467D-A222-FBAB8669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D64C2F-20FA-4BD9-9F64-EC22D0D9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720D5B-DF3E-4AD4-BE99-617A3E56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912700-BDB3-4E27-9574-B43E5F66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70D097-9392-4DF2-AAB8-C4347DAC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453AA2-6F9C-4643-B11F-14FA2782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4E3622-3209-4B8D-9E45-4AE96E6F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9D5FF"/>
                </a:solidFill>
              </a:defRPr>
            </a:pPr>
            <a:r>
              <a:rPr sz="1125" b="1">
                <a:solidFill>
                  <a:srgbClr val="39D5FF"/>
                </a:solidFill>
              </a:rPr>
              <a:t>Lab3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336B33-8E5E-435C-B67E-1A1D2825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8FAFC"/>
                </a:solidFill>
              </a:defRPr>
            </a:pPr>
            <a:r>
              <a:rPr sz="3150" b="1">
                <a:solidFill>
                  <a:srgbClr val="F8FAFC"/>
                </a:solidFill>
              </a:rPr>
              <a:t>物理内存管理：从地址计算到页帧分配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B6352D-C601-46C7-A5A2-FD5F38A5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9BAD0"/>
                </a:solidFill>
              </a:defRPr>
            </a:pPr>
            <a:r>
              <a:rPr sz="1425" b="0">
                <a:solidFill>
                  <a:srgbClr val="A9BAD0"/>
                </a:solidFill>
              </a:rPr>
              <a:t>用 PhysAddr、PPN 和 FrameAllocator 讲清内核如何管理 4 KiB 物理页。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C56B4E-5C85-4EA5-87EE-7A535ECD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573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25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744BE7-780E-4369-BAA2-24F7F453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37147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A1D206-FCF5-456C-9D77-F49EC24B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A03C1C-477C-4750-8661-D93217C0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2C55E"/>
                </a:solidFill>
              </a:defRPr>
            </a:pPr>
            <a:r>
              <a:rPr sz="2025" b="1">
                <a:solidFill>
                  <a:srgbClr val="22C55E"/>
                </a:solidFill>
              </a:rPr>
              <a:t>实验设计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8670A8-933F-48AC-AEBF-BA612E22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PAGE_SIZE 固定为 4 KiB。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分配起点来自链接脚本 ekernel，避免覆盖内核镜像。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实现分配、释放、复用、非法释放和重复释放检测。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07A4FC-82BE-4A13-83CA-A9C32FFD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学生修改边界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76C2D4-B64A-48F0-9B36-55E89FF3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memory/address.rs 与 frame_allocator.rs；不实现 Sv39 页表。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36E8F4-1D3A-4DD9-86AB-4C1A0803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14550"/>
            <a:ext cx="63817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0A192B"/>
          </a:solidFill>
          <a:ln xmlns:a="http://schemas.openxmlformats.org/drawingml/2006/main" w="9525">
            <a:solidFill>
              <a:srgbClr val="24425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563A70-3AAE-4424-9676-2BF409DC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62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8FAFC"/>
                </a:solidFill>
              </a:defRPr>
            </a:pPr>
            <a:r>
              <a:rPr sz="2025" b="1">
                <a:solidFill>
                  <a:srgbClr val="F8FAFC"/>
                </a:solidFill>
              </a:rPr>
              <a:t>三段式任务路线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01E6CA-E47C-4B87-B8F4-796044B3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52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9525">
            <a:solidFill>
              <a:srgbClr val="39D5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2D90C0-B80A-4FF1-8495-94D6C0AC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194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7111F"/>
                </a:solidFill>
              </a:defRPr>
            </a:pPr>
            <a:r>
              <a:rPr sz="12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B47690-591E-47DF-BA09-BE550F26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575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9D5FF"/>
                </a:solidFill>
              </a:defRPr>
            </a:pPr>
            <a:r>
              <a:rPr sz="1500" b="1">
                <a:solidFill>
                  <a:srgbClr val="39D5FF"/>
                </a:solidFill>
              </a:rPr>
              <a:t>地址与页号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BD38F4F-625D-4ED7-A3C9-BE312B67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527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完成 floor、ceil、page_offset 与地址/页号转换。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EB83F9-1BF7-452D-AF7E-154DC656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71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373C5C-F12A-4B18-BD0F-524382FE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38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7111F"/>
                </a:solidFill>
              </a:defRPr>
            </a:pPr>
            <a:r>
              <a:rPr sz="12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E9C6657-538B-4C98-9F4A-E1327E2C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76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C55E"/>
                </a:solidFill>
              </a:defRPr>
            </a:pPr>
            <a:r>
              <a:rPr sz="1500" b="1">
                <a:solidFill>
                  <a:srgbClr val="22C55E"/>
                </a:solidFill>
              </a:rPr>
              <a:t>初始化与分配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8E9D90F-404C-4BDB-B2CE-1093B25A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719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初始化可用物理页范围，实现基本 alloc。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2A3937-9B35-4314-B88F-41EFD5DD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91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F55132-C210-474F-BAB4-4C54333C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577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7111F"/>
                </a:solidFill>
              </a:defRPr>
            </a:pPr>
            <a:r>
              <a:rPr sz="12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3E89A3-89FA-4561-9854-33C06A73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95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97316"/>
                </a:solidFill>
              </a:defRPr>
            </a:pPr>
            <a:r>
              <a:rPr sz="1500" b="1">
                <a:solidFill>
                  <a:srgbClr val="F97316"/>
                </a:solidFill>
              </a:rPr>
              <a:t>释放与错误检查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FB67B60-D52A-4DE3-AB64-7069BF5A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7910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实现 dealloc、回收复用、非法释放和重复释放检测。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142EAF7-0CC1-4172-9ED2-F7B4A37A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57800"/>
            <a:ext cx="962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C374396-333D-4F16-88EC-39817C16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578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8A74FD8-BBC5-4F3C-84A0-BE2702BB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72100"/>
            <a:ext cx="923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C55E"/>
                </a:solidFill>
              </a:defRPr>
            </a:pPr>
            <a:r>
              <a:rPr sz="1425" b="1">
                <a:solidFill>
                  <a:srgbClr val="22C55E"/>
                </a:solidFill>
              </a:rPr>
              <a:t>验收输出与亮点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B37302B-F071-45FD-BDC5-BEFCDA5A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657850"/>
            <a:ext cx="920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主机单测覆盖地址计算和分配器边界；QEMU 验证真实物理页分配。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亮点：学生能看到内核占用区不会被分配器覆盖。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4D9D706-CF4E-4E31-95B0-66B42D4C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047412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84CC606-5A00-478A-A10B-0A9481DF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85741-6D30-469F-A936-9C403162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7F649-A02D-4CE6-BF98-0779C7CC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186AD-CD1E-4823-A597-9425FCB2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3AB99-C3A6-464B-A26B-684701C6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BBFD3-B8BD-4868-9613-FB1473EE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11553-DCE7-4A5F-B8A6-3572EA0D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E2036-781C-4429-AB7F-AA5B6790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3E3AE-6121-4FDD-9AA0-FBA5B71F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9B37A-D199-4966-A808-439EAB24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DB39D-7B42-4381-B54E-B7A30628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A0D7E2-9CE2-4E91-952A-8B59A310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3AD96-BC96-4BE8-AB99-A7B77865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33FB1C-D29D-4AF9-9144-E674ABD2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EDC6AF-EC2E-4AB4-99A5-B969B94E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6EC77-63DD-42E0-A988-C5919F97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5BD5F0-FE28-45FA-A20A-9C4A1DE7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D20F13-B60E-4EDF-802F-531B165D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1BE21B-6EEC-470F-8BD8-448A727A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DF27F5-C6AC-4C0B-A3EE-54886F11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D06809-C0A6-4C17-B6E5-9A62F947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47ACB1-41AB-4890-B1CA-B9275AC3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E49D0B-66D7-42A4-8586-6AE7EE30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CD07F5-8645-44FB-8129-BECBA2AD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1CE831-EFE4-4215-81C4-8391A57B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5C11C1-CC77-41CB-889C-C6F0756D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3304E7-63A5-4CFF-A5D2-9D7CB808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87F1B5-5C12-4BDF-BF86-C907811A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B31F60-CC72-4CDB-A0E1-5B2B545F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66AB90-7971-4D51-8E6C-84BD4A53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99F6DE-1FEF-4A77-915E-D32C067B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9D5FF"/>
                </a:solidFill>
              </a:defRPr>
            </a:pPr>
            <a:r>
              <a:rPr sz="1125" b="1">
                <a:solidFill>
                  <a:srgbClr val="39D5FF"/>
                </a:solidFill>
              </a:rPr>
              <a:t>Lab4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1A089D-E781-434A-874E-5D071798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8FAFC"/>
                </a:solidFill>
              </a:defRPr>
            </a:pPr>
            <a:r>
              <a:rPr sz="3150" b="1">
                <a:solidFill>
                  <a:srgbClr val="F8FAFC"/>
                </a:solidFill>
              </a:rPr>
              <a:t>Sv39 虚拟内存：把地址空间机制讲清楚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B5BC43-F58F-40D6-B473-5FF3E7D3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9BAD0"/>
                </a:solidFill>
              </a:defRPr>
            </a:pPr>
            <a:r>
              <a:rPr sz="1425" b="0">
                <a:solidFill>
                  <a:srgbClr val="A9BAD0"/>
                </a:solidFill>
              </a:rPr>
              <a:t>第一版采用恒等映射，降低高地址内核复杂度，把重点放在页表和权限。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97B5F3-1AA2-4F01-ADA2-5E9F17B7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573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25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810A2A-5247-4DEC-BA7D-75428512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37147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39D5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B51DA9-6934-4A74-8F6B-7937F992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40D1B4-4AA0-489E-B6CB-7A8F69AE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9D5FF"/>
                </a:solidFill>
              </a:defRPr>
            </a:pPr>
            <a:r>
              <a:rPr sz="2025" b="1">
                <a:solidFill>
                  <a:srgbClr val="39D5FF"/>
                </a:solidFill>
              </a:rPr>
              <a:t>实验设计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2C2C3C-A123-4527-B337-9EFEEECC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VirtAddr/VPN 计算三级索引。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PTE 管理 PPN 与 V/R/W/X/U/A/D。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固定容量结构保存页表页所有权。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A95A86-0135-43AC-BE41-07D18EEB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学生修改边界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455450-AFBB-473F-9CDD-F8E40B2D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virtual_address.rs / page_table.rs；不引入任务、用户态和文件系统。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0BA40F-AE2A-4D00-ABF1-66F42BC3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14550"/>
            <a:ext cx="63817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0A192B"/>
          </a:solidFill>
          <a:ln xmlns:a="http://schemas.openxmlformats.org/drawingml/2006/main" w="9525">
            <a:solidFill>
              <a:srgbClr val="24425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8A037A-D326-4629-855D-9C3F89F8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62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8FAFC"/>
                </a:solidFill>
              </a:defRPr>
            </a:pPr>
            <a:r>
              <a:rPr sz="2025" b="1">
                <a:solidFill>
                  <a:srgbClr val="F8FAFC"/>
                </a:solidFill>
              </a:rPr>
              <a:t>三段式任务路线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2343BB-E711-4C3E-BE92-32A2B052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52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9525">
            <a:solidFill>
              <a:srgbClr val="39D5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28EBF78-9D50-4712-B4A8-8FB3BD30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194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7111F"/>
                </a:solidFill>
              </a:defRPr>
            </a:pPr>
            <a:r>
              <a:rPr sz="12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77A916-5389-471C-9C59-9F8E5956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575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9D5FF"/>
                </a:solidFill>
              </a:defRPr>
            </a:pPr>
            <a:r>
              <a:rPr sz="1500" b="1">
                <a:solidFill>
                  <a:srgbClr val="39D5FF"/>
                </a:solidFill>
              </a:rPr>
              <a:t>地址与 PTE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76FE19-1507-4B6C-A52C-1E6B5AB7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527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实现虚拟地址转换、VPN 索引和 PTE 标志读取。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A5771EB-AE9B-4187-860D-F86DBB4C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71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E6D5097-E335-4531-9B67-0491ED12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38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7111F"/>
                </a:solidFill>
              </a:defRPr>
            </a:pPr>
            <a:r>
              <a:rPr sz="12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7968FB-75FB-4915-9400-5B476581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76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C55E"/>
                </a:solidFill>
              </a:defRPr>
            </a:pPr>
            <a:r>
              <a:rPr sz="1500" b="1">
                <a:solidFill>
                  <a:srgbClr val="22C55E"/>
                </a:solidFill>
              </a:rPr>
              <a:t>页表操作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789578F-764C-490A-ADA7-CE91F6A1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719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实现 find_pte_create、map、unmap、translate。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A0AE8C-7EE8-4F88-A9BA-993E69E2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91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FC472A9-0F76-4068-89EA-101FB459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577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7111F"/>
                </a:solidFill>
              </a:defRPr>
            </a:pPr>
            <a:r>
              <a:rPr sz="12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719F38-BD73-4723-9121-ADA4EFE2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95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97316"/>
                </a:solidFill>
              </a:defRPr>
            </a:pPr>
            <a:r>
              <a:rPr sz="1500" b="1">
                <a:solidFill>
                  <a:srgbClr val="F97316"/>
                </a:solidFill>
              </a:rPr>
              <a:t>启用分页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431AE25-8867-4630-B28B-9EB17125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7910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建立内核恒等映射，写 satp 并执行 sfence.vma。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9A7C7FD-3DFF-485F-9242-991044F4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57800"/>
            <a:ext cx="962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39D5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FC64DEB-D009-474F-8BE1-96C027A5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578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EFF5E7-8836-4D89-A069-E5372B82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72100"/>
            <a:ext cx="923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9D5FF"/>
                </a:solidFill>
              </a:defRPr>
            </a:pPr>
            <a:r>
              <a:rPr sz="1425" b="1">
                <a:solidFill>
                  <a:srgbClr val="39D5FF"/>
                </a:solidFill>
              </a:rPr>
              <a:t>验收输出与亮点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A46E17D-D681-40CF-B817-23B273E5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657850"/>
            <a:ext cx="920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关键输出：`page table built`、`satp activated`、`paging is active`、`[Lab4] PASS`。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亮点：按段设置权限，不把全部内存简单设为 RWX。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A54BC9A-1092-42F0-90B0-F8CDB11D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608130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B58C4ED-2315-4C1B-9F02-63310FC3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99422-A527-4D4E-A10E-0510EE34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2BD4B-96CE-40F6-8AFB-155FE9E8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E93F0-27CF-4989-9456-ADC08D01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28DAD-D6C8-4BBD-BAF6-89EF21EE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D62A5-5F68-4CF5-B2A7-A6710DB6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BD127-92AF-42E0-AF2D-824910FD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C45D8-4683-4768-8968-CB635BC4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BF7B0C-D329-4C5D-A879-476D0F08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F631F-4017-4087-9E21-1AD63C0E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D805DB-09F7-4A49-B03E-908C0479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D6B689-70EC-42A8-BA3E-1DB8DE11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095535-926D-46CE-8285-10261804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78E26-041E-4671-8192-812499AC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90BEB-4F6D-40B9-A53B-F15D9A38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E25A6B-D21E-4943-BAB3-A42E1FD0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FF9B0-C75F-415C-9DB7-E79992E7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D2A9A7-2F0E-4FC0-97E2-CA0FCD4A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4AF008-F7C9-45F9-B7CB-54D67F59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8F3833-E445-45A4-99D4-12CFB58D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D16D76-9577-4DD2-9757-6597246F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00E800-2AC0-40C1-89B0-EEF1ECAE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BD7D81-1658-4D1A-A51E-E8DA5CAC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DEE731-59A7-4430-AA0C-30F3A577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03558E-062B-4452-9523-F1F201EA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15E057-1CC4-481F-AA6C-3E7CBCF3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FE443B-D0D5-4F4F-8905-9B76B414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3530D7-9145-4B6F-B62A-CA977378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A92CEB-3E36-482A-B8A6-4BCB4EA6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2AFF64-1820-4E26-AB7D-F99C922E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3D711F-58C8-486B-8364-E69BBDED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9D5FF"/>
                </a:solidFill>
              </a:defRPr>
            </a:pPr>
            <a:r>
              <a:rPr sz="1125" b="1">
                <a:solidFill>
                  <a:srgbClr val="39D5FF"/>
                </a:solidFill>
              </a:rPr>
              <a:t>Lab5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97DA4F-6592-423D-B6A4-A3317A7D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8FAFC"/>
                </a:solidFill>
              </a:defRPr>
            </a:pPr>
            <a:r>
              <a:rPr sz="3150" b="1">
                <a:solidFill>
                  <a:srgbClr val="F8FAFC"/>
                </a:solidFill>
              </a:rPr>
              <a:t>协作式调度：先理解上下文切换，再谈复杂调度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54A3AA-F020-4AB6-9A70-C30FA65D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9BAD0"/>
                </a:solidFill>
              </a:defRPr>
            </a:pPr>
            <a:r>
              <a:rPr sz="1425" b="0">
                <a:solidFill>
                  <a:srgbClr val="A9BAD0"/>
                </a:solidFill>
              </a:rPr>
              <a:t>只做单核、内核态、主动 yield 的 round-robin，难度控制在中等。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462068-F6BC-4284-A981-EADC7834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573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25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ECA004-9C22-47B0-A97E-878F45F4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37147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D4F683-70C0-4559-B88C-1F3206E1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A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06167E-473C-40F5-803D-4725303D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DBA74"/>
                </a:solidFill>
              </a:defRPr>
            </a:pPr>
            <a:r>
              <a:rPr sz="2025" b="1">
                <a:solidFill>
                  <a:srgbClr val="FDBA74"/>
                </a:solidFill>
              </a:rPr>
              <a:t>实验设计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5F71A8-01F2-4ED9-B579-A8A40590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TaskContext 保存 ra/sp/s0..s11。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固定 MAX_TASKS=4，每个任务栈 16 KiB。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状态机只保留 Ready、Running、Exited。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5A56AA-BD12-4EB9-B50D-7BD9B854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学生修改边界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5FF7F5-161C-48C7-A6B4-01D72898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task/mod.rs 与 task/switch.S；不做抢占、多核、用户态任务和优先级。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73E2EC-0732-4920-B56E-81E6B63F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14550"/>
            <a:ext cx="63817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0A192B"/>
          </a:solidFill>
          <a:ln xmlns:a="http://schemas.openxmlformats.org/drawingml/2006/main" w="9525">
            <a:solidFill>
              <a:srgbClr val="24425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DED3032-D8DF-4BFC-8125-CF5FD2B3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62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8FAFC"/>
                </a:solidFill>
              </a:defRPr>
            </a:pPr>
            <a:r>
              <a:rPr sz="2025" b="1">
                <a:solidFill>
                  <a:srgbClr val="F8FAFC"/>
                </a:solidFill>
              </a:rPr>
              <a:t>三段式任务路线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FE1A85-4FAB-4925-9EB3-F1361277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52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9525">
            <a:solidFill>
              <a:srgbClr val="39D5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A7BF5D-9717-4495-A558-AA1890BA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194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7111F"/>
                </a:solidFill>
              </a:defRPr>
            </a:pPr>
            <a:r>
              <a:rPr sz="12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191C03C-FAA4-41F6-AF47-56CE466F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575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9D5FF"/>
                </a:solidFill>
              </a:defRPr>
            </a:pPr>
            <a:r>
              <a:rPr sz="1500" b="1">
                <a:solidFill>
                  <a:srgbClr val="39D5FF"/>
                </a:solidFill>
              </a:rPr>
              <a:t>任务抽象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69F682-5216-439F-A6E0-2EB012DB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527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实现 TaskContext::goto、TCB、任务栈和 add_task。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F6A62FC-A8CD-4A94-AD0B-CFE718B5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71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4B2B40-CABC-4CBD-8040-CC04D757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38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7111F"/>
                </a:solidFill>
              </a:defRPr>
            </a:pPr>
            <a:r>
              <a:rPr sz="12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6531E9E-3E01-424E-9C97-0BB87650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76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C55E"/>
                </a:solidFill>
              </a:defRPr>
            </a:pPr>
            <a:r>
              <a:rPr sz="1500" b="1">
                <a:solidFill>
                  <a:srgbClr val="22C55E"/>
                </a:solidFill>
              </a:rPr>
              <a:t>轮转调度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DA8B030-3E57-4190-9C59-ACF1ADF9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719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实现 fetch_next、yield_now、schedule 的状态转换。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D80E004-5F3A-444C-A97B-34222D21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91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698DA3A-B7F5-43FB-8A26-5153CFBE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577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7111F"/>
                </a:solidFill>
              </a:defRPr>
            </a:pPr>
            <a:r>
              <a:rPr sz="12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43BBF82-82E5-4FF4-A12C-DFB94CA6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95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97316"/>
                </a:solidFill>
              </a:defRPr>
            </a:pPr>
            <a:r>
              <a:rPr sz="1500" b="1">
                <a:solidFill>
                  <a:srgbClr val="F97316"/>
                </a:solidFill>
              </a:rPr>
              <a:t>上下文切换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393683D-76AF-4086-9EE8-BAF7A779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7910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实现 __switch，让多个内核任务交替输出。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021852E-ED44-4D14-A8B6-4E36FEFF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57800"/>
            <a:ext cx="962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F3396F1-842D-4548-8E09-F57A1E41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578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A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7FE4F57-2367-4C4C-B0A5-6569BA97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72100"/>
            <a:ext cx="923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DBA74"/>
                </a:solidFill>
              </a:defRPr>
            </a:pPr>
            <a:r>
              <a:rPr sz="1425" b="1">
                <a:solidFill>
                  <a:srgbClr val="FDBA74"/>
                </a:solidFill>
              </a:rPr>
              <a:t>验收输出与亮点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641AD2C-66F6-4DE6-88AE-69557FD9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657850"/>
            <a:ext cx="920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关键输出：任务交替执行、`[Lab5] scheduler finished`、`[Lab5] PASS`。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亮点：汇编只保存 callee-saved 寄存器，贴合 RISC-V 调用约定。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7CE2E0E-A42F-4036-B2EA-C30A55B2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065026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CD2D05D-F486-4038-A974-CE9E7E8B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0E975-2939-4023-83FC-DABF352F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001625-7A86-41A6-8E69-865FEE06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D6E82-BEAD-44B3-8A3F-D66D3D60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93D61-A56F-4533-ABE8-73D6B414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4DE5E-3E56-4554-941F-93392836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01FB6-2BA8-4AB6-B1A0-8D884FC3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CC16F3-8902-4F4F-95F0-F78CC885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F84389-7992-463D-84BA-E5EF87CC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402B8E-37BE-4D17-9DB1-0FA508DD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A3DAB3-3AEF-47C0-87CC-9B811A10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03714-A094-473C-81FE-BEE92704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22C039-4026-45A3-912D-E75B9D88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252908-6AD2-49DD-BE70-42EFF390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8970FC-834C-4499-B188-B88917D5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FF33A9-7289-41EA-A8EC-9E7C03FB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E1A4F0-6B0E-4F7A-88A7-59CC83DD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256DD2-5721-4DED-9F7A-F47C22F1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8C3115-317A-4C70-8BB3-2C37739D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C26963-B30A-43C7-9C92-6C3DC98C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E6E2E5-D45D-4EAE-80CE-F7404249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FCD1F5-2DC3-4E59-8FB9-DF945868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14E2DD-6C95-469A-8569-DDEB019B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ED2207-E026-4ABC-A479-19D2736F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E04C52-F88C-4640-98D7-9CDB1F3C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D2EE98-6363-410B-A3F0-A9A955D3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47254B-4FE2-4302-95F0-3D4DA818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E71564-FB3F-456C-A913-1FFC326A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59602E-B2C6-45A5-891F-6021F81A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ADA566-80DA-4153-BDF5-850C9212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F8F3C8-2AB3-4DFC-B0DA-12F7717D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9D5FF"/>
                </a:solidFill>
              </a:defRPr>
            </a:pPr>
            <a:r>
              <a:rPr sz="1125" b="1">
                <a:solidFill>
                  <a:srgbClr val="39D5FF"/>
                </a:solidFill>
              </a:rPr>
              <a:t>Lab6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C10E0B-43E9-40E1-8460-325B2D75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8FAFC"/>
                </a:solidFill>
              </a:defRPr>
            </a:pPr>
            <a:r>
              <a:rPr sz="3150" b="1">
                <a:solidFill>
                  <a:srgbClr val="F8FAFC"/>
                </a:solidFill>
              </a:rPr>
              <a:t>用户态与系统调用：打通 U-mode 到 S-mode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8843B0-26BD-4597-AC8F-0A8F2812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9BAD0"/>
                </a:solidFill>
              </a:defRPr>
            </a:pPr>
            <a:r>
              <a:rPr sz="1425" b="0">
                <a:solidFill>
                  <a:srgbClr val="A9BAD0"/>
                </a:solidFill>
              </a:rPr>
              <a:t>运行一个内置用户程序，最小实现 write 与 exit，避免 ELF 和多进程复杂度。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240705-300C-4D60-B4E5-8EAE6C84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573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25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9FDE9F-68D6-4C16-9E6C-5FF39262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37147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584C95-7620-42C2-83FC-8719E72A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CBC1E9-DA41-4E45-B7CC-329D9032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2C55E"/>
                </a:solidFill>
              </a:defRPr>
            </a:pPr>
            <a:r>
              <a:rPr sz="2025" b="1">
                <a:solidFill>
                  <a:srgbClr val="22C55E"/>
                </a:solidFill>
              </a:rPr>
              <a:t>实验设计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5EB25D-F838-413E-8949-13872CD3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UserContext 设置 sepc、用户栈和 sstatus。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通过 sret 进入 U-mode。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ecall 读取 a7 与 a0..a5，分发 syscall。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612142-3276-4489-9AD5-53C23410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学生修改边界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D38E5B-6C5D-4A90-9BF7-05FB02A5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user.rs / syscall.rs / trap.rs；不实现 ELF 加载、多进程和复杂用户指针校验。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C3A410-AD87-4CE7-AA66-4811D081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14550"/>
            <a:ext cx="63817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0A192B"/>
          </a:solidFill>
          <a:ln xmlns:a="http://schemas.openxmlformats.org/drawingml/2006/main" w="9525">
            <a:solidFill>
              <a:srgbClr val="24425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750810-9B93-4113-89C6-F3821B34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62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8FAFC"/>
                </a:solidFill>
              </a:defRPr>
            </a:pPr>
            <a:r>
              <a:rPr sz="2025" b="1">
                <a:solidFill>
                  <a:srgbClr val="F8FAFC"/>
                </a:solidFill>
              </a:rPr>
              <a:t>三段式任务路线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A3DB24-BBF6-42AC-B207-3A4158AB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52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9525">
            <a:solidFill>
              <a:srgbClr val="39D5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FE595A-0C71-4D2D-919B-A7BEFA16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194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7111F"/>
                </a:solidFill>
              </a:defRPr>
            </a:pPr>
            <a:r>
              <a:rPr sz="12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AC7174-9945-4F14-9149-30B22FD6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575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9D5FF"/>
                </a:solidFill>
              </a:defRPr>
            </a:pPr>
            <a:r>
              <a:rPr sz="1500" b="1">
                <a:solidFill>
                  <a:srgbClr val="39D5FF"/>
                </a:solidFill>
              </a:rPr>
              <a:t>用户上下文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7F71FE-B700-48BC-B794-04EBF511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527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准备入口地址、用户栈和 sstatus.SPP/SPIE。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CD8561-6BCD-415E-935C-06D130BA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71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D185456-E43B-485F-9D07-2B5B98F6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38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7111F"/>
                </a:solidFill>
              </a:defRPr>
            </a:pPr>
            <a:r>
              <a:rPr sz="12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85F53DD-602A-42FC-AD3E-10D4D0AE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76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C55E"/>
                </a:solidFill>
              </a:defRPr>
            </a:pPr>
            <a:r>
              <a:rPr sz="1500" b="1">
                <a:solidFill>
                  <a:srgbClr val="22C55E"/>
                </a:solidFill>
              </a:rPr>
              <a:t>系统调用 ABI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B958D77-AA60-42D9-AA45-B5CF29F0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719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定义 write/yield/exit 编号、参数和返回值约定。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1A95F64-7DB0-4D75-839B-4CA8EB08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91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0D18C5-931D-4CEC-A048-9F3C664A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577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7111F"/>
                </a:solidFill>
              </a:defRPr>
            </a:pPr>
            <a:r>
              <a:rPr sz="12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D65D1FE-0703-4B75-B392-25FB3EE6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95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97316"/>
                </a:solidFill>
              </a:defRPr>
            </a:pPr>
            <a:r>
              <a:rPr sz="1500" b="1">
                <a:solidFill>
                  <a:srgbClr val="F97316"/>
                </a:solidFill>
              </a:rPr>
              <a:t>用户程序验收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6130737-A895-4051-859C-30D08E92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7910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用户程序触发 write 和 exit，内核处理后返回结果。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A3681BB-15F6-4DBF-80F7-50EEE216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57800"/>
            <a:ext cx="962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8A4854D-31F2-4F10-9C50-E393E7CC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578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2F67052-4AF7-4ADD-B340-D097FEB0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72100"/>
            <a:ext cx="923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2C55E"/>
                </a:solidFill>
              </a:defRPr>
            </a:pPr>
            <a:r>
              <a:rPr sz="1425" b="1">
                <a:solidFill>
                  <a:srgbClr val="22C55E"/>
                </a:solidFill>
              </a:rPr>
              <a:t>验收输出与亮点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C53769D-B7DA-44C6-832E-7447B833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657850"/>
            <a:ext cx="920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关键输出：`user program: hello`、`syscall write handled`、`syscall exit handled`、`[Lab6] PASS`。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亮点：用最小路径让学生理解用户态不是黑盒。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3FC44E8-F511-497C-9FEA-E14B5FDF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333025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D755C6F-1DE8-4B4A-9B78-205E8BEA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53C1F-4882-459D-9019-C5CA355D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B690D-BEDF-4317-B493-CA357A51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4E96E-6663-4860-9286-DEBB181B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17DBB-D726-41AC-A8C1-446EC197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06CDE-2C47-443B-9EF7-45D9EEB8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BF428-54AE-4D49-B7C5-308F29BC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441E9-746F-41B7-92A5-5A16EA5F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568F82-44D6-4F5C-A102-D1B2C922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F070F9-16AA-4044-81A9-9F273FBB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BBC68-35E5-4926-A18F-F9FB2B15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C886B-6497-44A6-8D05-5EFFA2B5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72006-9E5B-4686-AAD0-AA241E47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6F742-C0BF-42CB-914B-EBE5559C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FE2680-C37C-420B-96F2-B7CD2DE9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C08323-F20D-49E7-93AB-81D000C0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C6FD9C-49D0-4EA9-A7B3-EEFE5D8E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0CF7A7-0DDF-4E9F-A394-59DBAA81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1DCE52-B00F-43A3-A3DD-2C471025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4B6D7E-44B0-4E82-873D-F9A55988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345FD2-C8E6-424C-BCD9-0442CCDB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F49A07-512F-493B-9D65-9A9B1DE5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093A49-1840-487D-BBF2-8CBED354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DF1358-69BB-4B57-B102-E03F99BE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277F39-442B-454E-B888-2077FE05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24FC46-56B1-4956-9F50-65461F83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BEE892-2700-40C4-AB8A-19F3B956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B83455-8B71-42AA-B868-6BE2DD6F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13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C6FD74-0840-4E1D-B8D7-18C73E66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B2C1D4-D1B5-4D39-851E-3B388BD2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28E882-89D2-4BED-874A-735D253F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9D5FF"/>
                </a:solidFill>
              </a:defRPr>
            </a:pPr>
            <a:r>
              <a:rPr sz="1125" b="1">
                <a:solidFill>
                  <a:srgbClr val="39D5FF"/>
                </a:solidFill>
              </a:rPr>
              <a:t>Lab7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AB3D49-FB75-41E9-8CF7-2F85926F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8FAFC"/>
                </a:solidFill>
              </a:defRPr>
            </a:pPr>
            <a:r>
              <a:rPr sz="3150" b="1">
                <a:solidFill>
                  <a:srgbClr val="F8FAFC"/>
                </a:solidFill>
              </a:rPr>
              <a:t>设备与简化文件系统：形成最小 OS 服务闭环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09E227-AD24-4165-9B89-DF508755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A9BAD0"/>
                </a:solidFill>
              </a:defRPr>
            </a:pPr>
            <a:r>
              <a:rPr sz="1425" b="0">
                <a:solidFill>
                  <a:srgbClr val="A9BAD0"/>
                </a:solidFill>
              </a:rPr>
              <a:t>以 RAM 字节设备和 SimpleFs 讲清文件描述符、偏移和 read/write 调用链。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02EC99-CB8D-4682-B837-BAC06161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57375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25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981B27-3663-4C3C-95E5-4D9F0B5D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37147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2033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EA8B80-A586-46AC-B8A5-CC1B644D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571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A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33EAF9-CE93-483E-9589-DC1E0C32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DBA74"/>
                </a:solidFill>
              </a:defRPr>
            </a:pPr>
            <a:r>
              <a:rPr sz="2025" b="1">
                <a:solidFill>
                  <a:srgbClr val="FDBA74"/>
                </a:solidFill>
              </a:rPr>
              <a:t>实验设计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ADF96D-AF2F-45EA-80AA-B18C67F6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RamDevice 提供 read_at/write_at。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SimpleFs 管理固定容量文件表和 fd 表。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用户程序通过 open/read/write/close 完成文件 I/O。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59B0B3-A6DE-4C13-B722-D5A5B9E9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学生修改边界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3EBE82-17C4-41BF-8129-0BABB33C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drivers/mod.rs、fs/mod.rs、syscall.rs；不实现真实磁盘、复杂路径和 virtio-block。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31AFA8-466A-47A7-B4FE-FE89350B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14550"/>
            <a:ext cx="638175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0A192B"/>
          </a:solidFill>
          <a:ln xmlns:a="http://schemas.openxmlformats.org/drawingml/2006/main" w="9525">
            <a:solidFill>
              <a:srgbClr val="24425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F8C819-1D60-4C9C-A89E-EA60A9A4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62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8FAFC"/>
                </a:solidFill>
              </a:defRPr>
            </a:pPr>
            <a:r>
              <a:rPr sz="2025" b="1">
                <a:solidFill>
                  <a:srgbClr val="F8FAFC"/>
                </a:solidFill>
              </a:rPr>
              <a:t>三段式任务路线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83EBBE-4673-48EC-B752-A1471AC2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52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D5FF"/>
          </a:solidFill>
          <a:ln xmlns:a="http://schemas.openxmlformats.org/drawingml/2006/main" w="9525">
            <a:solidFill>
              <a:srgbClr val="39D5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552523-D62A-437A-AD8A-7C323A3B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194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7111F"/>
                </a:solidFill>
              </a:defRPr>
            </a:pPr>
            <a:r>
              <a:rPr sz="12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DB2464-BAA8-4696-BC09-8922D6C0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575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9D5FF"/>
                </a:solidFill>
              </a:defRPr>
            </a:pPr>
            <a:r>
              <a:rPr sz="1500" b="1">
                <a:solidFill>
                  <a:srgbClr val="39D5FF"/>
                </a:solidFill>
              </a:rPr>
              <a:t>RAM 字节设备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88CE99B-B6FB-44E1-B596-C23251A7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527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实现读写和越界检查。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C88B13-2EE1-4CF9-8D26-A22BA2E9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71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07E1826-8EC9-49B3-87AB-AE5CBEA4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385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7111F"/>
                </a:solidFill>
              </a:defRPr>
            </a:pPr>
            <a:r>
              <a:rPr sz="12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25A11B-0C67-4EE6-8017-E7E5E525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676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2C55E"/>
                </a:solidFill>
              </a:defRPr>
            </a:pPr>
            <a:r>
              <a:rPr sz="1500" b="1">
                <a:solidFill>
                  <a:srgbClr val="22C55E"/>
                </a:solidFill>
              </a:rPr>
              <a:t>SimpleFs 与 fd 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FBC8F49-1572-4F7F-927E-1BA9F3D5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719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实现 open/read/write/close、偏移更新和错误 fd。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1984215-DA69-4B8A-BDDF-59CBF3F6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91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AFAA46F-4739-495E-BCCB-7FFF5586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577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7111F"/>
                </a:solidFill>
              </a:defRPr>
            </a:pPr>
            <a:r>
              <a:rPr sz="12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01EA5D5-B448-44DD-95FA-36ECC91D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95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97316"/>
                </a:solidFill>
              </a:defRPr>
            </a:pPr>
            <a:r>
              <a:rPr sz="1500" b="1">
                <a:solidFill>
                  <a:srgbClr val="F97316"/>
                </a:solidFill>
              </a:rPr>
              <a:t>用户态文件 I/O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ED6C388-45DD-44EC-B03B-2DEE4C6A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7910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9BAD0"/>
                </a:solidFill>
              </a:defRPr>
            </a:pPr>
            <a:r>
              <a:rPr sz="1050" b="0">
                <a:solidFill>
                  <a:srgbClr val="A9BAD0"/>
                </a:solidFill>
              </a:rPr>
              <a:t>扩展 syscall，用户程序完成写入和读取验证。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69C5C8D-2AA5-459E-97AE-153C3668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57800"/>
            <a:ext cx="962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FDBA7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24F41DA-F02D-4FF8-A785-0562276C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578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BA7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C0779EF-0308-42CB-B8A6-6A831800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72100"/>
            <a:ext cx="923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DBA74"/>
                </a:solidFill>
              </a:defRPr>
            </a:pPr>
            <a:r>
              <a:rPr sz="1425" b="1">
                <a:solidFill>
                  <a:srgbClr val="FDBA74"/>
                </a:solidFill>
              </a:rPr>
              <a:t>验收输出与亮点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62A87EC-9887-4CBB-BB53-EC8342F2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657850"/>
            <a:ext cx="920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关键输出：`[Lab7] file opened`、`[Lab7] write/read verified`、`[Lab7] PASS`。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• 亮点：用最小设备抽象讲清从用户调用到设备读写的闭环。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56451F1-C87C-4970-8B5B-EC18D5C7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A9BAD0"/>
                </a:solidFill>
              </a:defRPr>
            </a:pPr>
            <a:r>
              <a:rPr sz="1125" b="0">
                <a:solidFill>
                  <a:srgbClr val="A9BAD0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0270589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7200959-B079-4B50-91D0-32EEE9FB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3CE29-6276-4145-A244-59350C82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93AE1-A02C-424D-8653-8DF38310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D13B4-89C2-4364-AE8A-2FFE69C4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A3545-A7B5-4460-892E-3FABC691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C6BBF-9505-43CF-9B13-39DDD5A4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4411F3-29FF-4B7A-9EC7-DD7D4B72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36072-D59B-44E4-9139-B9BCB47A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01299D-5017-42CC-92C4-7FA5881E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B3D5C-42A6-4EE4-BF74-BFC94B78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B588A-4F99-49B6-ADC2-3442ADB6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E89545-50DC-40AD-8F9D-72C05690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01B661-A23D-4D8B-AEF7-5BCDD0FC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400DB-3D0D-4EE2-8893-832C7924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2FEF08-98D5-47ED-B6F1-ED256476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C2C57F-477C-45C2-9177-130E7A0A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998CE7-F111-4DD2-BEC4-DC1DE96C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4F8848-4C07-43B3-B0F7-0126B579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9B797E-4342-4B71-884D-A72A3AD2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7456FC-1F4F-4415-8987-757382DC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1BA989-768B-4BC8-861C-D41953F7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DBD8D9-9A23-457D-B097-41E474A5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1D3151-67DA-4F8D-B65E-84322B4A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623D9A-03C0-4F2E-8B3D-69BBA899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07ACBB-CEF0-43F9-B7A8-E7DAE2D9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499B2A-FE97-470D-9B2A-F7DF01F8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49D7AF-2D56-44B2-9068-21C6DC8D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4B73BA-97E4-4264-9C99-A31AF16A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F96E94-AE59-4CF1-8D7F-9BE27190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4D1B86-1C02-4AFA-9191-EA9708F8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FD327C-6BA3-4BC1-B4E2-F37D5FD1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可视化整体架构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748253-929B-4D36-AA97-EED14822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B8C9"/>
                </a:solidFill>
              </a:defRPr>
            </a:pPr>
            <a:r>
              <a:rPr sz="1350" b="0">
                <a:solidFill>
                  <a:srgbClr val="A9B8C9"/>
                </a:solidFill>
              </a:rPr>
              <a:t>真实内核事件从串口进入浏览器，页面不伪造运行状态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770B67-1A59-4DD2-A3FD-69B0233D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43F998-5563-4E09-ADF7-ECBEB017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A9B8C9"/>
                </a:solidFill>
              </a:defRPr>
            </a:pPr>
            <a:r>
              <a:rPr sz="1050" b="0">
                <a:solidFill>
                  <a:srgbClr val="A9B8C9"/>
                </a:solidFill>
              </a:rPr>
              <a:t>15</a:t>
            </a:r>
          </a:p>
        </p:txBody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de6557a794ec0"/>
          <a:stretch xmlns:a="http://schemas.openxmlformats.org/drawingml/2006/main"/>
        </p:blipFill>
        <p:spPr>
          <a:xfrm xmlns:a="http://schemas.openxmlformats.org/drawingml/2006/main">
            <a:off x="514350" y="2241537"/>
            <a:ext cx="5810250" cy="3270275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D90167-831F-43DB-81E5-510E28C3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5810250" cy="3714750"/>
          </a:xfrm>
          <a:prstGeom xmlns:a="http://schemas.openxmlformats.org/drawingml/2006/main" prst="roundRect">
            <a:avLst>
              <a:gd name="adj" fmla="val 307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35C8F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2650CF-65B6-418A-9383-C9530415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8191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35C8F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8151C3-5267-45B0-83DD-1C44FD45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686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内核事件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A40BF5-AF90-460C-BA0A-50859FF9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8605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A9B8C9"/>
                </a:solidFill>
              </a:defRPr>
            </a:pPr>
            <a:r>
              <a:rPr sz="1650" b="1">
                <a:solidFill>
                  <a:srgbClr val="A9B8C9"/>
                </a:solidFill>
              </a:rPr>
              <a:t>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A21294-9716-4B59-975C-D55DC55A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8191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35C8F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456990-C673-4688-89B0-9908F08D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686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QEMU 串口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9A7119-B6DE-4327-B790-F05346F4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8605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A9B8C9"/>
                </a:solidFill>
              </a:defRPr>
            </a:pPr>
            <a:r>
              <a:rPr sz="1650" b="1">
                <a:solidFill>
                  <a:srgbClr val="A9B8C9"/>
                </a:solidFill>
              </a:rPr>
              <a:t>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831039-2C56-4197-B426-4CE63DDF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8191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35C8F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81CA89-3853-4AED-81CD-5235C53E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86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本地桥接器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FAC537-303E-4905-996E-000D2569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8605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A9B8C9"/>
                </a:solidFill>
              </a:defRPr>
            </a:pPr>
            <a:r>
              <a:rPr sz="1650" b="1">
                <a:solidFill>
                  <a:srgbClr val="A9B8C9"/>
                </a:solidFill>
              </a:rPr>
              <a:t>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277471-0842-4CD4-A58D-4B7A1423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76500"/>
            <a:ext cx="8191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35C8F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17F6D4-0B51-46A3-BF40-2FF879AC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686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7FAFC"/>
                </a:solidFill>
              </a:defRPr>
            </a:pPr>
            <a:r>
              <a:rPr sz="825" b="1">
                <a:solidFill>
                  <a:srgbClr val="F7FAFC"/>
                </a:solidFill>
              </a:rPr>
              <a:t>WebSocket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C53534B-60F1-4510-9BA3-29B560F4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686050"/>
            <a:ext cx="22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A9B8C9"/>
                </a:solidFill>
              </a:defRPr>
            </a:pPr>
            <a:r>
              <a:rPr sz="1650" b="1">
                <a:solidFill>
                  <a:srgbClr val="A9B8C9"/>
                </a:solidFill>
              </a:rPr>
              <a:t>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1113303-96A6-4A4F-B325-FBE377DB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76500"/>
            <a:ext cx="8191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9525">
            <a:solidFill>
              <a:srgbClr val="FF7A1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65B07AE-8AD6-4AF0-A0B1-08BD559E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6860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7A1A"/>
                </a:solidFill>
              </a:defRPr>
            </a:pPr>
            <a:r>
              <a:rPr sz="825" b="1">
                <a:solidFill>
                  <a:srgbClr val="FF7A1A"/>
                </a:solidFill>
              </a:rPr>
              <a:t>浏览器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51F978-FB35-4B71-9BE1-05068337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501015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3FC23D-9113-4AC2-BCDF-4A7865A8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C9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BA28DCA-5A80-4764-9EF9-510472C4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8620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0C980"/>
                </a:solidFill>
              </a:defRPr>
            </a:pPr>
            <a:r>
              <a:rPr sz="1575" b="1">
                <a:solidFill>
                  <a:srgbClr val="30C980"/>
                </a:solidFill>
              </a:rPr>
              <a:t>结构化证据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E03C981-1A7C-402B-B390-904897BF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305300"/>
            <a:ext cx="461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</a:defRPr>
            </a:pPr>
            <a:r>
              <a:rPr sz="1200" b="0">
                <a:solidFill>
                  <a:srgbClr val="F7FAFC"/>
                </a:solidFill>
              </a:rPr>
              <a:t>os-demo.event/v1 只描述已观测事件；无证据就保持“未知”。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0D6897D-E59D-4D41-8E9B-B2A7F15B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38700"/>
            <a:ext cx="50101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4C063A2-8777-4A3E-B486-92D9B393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3870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126D613-3E24-4F87-A9AB-2DBCCDC9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10150"/>
            <a:ext cx="461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7A1A"/>
                </a:solidFill>
              </a:defRPr>
            </a:pPr>
            <a:r>
              <a:rPr sz="1575" b="1">
                <a:solidFill>
                  <a:srgbClr val="FF7A1A"/>
                </a:solidFill>
              </a:rPr>
              <a:t>安全边界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014AF82-C894-485A-AF4E-A832587C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429250"/>
            <a:ext cx="461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</a:defRPr>
            </a:pPr>
            <a:r>
              <a:rPr sz="1200" b="0">
                <a:solidFill>
                  <a:srgbClr val="F7FAFC"/>
                </a:solidFill>
              </a:rPr>
              <a:t>演示模式不会自动运行 QEMU，也不会切换 Git 分支。</a:t>
            </a:r>
          </a:p>
        </p:txBody>
      </p:sp>
    </p:spTree>
    <p:extLst>
      <p:ext uri="{BB962C8B-B14F-4D97-AF65-F5344CB8AC3E}">
        <p14:creationId xmlns:p14="http://schemas.microsoft.com/office/powerpoint/2010/main" val="163194101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C7556BE-A040-4C05-B4F1-04BD9CF8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4C009-3796-4CC0-86AC-ADCB361B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BC7BE-5E2E-436C-AAE5-8D5C33D9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FE77D-58B8-4B44-8416-2A85A6D3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86DFD-7ADB-44D3-8E16-0748CCF0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44B13-7298-4A2C-AC0F-40983D86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520E6-BD05-4CEB-BAAF-BC853B31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E87B0-11E0-4BFC-AE60-A0D715DF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0178A-5DA5-4499-9F99-A10A30B8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49C65-BE97-4149-8866-0225A931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75AAFD-F357-48E3-ACAA-68578441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185E36-0914-488A-8B79-CAFA19E4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7FB4F3-AB87-41C9-85F3-2F63DC14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371502-A463-44C3-A587-902F76AC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F65E69-4F0E-43D2-807E-E8E58E4B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17C84F-71BD-4DE1-BAE1-1640F490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B1D4E4-7819-4889-BC7F-84D84AF5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B3D09E-EF33-4367-8CBA-EF05DFF9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B165E1-1A73-4D48-8F69-D0B87063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7A8F97-B18B-4727-90A2-DB637E81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037660-CA79-4EFB-9475-AA317E13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A77F4D-4541-495C-9C11-84B2125F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4955E6-8C0E-45D9-89FA-8F2F2DCC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01905F-88CF-49C4-870F-8EBD9A68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A3E01C-C372-4319-A5C8-88681525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F1F21A-4A93-4B52-B348-3CEEB66C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299F57-BD02-416F-A7F8-4EFD51B5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0F52B4-A896-4042-932F-DBBB0C2A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9A155F-C590-415D-A818-DFDEFB2D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95069D-92AE-491B-995F-EC6C8A05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70FC93-EBCF-4405-AECF-92BCEB2D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从预测到解释的学习闭环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72CA2C-4352-48F5-93E3-C38FEC34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B8C9"/>
                </a:solidFill>
              </a:defRPr>
            </a:pPr>
            <a:r>
              <a:rPr sz="1350" b="0">
                <a:solidFill>
                  <a:srgbClr val="A9B8C9"/>
                </a:solidFill>
              </a:rPr>
              <a:t>运行结果不是终点：要能回放、比较并解释证据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9DDD6A-3C46-402C-9847-8F739F7A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D8EBD6-7E2A-4DA1-B501-92ED752C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A9B8C9"/>
                </a:solidFill>
              </a:defRPr>
            </a:pPr>
            <a:r>
              <a:rPr sz="1050" b="0">
                <a:solidFill>
                  <a:srgbClr val="A9B8C9"/>
                </a:solidFill>
              </a:rPr>
              <a:t>16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A3C086-FE22-41FF-A302-4E722F32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35C8F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591099-EE71-404F-9C6B-31594F96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5C8F4"/>
                </a:solidFill>
              </a:defRPr>
            </a:pPr>
            <a:r>
              <a:rPr sz="2250" b="1">
                <a:solidFill>
                  <a:srgbClr val="35C8F4"/>
                </a:solidFill>
              </a:rPr>
              <a:t>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D27C07-DB0F-43C1-88BC-DD1D753F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57450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7FAFC"/>
                </a:solidFill>
              </a:defRPr>
            </a:pPr>
            <a:r>
              <a:rPr sz="1875" b="1">
                <a:solidFill>
                  <a:srgbClr val="F7FAFC"/>
                </a:solidFill>
              </a:rPr>
              <a:t>预测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77576F-05E7-4DE6-9285-88C57CA2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543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A9B8C9"/>
                </a:solidFill>
              </a:defRPr>
            </a:pPr>
            <a:r>
              <a:rPr sz="1200" b="0">
                <a:solidFill>
                  <a:srgbClr val="A9B8C9"/>
                </a:solidFill>
              </a:rPr>
              <a:t>填写构建、运行、PASS 与关键事件预期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479C5E-F80B-458B-AA50-E272BDC6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181350"/>
            <a:ext cx="33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A9B8C9"/>
                </a:solidFill>
              </a:defRPr>
            </a:pPr>
            <a:r>
              <a:rPr sz="2100" b="1">
                <a:solidFill>
                  <a:srgbClr val="A9B8C9"/>
                </a:solidFill>
              </a:rPr>
              <a:t>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CBA431-94B8-4D57-90ED-199733F7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6695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FF7A1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EAE769-840D-424A-B496-DEE205D8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384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7A1A"/>
                </a:solidFill>
              </a:defRPr>
            </a:pPr>
            <a:r>
              <a:rPr sz="2250" b="1">
                <a:solidFill>
                  <a:srgbClr val="FF7A1A"/>
                </a:solidFill>
              </a:rPr>
              <a:t>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09751F-CC15-4875-AC97-68A8C8B7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57450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7FAFC"/>
                </a:solidFill>
              </a:defRPr>
            </a:pPr>
            <a:r>
              <a:rPr sz="1875" b="1">
                <a:solidFill>
                  <a:srgbClr val="F7FAFC"/>
                </a:solidFill>
              </a:rPr>
              <a:t>运行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B95354-3519-409B-BB5A-77EA3FCF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43250"/>
            <a:ext cx="1543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A9B8C9"/>
                </a:solidFill>
              </a:defRPr>
            </a:pPr>
            <a:r>
              <a:rPr sz="1200" b="0">
                <a:solidFill>
                  <a:srgbClr val="A9B8C9"/>
                </a:solidFill>
              </a:rPr>
              <a:t>真实交叉构建并启动 QEMU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966B72-549C-4B3A-B452-9DBFFF9F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181350"/>
            <a:ext cx="33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A9B8C9"/>
                </a:solidFill>
              </a:defRPr>
            </a:pPr>
            <a:r>
              <a:rPr sz="2100" b="1">
                <a:solidFill>
                  <a:srgbClr val="A9B8C9"/>
                </a:solidFill>
              </a:rPr>
              <a:t>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556985-640C-4106-A09A-CC86C520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6695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30C98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B24BFE-9976-4A59-8E94-5611A998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384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0C980"/>
                </a:solidFill>
              </a:defRPr>
            </a:pPr>
            <a:r>
              <a:rPr sz="2250" b="1">
                <a:solidFill>
                  <a:srgbClr val="30C980"/>
                </a:solidFill>
              </a:rPr>
              <a:t>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16CEBF8-8CE1-458D-98FF-4C676688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57450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7FAFC"/>
                </a:solidFill>
              </a:defRPr>
            </a:pPr>
            <a:r>
              <a:rPr sz="1875" b="1">
                <a:solidFill>
                  <a:srgbClr val="F7FAFC"/>
                </a:solidFill>
              </a:rPr>
              <a:t>回放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AA84D25-1843-455E-AC48-5C1ACBC2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43250"/>
            <a:ext cx="1543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A9B8C9"/>
                </a:solidFill>
              </a:defRPr>
            </a:pPr>
            <a:r>
              <a:rPr sz="1200" b="0">
                <a:solidFill>
                  <a:srgbClr val="A9B8C9"/>
                </a:solidFill>
              </a:rPr>
              <a:t>按事件时间线筛选、单步与倍速播放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045C9C0-FEEC-4D2D-81DA-49B33353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181350"/>
            <a:ext cx="33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A9B8C9"/>
                </a:solidFill>
              </a:defRPr>
            </a:pPr>
            <a:r>
              <a:rPr sz="2100" b="1">
                <a:solidFill>
                  <a:srgbClr val="A9B8C9"/>
                </a:solidFill>
              </a:rPr>
              <a:t>→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97A2AD1-1B18-46AA-82F1-799465AF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6695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F3B56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AEA3383-2C6D-4D15-BBD7-C09C919A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384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3B562"/>
                </a:solidFill>
              </a:defRPr>
            </a:pPr>
            <a:r>
              <a:rPr sz="2250" b="1">
                <a:solidFill>
                  <a:srgbClr val="F3B562"/>
                </a:solidFill>
              </a:rPr>
              <a:t>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3C12FF0-954D-45D3-8340-E8890658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57450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7FAFC"/>
                </a:solidFill>
              </a:defRPr>
            </a:pPr>
            <a:r>
              <a:rPr sz="1875" b="1">
                <a:solidFill>
                  <a:srgbClr val="F7FAFC"/>
                </a:solidFill>
              </a:rPr>
              <a:t>差异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C34BF28-6BEC-4E94-92BE-7F287B3D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43250"/>
            <a:ext cx="1543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A9B8C9"/>
                </a:solidFill>
              </a:defRPr>
            </a:pPr>
            <a:r>
              <a:rPr sz="1200" b="0">
                <a:solidFill>
                  <a:srgbClr val="A9B8C9"/>
                </a:solidFill>
              </a:rPr>
              <a:t>比较 starter / solution 的事件与最终状态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03BB6F3-0FC7-4DCE-8390-CB9B498C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181350"/>
            <a:ext cx="33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A9B8C9"/>
                </a:solidFill>
              </a:defRPr>
            </a:pPr>
            <a:r>
              <a:rPr sz="2100" b="1">
                <a:solidFill>
                  <a:srgbClr val="A9B8C9"/>
                </a:solidFill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95EE32B-DF42-4574-81CD-61E59BDF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26695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745FDDD-5C74-47BA-9160-CF376ED9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384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6B6B"/>
                </a:solidFill>
              </a:defRPr>
            </a:pPr>
            <a:r>
              <a:rPr sz="2250" b="1">
                <a:solidFill>
                  <a:srgbClr val="FF6B6B"/>
                </a:solidFill>
              </a:rPr>
              <a:t>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659720F-0A42-4796-8EED-60F275F0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57450"/>
            <a:ext cx="100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7FAFC"/>
                </a:solidFill>
              </a:defRPr>
            </a:pPr>
            <a:r>
              <a:rPr sz="1875" b="1">
                <a:solidFill>
                  <a:srgbClr val="F7FAFC"/>
                </a:solidFill>
              </a:rPr>
              <a:t>诊断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E82B0C8-6C0E-4DF1-8BC0-B0062DD0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43250"/>
            <a:ext cx="1543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A9B8C9"/>
                </a:solidFill>
              </a:defRPr>
            </a:pPr>
            <a:r>
              <a:rPr sz="1200" b="0">
                <a:solidFill>
                  <a:srgbClr val="A9B8C9"/>
                </a:solidFill>
              </a:rPr>
              <a:t>按确定性证据规则定位可能原因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8A011AC-81CF-4C22-AEBD-4F068BAB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57750"/>
            <a:ext cx="8953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EF29A06-E50A-4681-841D-6134EB1C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57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0F9728F-003C-43E7-9930-0A9AE91B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29200"/>
            <a:ext cx="8553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5C8F4"/>
                </a:solidFill>
              </a:defRPr>
            </a:pPr>
            <a:r>
              <a:rPr sz="1575" b="1">
                <a:solidFill>
                  <a:srgbClr val="35C8F4"/>
                </a:solidFill>
              </a:rPr>
              <a:t>诊断边界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88EB5E6-DFDF-4CD8-949B-BBCBF275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48300"/>
            <a:ext cx="8553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</a:defRPr>
            </a:pPr>
            <a:r>
              <a:rPr sz="1200" b="0">
                <a:solidFill>
                  <a:srgbClr val="F7FAFC"/>
                </a:solidFill>
              </a:rPr>
              <a:t>诊断是本地、确定性的证据规则，不等同于 AI 根因分析；证据不足时只提示可能原因。快捷键支持空格、←/→、Home/End、F、D、/ 与 Esc。</a:t>
            </a:r>
          </a:p>
        </p:txBody>
      </p:sp>
    </p:spTree>
    <p:extLst>
      <p:ext uri="{BB962C8B-B14F-4D97-AF65-F5344CB8AC3E}">
        <p14:creationId xmlns:p14="http://schemas.microsoft.com/office/powerpoint/2010/main" val="15436321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624871A-83D9-4FA5-8566-9E4B237C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CBA33-BA0B-45AB-BDE2-9222B2D5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47D1D-105A-4E11-8F9E-2E562B42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3001B-CF92-49BE-8080-AACE9282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662E3-6772-41DF-9C12-5662CDDB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2ACB4-0DD8-4249-A39C-75FE3BC5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156EE-15B4-4BD8-A7B4-F16B4F12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71B60-9EDA-482C-B790-91624A72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212A0-94F4-4AC8-B584-1BD26E8E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9FEB3B-0187-4D77-9F4C-2C428607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44EC2-08CD-4616-9C42-E396EFF2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3ABD74-661A-418D-B586-48C03B61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4E5E99-9584-462D-9D3F-9C1871B2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723EF-37DF-41EF-89C8-35E6B6A3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C7865-7D60-4900-8A65-4A46A9EC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EAD5E7-08EC-4405-A8F8-545A09FF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5A69B4-5C88-489F-9C27-321B15D7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B9C188-BE46-43A1-ADB7-9061FEE5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4D10E7-C2BD-404B-A21B-B740A45A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190810-E7D9-46B5-A91E-24456216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CD2EBD-17AF-47F1-9AE2-CAF27FB3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FA5803-130D-44E2-AE9C-1CF1FAEE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A149EE-3BC3-44F8-A6FD-6DBBE16B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73D3B2-9918-4295-838A-ACB2B132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3BCD42-5B9D-4DC6-8274-F154E94F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841B5A-8C2D-4BC9-BE48-CF6C12D2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151C93-8FFF-46B6-B887-F5EFB2CA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E167FB-7AEB-4741-81DF-7AF290B5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816160-A1E9-47B9-B4C0-91654E8A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DCA142-6CBF-48A8-8C74-88B51B61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76C509-E974-4043-8CEE-4839FD24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教学智能体：证据约束，而不是答案生成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920F60-E7DE-4E62-83F0-BC4CB466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B8C9"/>
                </a:solidFill>
              </a:defRPr>
            </a:pPr>
            <a:r>
              <a:rPr sz="1350" b="0">
                <a:solidFill>
                  <a:srgbClr val="A9B8C9"/>
                </a:solidFill>
              </a:rPr>
              <a:t>学生 → 本地 /api/agent → 受限循环 ↔ 火山方舟；权限由服务端白名单控制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56151F-3538-45FD-83A6-40913995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181DAF-5016-4AF2-A82F-1FB52B8C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A9B8C9"/>
                </a:solidFill>
              </a:defRPr>
            </a:pPr>
            <a:r>
              <a:rPr sz="1050" b="0">
                <a:solidFill>
                  <a:srgbClr val="A9B8C9"/>
                </a:solidFill>
              </a:rPr>
              <a:t>17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DA909B-BA3A-4794-A494-49413024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762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CB0636-F222-4CAC-A43A-49AAC10B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60F223-4C65-4D1C-B1AD-EDD569BD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5C8F4"/>
                </a:solidFill>
              </a:defRPr>
            </a:pPr>
            <a:r>
              <a:rPr sz="1575" b="1">
                <a:solidFill>
                  <a:srgbClr val="35C8F4"/>
                </a:solidFill>
              </a:rPr>
              <a:t>先观察再解释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C3FE86-20F6-4AE0-AB72-E441643B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43624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</a:defRPr>
            </a:pPr>
            <a:r>
              <a:rPr sz="1200" b="0">
                <a:solidFill>
                  <a:srgbClr val="F7FAFC"/>
                </a:solidFill>
              </a:rPr>
              <a:t>固定教学引导：观察证据、解释机制、定位代码、预测结果，最后验证。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B276E6-9482-4BC7-A930-EDE9CD63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4762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7CEED3-E314-4701-9F88-384C1DF0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175191-BFB8-4462-9CBB-E0B77EF6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622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7A1A"/>
                </a:solidFill>
              </a:defRPr>
            </a:pPr>
            <a:r>
              <a:rPr sz="1575" b="1">
                <a:solidFill>
                  <a:srgbClr val="FF7A1A"/>
                </a:solidFill>
              </a:rPr>
              <a:t>六个白名单工具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E650F9-5D9B-4C83-80B9-BFDBA29D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81300"/>
            <a:ext cx="43624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</a:defRPr>
            </a:pPr>
            <a:r>
              <a:rPr sz="1200" b="0">
                <a:solidFill>
                  <a:srgbClr val="F7FAFC"/>
                </a:solidFill>
              </a:rPr>
              <a:t>上下文、源码片段、事件、结果、差异、批准测试；拒绝任意命令和教师答案。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417B1F-23F9-4793-9020-BAB4C14B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4762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05B5A5-763B-44BD-AE6D-80A82C10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C9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037C57-46FA-4BC0-907E-D3DAA8C4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0C980"/>
                </a:solidFill>
              </a:defRPr>
            </a:pPr>
            <a:r>
              <a:rPr sz="1575" b="1">
                <a:solidFill>
                  <a:srgbClr val="30C980"/>
                </a:solidFill>
              </a:rPr>
              <a:t>上下文与任务锁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2E78FD-9689-481D-85E2-06F4F163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43624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</a:defRPr>
            </a:pPr>
            <a:r>
              <a:rPr sz="1200" b="0">
                <a:solidFill>
                  <a:srgbClr val="F7FAFC"/>
                </a:solidFill>
              </a:rPr>
              <a:t>分支或提交变化即 context_changed；交互运行与智能体测试共享一个任务锁。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60C34F-3962-4D4F-B9FD-4285F8B9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19550"/>
            <a:ext cx="4762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60B7F5E-8702-427F-95D7-A4B37DEC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195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5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3DFC848-A0CD-4A14-A255-960C8F31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910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B562"/>
                </a:solidFill>
              </a:defRPr>
            </a:pPr>
            <a:r>
              <a:rPr sz="1575" b="1">
                <a:solidFill>
                  <a:srgbClr val="F3B562"/>
                </a:solidFill>
              </a:rPr>
              <a:t>稳定版本协议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1D3D9B-D882-4F4B-A51A-87DFC909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10100"/>
            <a:ext cx="43624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</a:defRPr>
            </a:pPr>
            <a:r>
              <a:rPr sz="1200" b="0">
                <a:solidFill>
                  <a:srgbClr val="F7FAFC"/>
                </a:solidFill>
              </a:rPr>
              <a:t>os-tutor.agent/v1 与 tool/v1；每次提问独立，回答按纯文本显示。</a:t>
            </a:r>
          </a:p>
        </p:txBody>
      </p:sp>
    </p:spTree>
    <p:extLst>
      <p:ext uri="{BB962C8B-B14F-4D97-AF65-F5344CB8AC3E}">
        <p14:creationId xmlns:p14="http://schemas.microsoft.com/office/powerpoint/2010/main" val="9240227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671906-9FF4-4A67-9662-B3948F85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8404E-BF83-406D-BA15-F7715CD0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E2954-849B-4118-A553-B1DB452B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D01EC-DA70-4137-BFD6-BDCBCFB1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620F0-4734-4324-A02E-EFDB39FE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6F065-6D53-42D1-945B-DAC568B7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2B656-8749-4A38-A280-C70F1F8F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3EC2A-3C29-4B6A-87BA-91D4B462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786BB-4A91-4FF1-8D02-AF8E0FB1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C310D-1D29-45BE-A7B6-48ADEEE9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A1E871-98D1-4A30-8B44-80320A25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202A0-4387-4A61-AFCE-3592769C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B80356-F1F3-4C25-BD70-0C6D10C7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E67F30-8E2F-4D1D-A452-341B76A0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BCA83E-F83C-47E6-AE22-452D6A1E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6696FD-C70A-4FAC-A498-A7E9A867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ECD0F9-B645-411D-B2B8-0686A042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90E80C-3C2C-4860-8A79-BF7D4907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1B15C3-948D-4725-A06E-0F7D69FE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0311C7-9E9E-4D3D-8BD4-A7AA8BA3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DE0097-6C41-41D6-8302-150F489B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2962D3-21C1-481C-BF56-C197760D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9F4FC9-3FC8-4351-816F-CF66C89C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AA54FB-78ED-4736-8866-C57E0E9E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F88C1C-3B73-43FC-B540-B2EF693A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528F98-4DBA-4F39-8E2F-9AF49268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E54381-B8F8-4197-A5E4-FF33B13C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507303-6833-4E2D-ABAF-80744453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E1B268-96DB-4659-9068-A45C7CDE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104690-3A01-4B35-9A00-B6A51CC3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CF3E9F-1316-4BDB-A1F9-A6E0C2B6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四层数据边界：联网与否由功能决定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FC42F6-5908-488D-B3C7-9F419931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B8C9"/>
                </a:solidFill>
              </a:defRPr>
            </a:pPr>
            <a:r>
              <a:rPr sz="1350" b="0">
                <a:solidFill>
                  <a:srgbClr val="A9B8C9"/>
                </a:solidFill>
              </a:rPr>
              <a:t>不再用“完全本地”概括整个系统；每条链路分别告知、限制和验收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30290B-7D85-44C6-8A0E-F4B15ECF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B4113A-C0BF-40EA-B470-A3DAAD0F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A9B8C9"/>
                </a:solidFill>
              </a:defRPr>
            </a:pPr>
            <a:r>
              <a:rPr sz="1050" b="0">
                <a:solidFill>
                  <a:srgbClr val="A9B8C9"/>
                </a:solidFill>
              </a:rPr>
              <a:t>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B35A18-CB20-4337-9C69-F8B0BCBA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762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672890-AF1C-4D07-8AC9-A86C6C27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C9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1356EB-1E3D-48E8-9344-6E236389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0C980"/>
                </a:solidFill>
              </a:defRPr>
            </a:pPr>
            <a:r>
              <a:rPr sz="1575" b="1">
                <a:solidFill>
                  <a:srgbClr val="30C980"/>
                </a:solidFill>
              </a:rPr>
              <a:t>本地确定性能力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0BE1FD-F905-4CC1-98EA-B7EF7906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4362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</a:defRPr>
            </a:pPr>
            <a:r>
              <a:rPr sz="1200" b="0">
                <a:solidFill>
                  <a:srgbClr val="F7FAFC"/>
                </a:solidFill>
              </a:rPr>
              <a:t>预测、回放、分支比较和规则诊断不调用模型。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AC53B5-360F-4E37-8D8F-D3A7DA9E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4762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84E5B2-C343-4AED-BD2B-AFC09058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0E22AD-9895-4022-A17E-916586DB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622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6B6B"/>
                </a:solidFill>
              </a:defRPr>
            </a:pPr>
            <a:r>
              <a:rPr sz="1575" b="1">
                <a:solidFill>
                  <a:srgbClr val="FF6B6B"/>
                </a:solidFill>
              </a:rPr>
              <a:t>主动远程反馈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16A57E-34DB-4CA2-94BF-0B236EC4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81300"/>
            <a:ext cx="4362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</a:defRPr>
            </a:pPr>
            <a:r>
              <a:rPr sz="1200" b="0">
                <a:solidFill>
                  <a:srgbClr val="F7FAFC"/>
                </a:solidFill>
              </a:rPr>
              <a:t>预览并同意后，经 HTTPS / 8890 写入负责人本机 JSONL。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017C2B-190A-4207-9B7F-C3C2D1C9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4762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4B67DC-46C7-4476-9AE4-29DCEAA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9B5369-598B-4613-A764-08F76A1F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5C8F4"/>
                </a:solidFill>
              </a:defRPr>
            </a:pPr>
            <a:r>
              <a:rPr sz="1575" b="1">
                <a:solidFill>
                  <a:srgbClr val="35C8F4"/>
                </a:solidFill>
              </a:rPr>
              <a:t>方舟教学智能体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6A5C7A-93BA-4396-B973-0CFC101B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4362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</a:defRPr>
            </a:pPr>
            <a:r>
              <a:rPr sz="1200" b="0">
                <a:solidFill>
                  <a:srgbClr val="F7FAFC"/>
                </a:solidFill>
              </a:rPr>
              <a:t>问题与按需受限证据发送云端；Key 仅在服务端；store: true 用于工具续接。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1E9821-2554-40FF-9253-40180279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762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5A3DEB7-04BA-4A6D-80D4-CF10EE9F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4C64608-21EA-4B47-99C9-2F5932CE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672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7A1A"/>
                </a:solidFill>
              </a:defRPr>
            </a:pPr>
            <a:r>
              <a:rPr sz="1575" b="1">
                <a:solidFill>
                  <a:srgbClr val="FF7A1A"/>
                </a:solidFill>
              </a:rPr>
              <a:t>本地教师评分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631D967-406E-4E76-97F4-EC5C99D4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86300"/>
            <a:ext cx="4362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</a:defRPr>
            </a:pPr>
            <a:r>
              <a:rPr sz="1200" b="0">
                <a:solidFill>
                  <a:srgbClr val="F7FAFC"/>
                </a:solidFill>
              </a:rPr>
              <a:t>不自动上传成绩；运行证据和智能体回答都不自动加分。</a:t>
            </a:r>
          </a:p>
        </p:txBody>
      </p:sp>
    </p:spTree>
    <p:extLst>
      <p:ext uri="{BB962C8B-B14F-4D97-AF65-F5344CB8AC3E}">
        <p14:creationId xmlns:p14="http://schemas.microsoft.com/office/powerpoint/2010/main" val="212513050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65A5AA-0366-497F-8C0F-815403C5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83E6B-35FA-4A32-9BBB-87568FEB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C0076-9AF3-4FD3-B885-8C9B2212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8E2CD-1276-4950-AA46-D103012C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F1416-1979-48A0-BA17-8DAB7AFB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01689-76AB-4D9C-BBE1-93094207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8230F-2341-4DB9-AC59-085B3C91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DC79BE-B6A5-4DF4-898E-64D97807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191D1-2D38-419B-824D-B4ADC97A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6BD0E-6553-4356-A1DE-F796FF81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444FA-3AE3-4398-9DCC-51FA0447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8F7D9-5D4D-405E-A036-615BDA2F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7ED6FF-1041-4D12-AE04-B05132E4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C02851-55C4-4605-BA0E-A2B7A82F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03176-830C-40DA-9785-6A1C6EA0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182D3E-C515-44DA-9FB7-3231265A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48BD8-D1E6-4FC0-8DC9-2A13569F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DF8358-8CB4-4B94-870D-AF1FB23B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C4CB3F-2D7D-4A4F-ACAF-47B14A7C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B1257E-1B7F-4236-ADAC-1D1BFC66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1235A5-859E-45A7-973B-58F25F0E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00B4B0-0770-4CF3-A4AF-69D4F765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E9A298-42A7-4AA1-8D1A-F59DF92C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C0207F-0ADD-4912-B7FF-46E4427D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212054-4D93-4BA1-A169-4CAB8D6F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8961F6-9A75-4DD5-8E56-2E2BBC70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A6ED15-BBB5-45A4-B295-F860C65C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03934D-3373-4AB4-8F8A-A9AF1B69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F279DE-824F-40A9-8ED6-E189A693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AF2C76-4F1A-4343-B78E-C953A66A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3DD1F1-813D-4D40-95DE-AD342D71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自愿反馈：先预览、再同意、再提交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E67C39-725C-4168-9A75-39A3A732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B8C9"/>
                </a:solidFill>
              </a:defRPr>
            </a:pPr>
            <a:r>
              <a:rPr sz="1350" b="0">
                <a:solidFill>
                  <a:srgbClr val="A9B8C9"/>
                </a:solidFill>
              </a:rPr>
              <a:t>教学评价与脱敏运行记录使用独立协议：8890 接收，8891 本机管理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1C3EC1-ED9A-45EB-BA3D-B33F40BE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93E873-3FF0-49C7-9074-FFD6FFB5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A9B8C9"/>
                </a:solidFill>
              </a:defRPr>
            </a:pPr>
            <a:r>
              <a:rPr sz="1050" b="0">
                <a:solidFill>
                  <a:srgbClr val="A9B8C9"/>
                </a:solidFill>
              </a:rPr>
              <a:t>19</a:t>
            </a:r>
          </a:p>
        </p:txBody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21eae05daa47ec"/>
          <a:stretch xmlns:a="http://schemas.openxmlformats.org/drawingml/2006/main"/>
        </p:blipFill>
        <p:spPr>
          <a:xfrm xmlns:a="http://schemas.openxmlformats.org/drawingml/2006/main">
            <a:off x="514350" y="2131718"/>
            <a:ext cx="4000500" cy="2251665"/>
          </a:xfrm>
          <a:prstGeom xmlns:a="http://schemas.openxmlformats.org/drawingml/2006/main" prst="roundRect">
            <a:avLst>
              <a:gd name="adj" fmla="val 4839"/>
            </a:avLst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5E0DE1-89B7-45DD-995C-47766A4D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4000500" cy="2362200"/>
          </a:xfrm>
          <a:prstGeom xmlns:a="http://schemas.openxmlformats.org/drawingml/2006/main" prst="roundRect">
            <a:avLst>
              <a:gd name="adj" fmla="val 483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35C8F4"/>
            </a:solidFill>
            <a:prstDash val="solid"/>
          </a:ln>
        </p:spPr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d068623ce34b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7150" y="2131718"/>
            <a:ext cx="4000500" cy="2251665"/>
          </a:xfrm>
          <a:prstGeom xmlns:a="http://schemas.openxmlformats.org/drawingml/2006/main" prst="roundRect">
            <a:avLst>
              <a:gd name="adj" fmla="val 4839"/>
            </a:avLst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84282D-1E74-4534-AFA8-53F54522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4000500" cy="2362200"/>
          </a:xfrm>
          <a:prstGeom xmlns:a="http://schemas.openxmlformats.org/drawingml/2006/main" prst="roundRect">
            <a:avLst>
              <a:gd name="adj" fmla="val 483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35C8F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AA4B56-69B1-4A5E-A7CC-BE6F7560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4000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83441B-65E2-472A-9D49-C5BB3486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59CF35-55AC-4A00-90B8-2812A7C2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5C8F4"/>
                </a:solidFill>
              </a:defRPr>
            </a:pPr>
            <a:r>
              <a:rPr sz="1575" b="1">
                <a:solidFill>
                  <a:srgbClr val="35C8F4"/>
                </a:solidFill>
              </a:rPr>
              <a:t>学生主动提交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394891-08D3-4615-929D-CF520D1F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3600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</a:defRPr>
            </a:pPr>
            <a:r>
              <a:rPr sz="1200" b="0">
                <a:solidFill>
                  <a:srgbClr val="F7FAFC"/>
                </a:solidFill>
              </a:rPr>
              <a:t>页面列出发送和排除字段；取消、只回放或关闭页面都不会产生提交请求。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819CF2-0B73-4652-82A0-CD5E0E02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67250"/>
            <a:ext cx="4000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8063E9-AA2E-4CAB-9E88-28C5D89A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672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C9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E7C068-94F8-4E74-BE2A-409E698C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387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0C980"/>
                </a:solidFill>
              </a:defRPr>
            </a:pPr>
            <a:r>
              <a:rPr sz="1575" b="1">
                <a:solidFill>
                  <a:srgbClr val="30C980"/>
                </a:solidFill>
              </a:rPr>
              <a:t>负责人本机管理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2347D77-CD61-4C92-9A90-6862F859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</a:defRPr>
            </a:pPr>
            <a:r>
              <a:rPr sz="1200" b="0">
                <a:solidFill>
                  <a:srgbClr val="F7FAFC"/>
                </a:solidFill>
              </a:rPr>
              <a:t>反馈与运行记录分开写入 JSONL；筛选、导出、备份与公开脱敏由负责人完成。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C56718-1761-4EB5-B373-DB42FB06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76500"/>
            <a:ext cx="2095500" cy="2857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9525">
            <a:solidFill>
              <a:srgbClr val="FF7A1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8AFCFB-1902-44B6-9C5D-3FD1DC85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003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7A1A"/>
                </a:solidFill>
              </a:defRPr>
            </a:pPr>
            <a:r>
              <a:rPr sz="1425" b="1">
                <a:solidFill>
                  <a:srgbClr val="FF7A1A"/>
                </a:solidFill>
              </a:rPr>
              <a:t>os-demo.feedback.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FF7A1A"/>
                </a:solidFill>
              </a:defRPr>
            </a:pPr>
            <a:r>
              <a:rPr sz="1425" b="1">
                <a:solidFill>
                  <a:srgbClr val="FF7A1A"/>
                </a:solidFill>
              </a:rPr>
              <a:t>submit/v1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0ACA49C-D834-4B81-8E76-3267E5E4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575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预览并同意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975263C-B338-4242-826F-D63C561D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766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A9B8C9"/>
                </a:solidFill>
              </a:defRPr>
            </a:pPr>
            <a:r>
              <a:rPr sz="1950" b="1">
                <a:solidFill>
                  <a:srgbClr val="A9B8C9"/>
                </a:solidFill>
              </a:rPr>
              <a:t>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7FE092C-7869-473B-8257-EBCC91AF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148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HTTPS / 8890 → JSONL / 8891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F7B70CB-05AA-4D04-B148-8BB4D34D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6291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0C980"/>
                </a:solidFill>
              </a:defRPr>
            </a:pPr>
            <a:r>
              <a:rPr sz="1200" b="1">
                <a:solidFill>
                  <a:srgbClr val="30C980"/>
                </a:solidFill>
              </a:rPr>
              <a:t>不等同于评分</a:t>
            </a:r>
          </a:p>
        </p:txBody>
      </p:sp>
    </p:spTree>
    <p:extLst>
      <p:ext uri="{BB962C8B-B14F-4D97-AF65-F5344CB8AC3E}">
        <p14:creationId xmlns:p14="http://schemas.microsoft.com/office/powerpoint/2010/main" val="29021960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65A5AA-0366-497F-8C0F-815403C5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83E6B-35FA-4A32-9BBB-87568FEB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C0076-9AF3-4FD3-B885-8C9B2212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8E2CD-1276-4950-AA46-D103012C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F1416-1979-48A0-BA17-8DAB7AFB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01689-76AB-4D9C-BBE1-93094207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8230F-2341-4DB9-AC59-085B3C91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DC79BE-B6A5-4DF4-898E-64D97807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191D1-2D38-419B-824D-B4ADC97A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6BD0E-6553-4356-A1DE-F796FF81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444FA-3AE3-4398-9DCC-51FA0447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8F7D9-5D4D-405E-A036-615BDA2F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7ED6FF-1041-4D12-AE04-B05132E4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C02851-55C4-4605-BA0E-A2B7A82F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03176-830C-40DA-9785-6A1C6EA0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182D3E-C515-44DA-9FB7-3231265A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48BD8-D1E6-4FC0-8DC9-2A13569F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DF8358-8CB4-4B94-870D-AF1FB23B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C4CB3F-2D7D-4A4F-ACAF-47B14A7C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B1257E-1B7F-4236-ADAC-1D1BFC66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1235A5-859E-45A7-973B-58F25F0E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00B4B0-0770-4CF3-A4AF-69D4F765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E9A298-42A7-4AA1-8D1A-F59DF92C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C0207F-0ADD-4912-B7FF-46E4427D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212054-4D93-4BA1-A169-4CAB8D6F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8961F6-9A75-4DD5-8E56-2E2BBC70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A6ED15-BBB5-45A4-B295-F860C65C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03934D-3373-4AB4-8F8A-A9AF1B69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F279DE-824F-40A9-8ED6-E189A693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AF2C76-4F1A-4343-B78E-C953A66A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3DD1F1-813D-4D40-95DE-AD342D71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教师评分：自动证据只建议客观状态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E67C39-725C-4168-9A75-39A3A732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B8C9"/>
                </a:solidFill>
              </a:defRPr>
            </a:pPr>
            <a:r>
              <a:rPr sz="1350" b="0">
                <a:solidFill>
                  <a:srgbClr val="A9B8C9"/>
                </a:solidFill>
              </a:rPr>
              <a:t>七套 100 分量表最终由代码审查、口试、实验报告和教师人工确认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1C3EC1-ED9A-45EB-BA3D-B33F40BE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93E873-3FF0-49C7-9074-FFD6FFB5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A9B8C9"/>
                </a:solidFill>
              </a:defRPr>
            </a:pPr>
            <a:r>
              <a:rPr sz="1050" b="0">
                <a:solidFill>
                  <a:srgbClr val="A9B8C9"/>
                </a:solidFill>
              </a:rPr>
              <a:t>20</a:t>
            </a:r>
          </a:p>
        </p:txBody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92917e9c54c24"/>
          <a:stretch xmlns:a="http://schemas.openxmlformats.org/drawingml/2006/main"/>
        </p:blipFill>
        <p:spPr>
          <a:xfrm xmlns:a="http://schemas.openxmlformats.org/drawingml/2006/main">
            <a:off x="514350" y="2131718"/>
            <a:ext cx="4000500" cy="2251665"/>
          </a:xfrm>
          <a:prstGeom xmlns:a="http://schemas.openxmlformats.org/drawingml/2006/main" prst="roundRect">
            <a:avLst>
              <a:gd name="adj" fmla="val 4839"/>
            </a:avLst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5E0DE1-89B7-45DD-995C-47766A4D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4000500" cy="2362200"/>
          </a:xfrm>
          <a:prstGeom xmlns:a="http://schemas.openxmlformats.org/drawingml/2006/main" prst="roundRect">
            <a:avLst>
              <a:gd name="adj" fmla="val 483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35C8F4"/>
            </a:solidFill>
            <a:prstDash val="solid"/>
          </a:ln>
        </p:spPr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e1cf5788ab416a"/>
          <a:stretch xmlns:a="http://schemas.openxmlformats.org/drawingml/2006/main"/>
        </p:blipFill>
        <p:spPr>
          <a:xfrm xmlns:a="http://schemas.openxmlformats.org/drawingml/2006/main">
            <a:off x="7677150" y="2131718"/>
            <a:ext cx="4000500" cy="2251665"/>
          </a:xfrm>
          <a:prstGeom xmlns:a="http://schemas.openxmlformats.org/drawingml/2006/main" prst="roundRect">
            <a:avLst>
              <a:gd name="adj" fmla="val 4839"/>
            </a:avLst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84282D-1E74-4534-AFA8-53F54522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76450"/>
            <a:ext cx="4000500" cy="2362200"/>
          </a:xfrm>
          <a:prstGeom xmlns:a="http://schemas.openxmlformats.org/drawingml/2006/main" prst="roundRect">
            <a:avLst>
              <a:gd name="adj" fmla="val 483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35C8F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AA4B56-69B1-4A5E-A7CC-BE6F7560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4000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83441B-65E2-472A-9D49-C5BB3486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59CF35-55AC-4A00-90B8-2812A7C2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5C8F4"/>
                </a:solidFill>
              </a:defRPr>
            </a:pPr>
            <a:r>
              <a:rPr sz="1575" b="1">
                <a:solidFill>
                  <a:srgbClr val="35C8F4"/>
                </a:solidFill>
              </a:rPr>
              <a:t>运行证据导入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394891-08D3-4615-929D-CF520D1F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3600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</a:defRPr>
            </a:pPr>
            <a:r>
              <a:rPr sz="1200" b="0">
                <a:solidFill>
                  <a:srgbClr val="F7FAFC"/>
                </a:solidFill>
              </a:rPr>
              <a:t>os-demo.run/v1 只建议 build / QEMU 状态；损坏、超限或错误 Lab 文件安全拒绝。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819CF2-0B73-4652-82A0-CD5E0E02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67250"/>
            <a:ext cx="4000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8063E9-AA2E-4CAB-9E88-28C5D89A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672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C9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E7C068-94F8-4E74-BE2A-409E698C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387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0C980"/>
                </a:solidFill>
              </a:defRPr>
            </a:pPr>
            <a:r>
              <a:rPr sz="1575" b="1">
                <a:solidFill>
                  <a:srgbClr val="30C980"/>
                </a:solidFill>
              </a:rPr>
              <a:t>人工确认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2347D77-CD61-4C92-9A90-6862F859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</a:defRPr>
            </a:pPr>
            <a:r>
              <a:rPr sz="1200" b="0">
                <a:solidFill>
                  <a:srgbClr val="F7FAFC"/>
                </a:solidFill>
              </a:rPr>
              <a:t>智能体回答不计分；教师复核实现、防硬编码、口试与报告，分享前人工脱敏。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C56718-1761-4EB5-B373-DB42FB06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76500"/>
            <a:ext cx="2095500" cy="2857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9525">
            <a:solidFill>
              <a:srgbClr val="FF7A1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8AFCFB-1902-44B6-9C5D-3FD1DC85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003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7A1A"/>
                </a:solidFill>
              </a:defRPr>
            </a:pPr>
            <a:r>
              <a:rPr sz="1425" b="1">
                <a:solidFill>
                  <a:srgbClr val="FF7A1A"/>
                </a:solidFill>
              </a:rPr>
              <a:t>os-demo.run/v1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0ACA49C-D834-4B81-8E76-3267E5E4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575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客观状态建议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975263C-B338-4242-826F-D63C561D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766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A9B8C9"/>
                </a:solidFill>
              </a:defRPr>
            </a:pPr>
            <a:r>
              <a:rPr sz="1950" b="1">
                <a:solidFill>
                  <a:srgbClr val="A9B8C9"/>
                </a:solidFill>
              </a:rPr>
              <a:t>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7FE092C-7869-473B-8257-EBCC91AF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148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7FAFC"/>
                </a:solidFill>
              </a:defRPr>
            </a:pPr>
            <a:r>
              <a:rPr sz="1275" b="1">
                <a:solidFill>
                  <a:srgbClr val="F7FAFC"/>
                </a:solidFill>
              </a:rPr>
              <a:t>代码 / 口试 / 报告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F7B70CB-05AA-4D04-B148-8BB4D34D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62915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0C980"/>
                </a:solidFill>
              </a:defRPr>
            </a:pPr>
            <a:r>
              <a:rPr sz="1200" b="1">
                <a:solidFill>
                  <a:srgbClr val="30C980"/>
                </a:solidFill>
              </a:rPr>
              <a:t>os-teacher-grading/v1</a:t>
            </a:r>
          </a:p>
        </p:txBody>
      </p:sp>
    </p:spTree>
    <p:extLst>
      <p:ext uri="{BB962C8B-B14F-4D97-AF65-F5344CB8AC3E}">
        <p14:creationId xmlns:p14="http://schemas.microsoft.com/office/powerpoint/2010/main" val="29021960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624871A-83D9-4FA5-8566-9E4B237C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CBA33-BA0B-45AB-BDE2-9222B2D5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47D1D-105A-4E11-8F9E-2E562B42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3001B-CF92-49BE-8080-AACE9282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662E3-6772-41DF-9C12-5662CDDB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2ACB4-0DD8-4249-A39C-75FE3BC5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156EE-15B4-4BD8-A7B4-F16B4F12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71B60-9EDA-482C-B790-91624A72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212A0-94F4-4AC8-B584-1BD26E8E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9FEB3B-0187-4D77-9F4C-2C428607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44EC2-08CD-4616-9C42-E396EFF2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3ABD74-661A-418D-B586-48C03B61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4E5E99-9584-462D-9D3F-9C1871B2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A723EF-37DF-41EF-89C8-35E6B6A3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C7865-7D60-4900-8A65-4A46A9EC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EAD5E7-08EC-4405-A8F8-545A09FF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5A69B4-5C88-489F-9C27-321B15D7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B9C188-BE46-43A1-ADB7-9061FEE5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4D10E7-C2BD-404B-A21B-B740A45A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190810-E7D9-46B5-A91E-24456216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CD2EBD-17AF-47F1-9AE2-CAF27FB3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FA5803-130D-44E2-AE9C-1CF1FAEE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A149EE-3BC3-44F8-A6FD-6DBBE16B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73D3B2-9918-4295-838A-ACB2B132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3BCD42-5B9D-4DC6-8274-F154E94F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841B5A-8C2D-4BC9-BE48-CF6C12D2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151C93-8FFF-46B6-B887-F5EFB2CA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E167FB-7AEB-4741-81DF-7AF290B5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816160-A1E9-47B9-B4C0-91654E8A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DCA142-6CBF-48A8-8C74-88B51B61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76C509-E974-4043-8CEE-4839FD24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创新性：真实内核运行形成可解释教学闭环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920F60-E7DE-4E62-83F0-BC4CB466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B8C9"/>
                </a:solidFill>
              </a:defRPr>
            </a:pPr>
            <a:r>
              <a:rPr sz="1350" b="0">
                <a:solidFill>
                  <a:srgbClr val="A9B8C9"/>
                </a:solidFill>
              </a:rPr>
              <a:t>实验设计、事件证据、受限智能体、主动反馈和人工评分彼此约束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56151F-3538-45FD-83A6-40913995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181DAF-5016-4AF2-A82F-1FB52B8C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A9B8C9"/>
                </a:solidFill>
              </a:defRPr>
            </a:pPr>
            <a:r>
              <a:rPr sz="1050" b="0">
                <a:solidFill>
                  <a:srgbClr val="A9B8C9"/>
                </a:solidFill>
              </a:rPr>
              <a:t>21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DA909B-BA3A-4794-A494-49413024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762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CB0636-F222-4CAC-A43A-49AAC10B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60F223-4C65-4D1C-B1AD-EDD569BD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5C8F4"/>
                </a:solidFill>
              </a:defRPr>
            </a:pPr>
            <a:r>
              <a:rPr sz="1575" b="1">
                <a:solidFill>
                  <a:srgbClr val="35C8F4"/>
                </a:solidFill>
              </a:rPr>
              <a:t>递进式 OS 教学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C3FE86-20F6-4AE0-AB72-E441643B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43624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</a:defRPr>
            </a:pPr>
            <a:r>
              <a:rPr sz="1200" b="0">
                <a:solidFill>
                  <a:srgbClr val="F7FAFC"/>
                </a:solidFill>
              </a:rPr>
              <a:t>P0 + 7 个 Lab；Stage 1/2/3 把大任务拆成可解释、可验证的小步。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B276E6-9482-4BC7-A930-EDE9CD63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4762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7CEED3-E314-4701-9F88-384C1DF0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175191-BFB8-4462-9CBB-E0B77EF6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622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7A1A"/>
                </a:solidFill>
              </a:defRPr>
            </a:pPr>
            <a:r>
              <a:rPr sz="1575" b="1">
                <a:solidFill>
                  <a:srgbClr val="FF7A1A"/>
                </a:solidFill>
              </a:rPr>
              <a:t>真实事件可视化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E650F9-5D9B-4C83-80B9-BFDBA29D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81300"/>
            <a:ext cx="43624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</a:defRPr>
            </a:pPr>
            <a:r>
              <a:rPr sz="1200" b="0">
                <a:solidFill>
                  <a:srgbClr val="F7FAFC"/>
                </a:solidFill>
              </a:rPr>
              <a:t>结构化串口事件连接源码、知识目录、时间线和最终系统状态。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417B1F-23F9-4793-9020-BAB4C14B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4762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05B5A5-763B-44BD-AE6D-80A82C10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C9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037C57-46FA-4BC0-907E-D3DAA8C4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0C980"/>
                </a:solidFill>
              </a:defRPr>
            </a:pPr>
            <a:r>
              <a:rPr sz="1575" b="1">
                <a:solidFill>
                  <a:srgbClr val="30C980"/>
                </a:solidFill>
              </a:rPr>
              <a:t>证据约束智能体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2E78FD-9689-481D-85E2-06F4F163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43624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</a:defRPr>
            </a:pPr>
            <a:r>
              <a:rPr sz="1200" b="0">
                <a:solidFill>
                  <a:srgbClr val="F7FAFC"/>
                </a:solidFill>
              </a:rPr>
              <a:t>模型只能经白名单工具取得有限证据，不能读取答案、任意文件或评分。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60C34F-3962-4D4F-B9FD-4285F8B9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19550"/>
            <a:ext cx="4762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60B7F5E-8702-427F-95D7-A4B37DEC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1955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5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3DFC848-A0CD-4A14-A255-960C8F31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91000"/>
            <a:ext cx="436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B562"/>
                </a:solidFill>
              </a:defRPr>
            </a:pPr>
            <a:r>
              <a:rPr sz="1575" b="1">
                <a:solidFill>
                  <a:srgbClr val="F3B562"/>
                </a:solidFill>
              </a:rPr>
              <a:t>反馈与评分分层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1D3D9B-D882-4F4B-A51A-87DFC909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10100"/>
            <a:ext cx="43624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</a:defRPr>
            </a:pPr>
            <a:r>
              <a:rPr sz="1200" b="0">
                <a:solidFill>
                  <a:srgbClr val="F7FAFC"/>
                </a:solidFill>
              </a:rPr>
              <a:t>学习体验、运行记录和正式评分使用独立协议与数据边界。</a:t>
            </a:r>
          </a:p>
        </p:txBody>
      </p:sp>
    </p:spTree>
    <p:extLst>
      <p:ext uri="{BB962C8B-B14F-4D97-AF65-F5344CB8AC3E}">
        <p14:creationId xmlns:p14="http://schemas.microsoft.com/office/powerpoint/2010/main" val="92402273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B0C7FA8-99D6-4E6A-BABF-8F5207B7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691A3-7FFE-480B-ACC8-E0158E55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D8FA0-643A-4325-A90D-B140F636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D9131-1B9F-4F22-82E9-E016FEFE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78070-0B0A-4789-A9EB-45740048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956D0-5828-4BBA-83CF-32F08115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86DFA-4200-41E1-921F-BB3CAD88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A5C010-AB71-4E89-B62B-D7191552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76AC49-3F03-4080-BF24-2910D7F4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A783B5-AF47-4C80-94E8-E32E9A6A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24B17-72CA-4726-9588-4511B689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91FDB7-5702-498C-B5DC-5D522A53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12B027-2CAB-46D6-A819-8D7CBB2C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19DFC-AD76-4F4C-ADC6-53DB0BCE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3B24A-351A-4D05-8D49-10021A2E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59C738-08A0-42C9-B213-6FF38E23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3194C8-DA7F-4E83-9D1C-6F44ECD4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5F59F1-BEDC-48B5-87ED-3CBCC810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162C40-85BD-4F23-BCE8-BC50A8FB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C785EE-C627-44F0-8992-8B92D023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54F1CB-8409-4648-BE50-2C6FD90C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85561D-75D5-4317-A076-855F8493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5F520F-D8EC-42AD-8A6B-C4A482FE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B3C7A8-70CB-4565-87C1-DE95D51C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494634-B47B-4709-9F95-54F84D96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36BECD-2E82-49CA-A980-4F4A514C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76B003-D35F-42BB-B2A1-5D3EB434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194E65-DC37-4BF7-9F65-64FE7ABD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3CBC9F-6F7E-4ACD-88BC-1E1DD91C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421242-A443-46C4-BB8E-96E2B7E1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ADC7BC-7720-45F0-8A79-F091820A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可重复测试证据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97C6AE-1FFD-4131-B7B3-0539B2FC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B8C9"/>
                </a:solidFill>
              </a:defRPr>
            </a:pPr>
            <a:r>
              <a:rPr sz="1350" b="0">
                <a:solidFill>
                  <a:srgbClr val="A9B8C9"/>
                </a:solidFill>
              </a:rPr>
              <a:t>本地构建、QEMU、分支与视觉均已复验；在线和远程项明确标注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379FC0-0314-4DDF-BF82-C3A8B9B1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8CF1B3-1752-44FF-83DE-308527B8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A9B8C9"/>
                </a:solidFill>
              </a:defRPr>
            </a:pPr>
            <a:r>
              <a:rPr sz="1050" b="0">
                <a:solidFill>
                  <a:srgbClr val="A9B8C9"/>
                </a:solidFill>
              </a:rPr>
              <a:t>22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E60706-CA4C-4939-93A7-C023BBC8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286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99C49B-382A-4E07-AF94-09B895A2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C9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BC166B-294C-4A3B-8FBA-25735B16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30C980"/>
                </a:solidFill>
              </a:defRPr>
            </a:pPr>
            <a:r>
              <a:rPr sz="3150" b="1">
                <a:solidFill>
                  <a:srgbClr val="30C980"/>
                </a:solidFill>
              </a:rPr>
              <a:t>579 / 585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448E96-2274-43C1-BAF0-8439EE53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最终 Node 全量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821A60-C343-4296-A8A7-F2E2443A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2286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9AF944-3529-46EB-9A8E-58A04005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C9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59025F-8809-42DD-BBF5-47E9685C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0030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30C980"/>
                </a:solidFill>
              </a:defRPr>
            </a:pPr>
            <a:r>
              <a:rPr sz="3150" b="1">
                <a:solidFill>
                  <a:srgbClr val="30C980"/>
                </a:solidFill>
              </a:rPr>
              <a:t>80 / 80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FF8631-4CD2-4F4F-8F19-BDCFA13A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289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新增定向测试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430100-C764-4B99-9B5F-984217E4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90750"/>
            <a:ext cx="2286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6DAEFB-8EE8-45C3-B305-082E20E4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90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C9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676F43-C65A-41A0-8FF4-0A9D4519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0030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30C980"/>
                </a:solidFill>
              </a:defRPr>
            </a:pPr>
            <a:r>
              <a:rPr sz="3150" b="1">
                <a:solidFill>
                  <a:srgbClr val="30C980"/>
                </a:solidFill>
              </a:rPr>
              <a:t>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6838AA4-0D1E-45EF-B616-B00BFCED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289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测试失败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A3BD12-A296-4A4A-BC59-4F1E667F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2286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174EE6E-94EA-4A22-9D0F-CB3F7ADA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C9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6CF105-2BCA-4D22-A6D2-C0441DC0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030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30C980"/>
                </a:solidFill>
              </a:defRPr>
            </a:pPr>
            <a:r>
              <a:rPr sz="3150" b="1">
                <a:solidFill>
                  <a:srgbClr val="30C980"/>
                </a:solidFill>
              </a:rPr>
              <a:t>未运行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61949BF-AE71-4C09-B292-16143C2B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289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7FAFC"/>
                </a:solidFill>
              </a:defRPr>
            </a:pPr>
            <a:r>
              <a:rPr sz="1200" b="1">
                <a:solidFill>
                  <a:srgbClr val="F7FAFC"/>
                </a:solidFill>
              </a:rPr>
              <a:t>在线 Agent Plan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2A165E1-9444-4513-B4D3-6C5D238F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71950"/>
            <a:ext cx="91440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73A14F2-9765-4229-A726-7509B5C4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7195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2F6F7A-00CB-4CC3-B876-B79432FB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43400"/>
            <a:ext cx="874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5C8F4"/>
                </a:solidFill>
              </a:defRPr>
            </a:pPr>
            <a:r>
              <a:rPr sz="1575" b="1">
                <a:solidFill>
                  <a:srgbClr val="35C8F4"/>
                </a:solidFill>
              </a:rPr>
              <a:t>2026-08-12 集成基线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520725D-2DCC-425E-A0C5-C6C40581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62500"/>
            <a:ext cx="8743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</a:defRPr>
            </a:pPr>
            <a:r>
              <a:rPr sz="1200" b="0">
                <a:solidFill>
                  <a:srgbClr val="F7FAFC"/>
                </a:solidFill>
              </a:rPr>
              <a:t>Rust 格式、RISC-V 构建、Clippy、46/46 主机库测试、main + solution Stage 42/42、starter 三类语义、P0 QEMU 与 18 分支零断链均通过；远程 CI 和在线八项联调未运行。</a:t>
            </a:r>
          </a:p>
        </p:txBody>
      </p:sp>
    </p:spTree>
    <p:extLst>
      <p:ext uri="{BB962C8B-B14F-4D97-AF65-F5344CB8AC3E}">
        <p14:creationId xmlns:p14="http://schemas.microsoft.com/office/powerpoint/2010/main" val="23716267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1FFB0E9-51C7-4C1D-92D2-E716F090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3330C-7F1C-4BF6-93DF-3A307B19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12D6F-955D-4CCD-A193-3213D5FF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06266-41B8-4227-ACB0-D6B9FC74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CD5B7-E426-4657-B2AD-949E40E0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BFD0D-014E-4461-9CD1-25CBFE82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6D7F9-2FD6-471F-A022-38B280C1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6EFD8-835B-4D31-879C-02AC7657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F8537B-9ED7-43DF-B9AC-BDB03C2F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FF3EF-E2FB-48F3-B207-123CC1E2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145BE-FE67-46E6-870D-428DFFDE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D2DAEF-2346-468B-BA56-93BF2663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8D13A-5DD7-41AF-BE67-7A7B9466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B7C549-B519-4509-88F1-A4849FCB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FC2D35-E852-4480-A45B-98EE7BDA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E3E6C7-7BFF-43F0-9A06-9E47F2D6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6974D1-8317-48B1-BA34-AA86472F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D44E0C-A147-4C61-AF69-121EF70B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22FFEA-16ED-4E9F-9101-59168788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BACE11-78A5-48E0-AFA7-D63D3D8E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46688C-20DF-4B8C-B0D4-7DBC3A0A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AA3E63-6AFD-484B-B1A7-03601105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A5DCB5-210A-47B2-BFB6-B1FC7716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C60CB2-76B8-400D-A7B9-1933AE4B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60AF34-40A1-4E2E-8A20-7EB78E0B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62FA9F-4330-490E-A7CF-D3DA6762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E084EF-86AA-4A82-BAE2-2E33F3C6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5C8FBD-7248-404C-BE2F-DD522656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A8D2FA-D011-4636-8F01-8D8F2EBB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CE4B02-C77B-47D8-B739-21314D18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EAA374-9BD8-4723-873C-88B87CF5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能力边界必须由服务端和人工复核守住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E16574-6F46-4552-8E36-3A7122C4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B8C9"/>
                </a:solidFill>
              </a:defRPr>
            </a:pPr>
            <a:r>
              <a:rPr sz="1350" b="0">
                <a:solidFill>
                  <a:srgbClr val="A9B8C9"/>
                </a:solidFill>
              </a:rPr>
              <a:t>密钥、工具、上下文、在线错误和评分各有独立失败路径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F176FE-2946-47D6-8412-D61B0BD1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828717-A877-4566-A5C8-2CA79318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A9B8C9"/>
                </a:solidFill>
              </a:defRPr>
            </a:pPr>
            <a:r>
              <a:rPr sz="1050" b="0">
                <a:solidFill>
                  <a:srgbClr val="A9B8C9"/>
                </a:solidFill>
              </a:rPr>
              <a:t>23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69EFEF-61DE-4D7E-AE30-F61961F4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03822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54C60B-F9A6-4429-BDB5-6AF6EB42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25D16E-6CDE-4BD0-AB2D-BCB98563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47900"/>
            <a:ext cx="998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7A1A"/>
                </a:solidFill>
              </a:defRPr>
            </a:pPr>
            <a:r>
              <a:rPr sz="1575" b="1">
                <a:solidFill>
                  <a:srgbClr val="FF7A1A"/>
                </a:solidFill>
              </a:rPr>
              <a:t>密钥或上游泄露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6A1587-D6E5-48C1-AB88-3B8760B1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9982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</a:defRPr>
            </a:pPr>
            <a:r>
              <a:rPr sz="1200" b="0">
                <a:solidFill>
                  <a:srgbClr val="F7FAFC"/>
                </a:solidFill>
              </a:rPr>
              <a:t>Key 仅服务端；错误固定中文，不显示上游正文、路径或 Token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058B71-B773-4C30-88F3-49714D3A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103822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6210D9-D9BC-41C7-974F-AEAB7D9E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5D9A07-96ED-48D9-BBA2-0A583AF4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998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5C8F4"/>
                </a:solidFill>
              </a:defRPr>
            </a:pPr>
            <a:r>
              <a:rPr sz="1575" b="1">
                <a:solidFill>
                  <a:srgbClr val="35C8F4"/>
                </a:solidFill>
              </a:rPr>
              <a:t>越权工具调用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F27F2B-59BB-40F3-8BF9-F6EF8A51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9982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</a:defRPr>
            </a:pPr>
            <a:r>
              <a:rPr sz="1200" b="0">
                <a:solidFill>
                  <a:srgbClr val="F7FAFC"/>
                </a:solidFill>
              </a:rPr>
              <a:t>六工具白名单与严格参数；拒绝答案、任意文件和任意命令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5D2324-C9E3-44F2-802E-1AB5F267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103822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BF6C9B-5B41-4069-BC0E-60C7CB8D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AD81D6C-725B-477B-A38A-9EA475EF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998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6B6B"/>
                </a:solidFill>
              </a:defRPr>
            </a:pPr>
            <a:r>
              <a:rPr sz="1575" b="1">
                <a:solidFill>
                  <a:srgbClr val="FF6B6B"/>
                </a:solidFill>
              </a:rPr>
              <a:t>上下文与并发漂移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2873BB-5437-4E58-9852-BDFE258A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57650"/>
            <a:ext cx="9982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</a:defRPr>
            </a:pPr>
            <a:r>
              <a:rPr sz="1200" b="0">
                <a:solidFill>
                  <a:srgbClr val="F7FAFC"/>
                </a:solidFill>
              </a:rPr>
              <a:t>提交变化返回 context_changed；交互与智能体共享任务锁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FDD8D98-B25A-4EFD-B6B7-B9F19FAD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103822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0D21006-3663-4AE2-BB96-35F42A8A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C9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0CA9D1-7364-41AE-883D-4E73A108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33900"/>
            <a:ext cx="998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0C980"/>
                </a:solidFill>
              </a:defRPr>
            </a:pPr>
            <a:r>
              <a:rPr sz="1575" b="1">
                <a:solidFill>
                  <a:srgbClr val="30C980"/>
                </a:solidFill>
              </a:rPr>
              <a:t>模型过度承诺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422F5C4-BE98-4027-B7FD-E1A6B151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19650"/>
            <a:ext cx="9982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</a:defRPr>
            </a:pPr>
            <a:r>
              <a:rPr sz="1200" b="0">
                <a:solidFill>
                  <a:srgbClr val="F7FAFC"/>
                </a:solidFill>
              </a:rPr>
              <a:t>回答不是标准答案或根因判定，必须用代码和真实运行验证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F0F8F14-FED2-421E-84EE-C481B751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103822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12304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16F64EA-0DB1-4BF1-954E-73A9E5C1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57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5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D2165E6-E232-44EB-A8BF-AE0D3669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95900"/>
            <a:ext cx="998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B562"/>
                </a:solidFill>
              </a:defRPr>
            </a:pPr>
            <a:r>
              <a:rPr sz="1575" b="1">
                <a:solidFill>
                  <a:srgbClr val="F3B562"/>
                </a:solidFill>
              </a:rPr>
              <a:t>评分与隐私误用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CBE7242-80EF-4736-B586-FB957F32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81650"/>
            <a:ext cx="9982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7FAFC"/>
                </a:solidFill>
              </a:defRPr>
            </a:pPr>
            <a:r>
              <a:rPr sz="1200" b="0">
                <a:solidFill>
                  <a:srgbClr val="F7FAFC"/>
                </a:solidFill>
              </a:rPr>
              <a:t>不自动加分；姓名、成绩、反馈和导出公开前人工脱敏</a:t>
            </a:r>
          </a:p>
        </p:txBody>
      </p:sp>
    </p:spTree>
    <p:extLst>
      <p:ext uri="{BB962C8B-B14F-4D97-AF65-F5344CB8AC3E}">
        <p14:creationId xmlns:p14="http://schemas.microsoft.com/office/powerpoint/2010/main" val="194718118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635AD39-2AFE-498B-BA6E-C7807E2A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1907E-52EB-42B1-85CB-55212220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C2D7B-E519-44B5-8F76-1608DDB1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4BEC8-5D85-493E-BE12-947869AF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0AF236-7216-41E0-9A1A-58FB79BA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4AF78-8136-4EA5-8D8A-DAF61E14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282B5-8C71-4097-B55C-11B93EF6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65E60-16C1-48BF-AFD7-9B57C332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59169-E9F5-480D-959F-5982A2EC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41A592-04AF-4178-A5C7-117D217B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5AFBF-3353-4E41-8BAE-35E815A9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07D18-AFFA-41E0-9988-8FE03A09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F35935-7980-4045-BC73-6F7393F5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DE00D0-481C-4C0C-BED4-32F54919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585929-61F7-48BC-907A-B716E8B3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CC6E95-2092-40A8-B2D3-AED0B24B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4AF4CC-9886-483C-B9DB-A2D28E6F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B933F4-E1EE-4DF2-A7BF-1B4AA276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B08BDE-B1FC-4637-B0D7-9D7107CE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4CE006-0C83-41E3-B4D2-CADADE85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7A79BA-0AB2-41B4-B6BF-3AB2AA16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694D87-C809-4AA5-A772-9C731082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98E876-1D74-4786-8144-B6436081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D4DD4D-D315-448B-8471-FBCD2D3B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B258B0-E1D8-4F81-B0BA-8EC7C0CC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EB8E9F-CCF1-4B91-9140-10356CE7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F29EE4-C97D-4C25-82AE-8C384F30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4B4664-5B78-4250-A0E3-366CA080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340FA1-4891-422A-895C-0E447872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A5E315-6FCC-46D5-8263-59319D50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1AD6C3-2042-4B72-B9D9-AC62A156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7FAFC"/>
                </a:solidFill>
              </a:defRPr>
            </a:pPr>
            <a:r>
              <a:rPr sz="2700" b="1">
                <a:solidFill>
                  <a:srgbClr val="F7FAFC"/>
                </a:solidFill>
              </a:rPr>
              <a:t>现场演示路线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80564A-1309-44B4-A277-D0AD9A94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B8C9"/>
                </a:solidFill>
              </a:defRPr>
            </a:pPr>
            <a:r>
              <a:rPr sz="1350" b="0">
                <a:solidFill>
                  <a:srgbClr val="A9B8C9"/>
                </a:solidFill>
              </a:rPr>
              <a:t>从真实证据出发：预测 → QEMU → 规则诊断 → 教学智能体 → 反馈 → 人工复核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0B2B0C-AA97-46D7-954E-63EF6842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B665F4-F65A-4FBD-8911-02B7FF59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A9B8C9"/>
                </a:solidFill>
              </a:defRPr>
            </a:pPr>
            <a:r>
              <a:rPr sz="1050" b="0">
                <a:solidFill>
                  <a:srgbClr val="A9B8C9"/>
                </a:solidFill>
              </a:rPr>
              <a:t>24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F32951-4B4A-4741-8EF4-90490940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286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35C8F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C2D5AA-FE5B-46C5-96B9-C50C0CA4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5C8F4"/>
                </a:solidFill>
              </a:defRPr>
            </a:pPr>
            <a:r>
              <a:rPr sz="1575" b="1">
                <a:solidFill>
                  <a:srgbClr val="35C8F4"/>
                </a:solidFill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08276C-028F-4F81-B3D9-2AE2FBFB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574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识别分支 / Lab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D0B706-71C1-4D07-9AB7-4BB99813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1460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A9B8C9"/>
                </a:solidFill>
              </a:defRPr>
            </a:pPr>
            <a:r>
              <a:rPr sz="1875" b="1">
                <a:solidFill>
                  <a:srgbClr val="A9B8C9"/>
                </a:solidFill>
              </a:rPr>
              <a:t>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CB9916-A281-45A0-80AD-32E1C533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90750"/>
            <a:ext cx="2286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FF7A1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0F1D62-D338-44BD-9199-0771C951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622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7A1A"/>
                </a:solidFill>
              </a:defRPr>
            </a:pPr>
            <a:r>
              <a:rPr sz="1575" b="1">
                <a:solidFill>
                  <a:srgbClr val="FF7A1A"/>
                </a:solidFill>
              </a:rPr>
              <a:t>02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64326A-D08C-4EDA-9D1A-F83D109F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574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保存运行预测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499AE0-3B92-4D15-B53C-89B87E0E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51460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A9B8C9"/>
                </a:solidFill>
              </a:defRPr>
            </a:pPr>
            <a:r>
              <a:rPr sz="1875" b="1">
                <a:solidFill>
                  <a:srgbClr val="A9B8C9"/>
                </a:solidFill>
              </a:rPr>
              <a:t>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FD1310-67E3-42EC-81E9-E5C3E862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90750"/>
            <a:ext cx="2286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35C8F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CF467C-CDD0-4E68-9D99-AB37489B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622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5C8F4"/>
                </a:solidFill>
              </a:defRPr>
            </a:pPr>
            <a:r>
              <a:rPr sz="1575" b="1">
                <a:solidFill>
                  <a:srgbClr val="35C8F4"/>
                </a:solidFill>
              </a:rPr>
              <a:t>03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D8C341-E25C-4C33-92F1-16F4E7AF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574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真实构建 + QEMU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4F3748-BBB6-42A9-89EE-3F7EBCE6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1460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A9B8C9"/>
                </a:solidFill>
              </a:defRPr>
            </a:pPr>
            <a:r>
              <a:rPr sz="1875" b="1">
                <a:solidFill>
                  <a:srgbClr val="A9B8C9"/>
                </a:solidFill>
              </a:rPr>
              <a:t>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2002C1-19AD-4B39-98F6-0C1F4775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90750"/>
            <a:ext cx="2286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FF7A1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A328E98-8F0A-49E5-8A3D-842B2E44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622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7A1A"/>
                </a:solidFill>
              </a:defRPr>
            </a:pPr>
            <a:r>
              <a:rPr sz="1575" b="1">
                <a:solidFill>
                  <a:srgbClr val="FF7A1A"/>
                </a:solidFill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57F2797-38EF-4F3B-9511-38FD428D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574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本地规则诊断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D869B6-92A7-4F62-ABFB-7C92035D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2286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35C8F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C5D09A4-E563-40FD-82E2-97C95E58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5C8F4"/>
                </a:solidFill>
              </a:defRPr>
            </a:pPr>
            <a:r>
              <a:rPr sz="1575" b="1">
                <a:solidFill>
                  <a:srgbClr val="35C8F4"/>
                </a:solidFill>
              </a:rPr>
              <a:t>05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D1B5527-5616-41FE-94F1-F37FA3CC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7670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手动教学智能体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54551FB-D0AC-40E7-B6C7-5D086746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338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A9B8C9"/>
                </a:solidFill>
              </a:defRPr>
            </a:pPr>
            <a:r>
              <a:rPr sz="1875" b="1">
                <a:solidFill>
                  <a:srgbClr val="A9B8C9"/>
                </a:solidFill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30878BB-1F2E-43BF-BC61-FF841F9C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10000"/>
            <a:ext cx="2286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FF7A1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9F506ED-91BC-4F33-9228-BD2B9EE6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814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7A1A"/>
                </a:solidFill>
              </a:defRPr>
            </a:pPr>
            <a:r>
              <a:rPr sz="1575" b="1">
                <a:solidFill>
                  <a:srgbClr val="FF7A1A"/>
                </a:solidFill>
              </a:rPr>
              <a:t>06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7487045-EC60-47A0-B18D-83A55648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7670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回放 / 分支差异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B8585F4-98F7-4051-9B41-3CD623CF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1338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A9B8C9"/>
                </a:solidFill>
              </a:defRPr>
            </a:pPr>
            <a:r>
              <a:rPr sz="1875" b="1">
                <a:solidFill>
                  <a:srgbClr val="A9B8C9"/>
                </a:solidFill>
              </a:rPr>
              <a:t>→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B589380-7CC1-47C7-BC50-B07766E0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10000"/>
            <a:ext cx="2286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35C8F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BF7F8DB-9E65-4877-AA97-B218F9E8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814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5C8F4"/>
                </a:solidFill>
              </a:defRPr>
            </a:pPr>
            <a:r>
              <a:rPr sz="1575" b="1">
                <a:solidFill>
                  <a:srgbClr val="35C8F4"/>
                </a:solidFill>
              </a:rPr>
              <a:t>07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417171-695B-46B6-8A49-B2F6DA25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主动提交反馈 / 证据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8176043-D6EC-4AF7-BC5A-BC3EE28D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33850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A9B8C9"/>
                </a:solidFill>
              </a:defRPr>
            </a:pPr>
            <a:r>
              <a:rPr sz="1875" b="1">
                <a:solidFill>
                  <a:srgbClr val="A9B8C9"/>
                </a:solidFill>
              </a:rPr>
              <a:t>→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F622874-2BA2-47EB-B1DE-0EDE4F8D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10000"/>
            <a:ext cx="2286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D2033"/>
          </a:solidFill>
          <a:ln xmlns:a="http://schemas.openxmlformats.org/drawingml/2006/main" w="9525">
            <a:solidFill>
              <a:srgbClr val="30C98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B1594DA-8818-4547-B1E5-0C61FCEB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814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0C980"/>
                </a:solidFill>
              </a:defRPr>
            </a:pPr>
            <a:r>
              <a:rPr sz="1575" b="1">
                <a:solidFill>
                  <a:srgbClr val="30C980"/>
                </a:solidFill>
              </a:rPr>
              <a:t>08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539485A-C812-40B2-AE4E-A6958FDE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07670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FAFC"/>
                </a:solidFill>
              </a:defRPr>
            </a:pPr>
            <a:r>
              <a:rPr sz="1350" b="1">
                <a:solidFill>
                  <a:srgbClr val="F7FAFC"/>
                </a:solidFill>
              </a:rPr>
              <a:t>教师人工复核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036440B-20B7-4537-ABA4-11647C10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7A1A"/>
                </a:solidFill>
              </a:defRPr>
            </a:pPr>
            <a:r>
              <a:rPr sz="1950" b="1">
                <a:solidFill>
                  <a:srgbClr val="FF7A1A"/>
                </a:solidFill>
              </a:rPr>
              <a:t>演示模式不自动提问；从真实证据出发，以人工确认收束</a:t>
            </a:r>
          </a:p>
        </p:txBody>
      </p:sp>
    </p:spTree>
    <p:extLst>
      <p:ext uri="{BB962C8B-B14F-4D97-AF65-F5344CB8AC3E}">
        <p14:creationId xmlns:p14="http://schemas.microsoft.com/office/powerpoint/2010/main" val="20205447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2026-08-12T16:06:35.8470000Z</dcterms:created>
  <dcterms:modified xsi:type="dcterms:W3CDTF">2026-08-12T16:06:35.8470000Z</dcterms:modified>
</coreProperties>
</file>