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README.md；docs/testing.md；2026-08-12 本地命令输出。</a:t>
            </a:r>
          </a:p>
          <a:p>
            <a:r>
              <a:t>分支：codex/agent-docs-integration；基线：origin/main 4e60638，origin/agent-mvp d46cbba。</a:t>
            </a:r>
          </a:p>
          <a:p>
            <a:r>
              <a:t>最终 Node 全量为 585 项中 579 通过、6 跳过、0 失败；80 项为学生端与智能体定向测试。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docs/interactive-demo/index.html；docs/architecture.md；kernel/src/telemetry.rs。</a:t>
            </a:r>
          </a:p>
          <a:p>
            <a:r>
              <a:t>截图来自仓库真实演示页面；分支 codex/agent-docs-integration，2026-08-12。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docs/interactive-demo/README.md；docs/demo-script.md。</a:t>
            </a:r>
          </a:p>
          <a:p>
            <a:r>
              <a:t>本地确定性诊断与云端教学智能体是两种能力；本页只描述前者。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docs/teaching-agent.md；docs/interactive-demo/agent/；docs/interactive-demo/server.js。</a:t>
            </a:r>
          </a:p>
          <a:p>
            <a:r>
              <a:t>分支 codex/agent-docs-integration；基线 main 4e60638 + agent-mvp d46cbba。</a:t>
            </a:r>
          </a:p>
          <a:p>
            <a:r>
              <a:t>定向测试：80/80 通过；在线 Agent Plan 联调尚未完成，不作为本页通过证据。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docs/teaching-agent.md；docs/feedback-admin/README.md；docs/teacher-grading/README.md。</a:t>
            </a:r>
          </a:p>
          <a:p>
            <a:r>
              <a:t>首次模型同意只在当前浏览器会话有效；本页不声明问答记录的保存、刷新、恢复或导出行为。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docs/interactive-demo/README.md；docs/feedback-admin/README.md；docs/interactive-demo/feedback-server.js。</a:t>
            </a:r>
          </a:p>
          <a:p>
            <a:r>
              <a:t>页面截图来自仓库真实前端；邀请码是课堂门槛，不替代 HTTPS、网络隔离或备份控制。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docs/teacher-grading/README.md；docs/teacher-grading/index.html。</a:t>
            </a:r>
          </a:p>
          <a:p>
            <a:r>
              <a:t>截图来自仓库真实教师评分页面；成绩、姓名和评语不会自动匿名化。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DESIGN.md；docs/requirements.md；docs/architecture.md。</a:t>
            </a:r>
          </a:p>
          <a:p>
            <a:r>
              <a:t>创新点是端到端约束关系，不以单次模型回答或单个可视化效果代替教学结果。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docs/final-acceptance-report.md；2026-08-12 本地命令输出。</a:t>
            </a:r>
          </a:p>
          <a:p>
            <a:r>
              <a:t>最终 Node 全量：585 项中 579 通过、6 跳过；学生端/模型/服务器定向：80/80。</a:t>
            </a:r>
          </a:p>
          <a:p>
            <a:r>
              <a:t>Rust/QEMU、Stage、分支链接与视觉验收已完成；在线 Agent Plan 与远程 CI 尚未运行。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docs/teaching-agent.md；docs/submission-checklist.md；docs/teacher-grading/README.md。</a:t>
            </a:r>
          </a:p>
          <a:p>
            <a:r>
              <a:t>模型认证、限流、超时、任务繁忙和上下文变化均映射为固定中文错误。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docs/demo-script.md；docs/teaching-agent.md。</a:t>
            </a:r>
          </a:p>
          <a:p>
            <a:r>
              <a:t>现场提问由演示者完成首次同意后手动发送；演示模式不会自动调用模型。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矩形 71">
            <a:extLst>
              <a:ext uri="{FF2B5EF4-FFF2-40B4-BE49-F238E27FC236}">
                <a16:creationId xmlns:a16="http://schemas.microsoft.com/office/drawing/2014/main" id="{BE18321E-8348-4686-849F-C9F57BB44C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3BDD97DE-028A-4D83-A7B8-23AB6269F0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1636EB6D-3F9C-4223-A7F7-EEEEEDE4346A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94D8094A-92F3-443D-90E4-A22217D48BCC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3021D55-32E4-4E22-91A4-4BD775A3576F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9B24503-D046-4C77-BD23-FAD3229A0E08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21B42171-66A4-4AF7-AC1D-92D158122355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BF7F2764-D4BB-49A3-A8CC-0F46A6CD2D41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C68617F9-BF78-477D-B517-4D64FC1CABF9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4CA7F9ED-C09B-4871-B832-321C4D1C1420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44582CA1-3FC2-44FF-94E1-1A8D11900868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8874C754-9EBD-4DA7-9AE0-A040823F1B76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92A3F8FC-4823-4F28-9BDF-5E56CBFC4A46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17D6FB95-9921-4E95-B9D3-730BE3F11283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1FCD06D8-2565-477F-B494-4F661014E868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B54F1186-916C-4E5F-B64A-AAC170BADD73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D6A5D704-8EFF-4703-A040-1947EDF18088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2B096C4A-FB2C-4CB5-BDC0-D2404A4F1B75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E915765C-CBD2-4CF2-B2AC-682125EFE9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D5CE68A2-4DC1-46F6-A7BB-9EF8F48DCABB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05428A3B-8480-49DE-BFB0-0A08134C46A8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B466C117-F2B8-4576-9953-E28617E013DD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6AFCA5F3-4FC7-46D6-81E5-01647676AAAE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BDA39EFB-E40F-401A-B4A2-C792A8514E5C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21205607-D945-44EC-B841-0DC8148F5D15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D803D5FC-7F11-44FA-B387-029F8784F614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083555B1-AB3C-432A-90E6-B949726426D0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A301E791-A415-46AD-A951-DF8FE6C6A41B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4B1C38E-7111-4ECB-96ED-D825F93E2E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A55D341-8DB3-4705-8B17-5E29596F6833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2171CCF-2D65-47E3-90E1-4090A1FB44D5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2026 OS 功能挑战赛道第 20 题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C95E746-E19E-4EBE-8848-449CCE2C140E}"/>
              </a:ext>
            </a:extLst>
          </p:cNvPr>
          <p:cNvSpPr>
            <a:spLocks noGrp="1"/>
          </p:cNvSpPr>
          <p:nvPr/>
        </p:nvSpPr>
        <p:spPr>
          <a:xfrm>
            <a:off x="7334250" y="857250"/>
            <a:ext cx="3714750" cy="4762500"/>
          </a:xfrm>
          <a:prstGeom prst="rect">
            <a:avLst/>
          </a:prstGeom>
          <a:solidFill>
            <a:srgbClr val="091A2D"/>
          </a:solidFill>
          <a:ln w="19050">
            <a:solidFill>
              <a:srgbClr val="39D5FF"/>
            </a:solidFill>
            <a:prstDash val="solid"/>
          </a:ln>
        </p:spPr>
      </p:sp>
      <p:sp>
        <p:nvSpPr>
          <p:cNvPr id="33" name="直接连接符 32">
            <a:extLst>
              <a:ext uri="{FF2B5EF4-FFF2-40B4-BE49-F238E27FC236}">
                <a16:creationId xmlns:a16="http://schemas.microsoft.com/office/drawing/2014/main" id="{E9424742-8337-45F9-81CE-6925B90511B0}"/>
              </a:ext>
            </a:extLst>
          </p:cNvPr>
          <p:cNvSpPr>
            <a:spLocks noGrp="1"/>
          </p:cNvSpPr>
          <p:nvPr/>
        </p:nvSpPr>
        <p:spPr>
          <a:xfrm>
            <a:off x="7734300" y="1314450"/>
            <a:ext cx="2933700" cy="0"/>
          </a:xfrm>
          <a:prstGeom prst="line">
            <a:avLst/>
          </a:prstGeom>
          <a:noFill/>
          <a:ln w="9525">
            <a:solidFill>
              <a:srgbClr val="1E4B6C"/>
            </a:solidFill>
            <a:prstDash val="solid"/>
          </a:ln>
        </p:spPr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DC57137E-B4B2-4472-A239-7BA9AFCE3A37}"/>
              </a:ext>
            </a:extLst>
          </p:cNvPr>
          <p:cNvSpPr>
            <a:spLocks noGrp="1"/>
          </p:cNvSpPr>
          <p:nvPr/>
        </p:nvSpPr>
        <p:spPr>
          <a:xfrm>
            <a:off x="7543800" y="1266825"/>
            <a:ext cx="95250" cy="95250"/>
          </a:xfrm>
          <a:prstGeom prst="ellipse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D972CCE-0B91-477F-B061-8DB9C0867C7F}"/>
              </a:ext>
            </a:extLst>
          </p:cNvPr>
          <p:cNvSpPr>
            <a:spLocks noGrp="1"/>
          </p:cNvSpPr>
          <p:nvPr/>
        </p:nvSpPr>
        <p:spPr>
          <a:xfrm>
            <a:off x="7867650" y="11811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FDBA74"/>
                </a:solidFill>
              </a:defRPr>
            </a:pPr>
            <a:r>
              <a:rPr sz="1125" b="1">
                <a:solidFill>
                  <a:srgbClr val="FDBA74"/>
                </a:solidFill>
              </a:rPr>
              <a:t>P0 最小内核</a:t>
            </a:r>
          </a:p>
        </p:txBody>
      </p:sp>
      <p:sp>
        <p:nvSpPr>
          <p:cNvPr id="36" name="直接连接符 35">
            <a:extLst>
              <a:ext uri="{FF2B5EF4-FFF2-40B4-BE49-F238E27FC236}">
                <a16:creationId xmlns:a16="http://schemas.microsoft.com/office/drawing/2014/main" id="{4C163419-69DE-4F3D-842E-EFFA89BD50C2}"/>
              </a:ext>
            </a:extLst>
          </p:cNvPr>
          <p:cNvSpPr>
            <a:spLocks noGrp="1"/>
          </p:cNvSpPr>
          <p:nvPr/>
        </p:nvSpPr>
        <p:spPr>
          <a:xfrm>
            <a:off x="7734300" y="1771650"/>
            <a:ext cx="2933700" cy="0"/>
          </a:xfrm>
          <a:prstGeom prst="line">
            <a:avLst/>
          </a:prstGeom>
          <a:noFill/>
          <a:ln w="9525">
            <a:solidFill>
              <a:srgbClr val="17334E"/>
            </a:solidFill>
            <a:prstDash val="solid"/>
          </a:ln>
        </p:spPr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6CF5A332-ECB6-4844-A7B7-EBCE10E0D43E}"/>
              </a:ext>
            </a:extLst>
          </p:cNvPr>
          <p:cNvSpPr>
            <a:spLocks noGrp="1"/>
          </p:cNvSpPr>
          <p:nvPr/>
        </p:nvSpPr>
        <p:spPr>
          <a:xfrm>
            <a:off x="7543800" y="1724025"/>
            <a:ext cx="95250" cy="95250"/>
          </a:xfrm>
          <a:prstGeom prst="ellipse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4B82281-8A6E-42A2-AC68-0DA177BD203A}"/>
              </a:ext>
            </a:extLst>
          </p:cNvPr>
          <p:cNvSpPr>
            <a:spLocks noGrp="1"/>
          </p:cNvSpPr>
          <p:nvPr/>
        </p:nvSpPr>
        <p:spPr>
          <a:xfrm>
            <a:off x="7867650" y="16383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Lab1 启动/控制台</a:t>
            </a:r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B8868CB7-5064-4471-B721-1F56619418F9}"/>
              </a:ext>
            </a:extLst>
          </p:cNvPr>
          <p:cNvSpPr>
            <a:spLocks noGrp="1"/>
          </p:cNvSpPr>
          <p:nvPr/>
        </p:nvSpPr>
        <p:spPr>
          <a:xfrm>
            <a:off x="7734300" y="2228850"/>
            <a:ext cx="2933700" cy="0"/>
          </a:xfrm>
          <a:prstGeom prst="line">
            <a:avLst/>
          </a:prstGeom>
          <a:noFill/>
          <a:ln w="9525">
            <a:solidFill>
              <a:srgbClr val="1E4B6C"/>
            </a:solidFill>
            <a:prstDash val="solid"/>
          </a:ln>
        </p:spPr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FC8582EC-7B37-455F-BAFF-5E9D3C2447D0}"/>
              </a:ext>
            </a:extLst>
          </p:cNvPr>
          <p:cNvSpPr>
            <a:spLocks noGrp="1"/>
          </p:cNvSpPr>
          <p:nvPr/>
        </p:nvSpPr>
        <p:spPr>
          <a:xfrm>
            <a:off x="7543800" y="2181225"/>
            <a:ext cx="95250" cy="95250"/>
          </a:xfrm>
          <a:prstGeom prst="ellipse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DCDBE1E-E1F5-4C35-B028-532DAF0812B8}"/>
              </a:ext>
            </a:extLst>
          </p:cNvPr>
          <p:cNvSpPr>
            <a:spLocks noGrp="1"/>
          </p:cNvSpPr>
          <p:nvPr/>
        </p:nvSpPr>
        <p:spPr>
          <a:xfrm>
            <a:off x="7867650" y="20955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Lab2 Trap</a:t>
            </a:r>
          </a:p>
        </p:txBody>
      </p:sp>
      <p:sp>
        <p:nvSpPr>
          <p:cNvPr id="42" name="直接连接符 41">
            <a:extLst>
              <a:ext uri="{FF2B5EF4-FFF2-40B4-BE49-F238E27FC236}">
                <a16:creationId xmlns:a16="http://schemas.microsoft.com/office/drawing/2014/main" id="{9B460D24-28A1-4403-B7D1-69E3D4BB94FB}"/>
              </a:ext>
            </a:extLst>
          </p:cNvPr>
          <p:cNvSpPr>
            <a:spLocks noGrp="1"/>
          </p:cNvSpPr>
          <p:nvPr/>
        </p:nvSpPr>
        <p:spPr>
          <a:xfrm>
            <a:off x="7734300" y="2686050"/>
            <a:ext cx="2933700" cy="0"/>
          </a:xfrm>
          <a:prstGeom prst="line">
            <a:avLst/>
          </a:prstGeom>
          <a:noFill/>
          <a:ln w="9525">
            <a:solidFill>
              <a:srgbClr val="17334E"/>
            </a:solidFill>
            <a:prstDash val="solid"/>
          </a:ln>
        </p:spPr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07759E5F-07A1-4DCF-9E18-E6079967100F}"/>
              </a:ext>
            </a:extLst>
          </p:cNvPr>
          <p:cNvSpPr>
            <a:spLocks noGrp="1"/>
          </p:cNvSpPr>
          <p:nvPr/>
        </p:nvSpPr>
        <p:spPr>
          <a:xfrm>
            <a:off x="7543800" y="2638425"/>
            <a:ext cx="95250" cy="95250"/>
          </a:xfrm>
          <a:prstGeom prst="ellipse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B990FEDA-768D-43C2-97C5-038B2CF7729D}"/>
              </a:ext>
            </a:extLst>
          </p:cNvPr>
          <p:cNvSpPr>
            <a:spLocks noGrp="1"/>
          </p:cNvSpPr>
          <p:nvPr/>
        </p:nvSpPr>
        <p:spPr>
          <a:xfrm>
            <a:off x="7867650" y="25527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FDBA74"/>
                </a:solidFill>
              </a:defRPr>
            </a:pPr>
            <a:r>
              <a:rPr sz="1125" b="0">
                <a:solidFill>
                  <a:srgbClr val="FDBA74"/>
                </a:solidFill>
              </a:rPr>
              <a:t>Lab3 物理内存</a:t>
            </a:r>
          </a:p>
        </p:txBody>
      </p:sp>
      <p:sp>
        <p:nvSpPr>
          <p:cNvPr id="45" name="直接连接符 44">
            <a:extLst>
              <a:ext uri="{FF2B5EF4-FFF2-40B4-BE49-F238E27FC236}">
                <a16:creationId xmlns:a16="http://schemas.microsoft.com/office/drawing/2014/main" id="{0C920EA3-9723-4240-87A3-3E1238F0C9A5}"/>
              </a:ext>
            </a:extLst>
          </p:cNvPr>
          <p:cNvSpPr>
            <a:spLocks noGrp="1"/>
          </p:cNvSpPr>
          <p:nvPr/>
        </p:nvSpPr>
        <p:spPr>
          <a:xfrm>
            <a:off x="7734300" y="3143250"/>
            <a:ext cx="2933700" cy="0"/>
          </a:xfrm>
          <a:prstGeom prst="line">
            <a:avLst/>
          </a:prstGeom>
          <a:noFill/>
          <a:ln w="9525">
            <a:solidFill>
              <a:srgbClr val="1E4B6C"/>
            </a:solidFill>
            <a:prstDash val="solid"/>
          </a:ln>
        </p:spPr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94D80DB-E74F-4A4E-815E-2DE75E375CB1}"/>
              </a:ext>
            </a:extLst>
          </p:cNvPr>
          <p:cNvSpPr>
            <a:spLocks noGrp="1"/>
          </p:cNvSpPr>
          <p:nvPr/>
        </p:nvSpPr>
        <p:spPr>
          <a:xfrm>
            <a:off x="7543800" y="3095625"/>
            <a:ext cx="95250" cy="95250"/>
          </a:xfrm>
          <a:prstGeom prst="ellipse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59820AB-172D-44E5-A513-18B17D48BDFA}"/>
              </a:ext>
            </a:extLst>
          </p:cNvPr>
          <p:cNvSpPr>
            <a:spLocks noGrp="1"/>
          </p:cNvSpPr>
          <p:nvPr/>
        </p:nvSpPr>
        <p:spPr>
          <a:xfrm>
            <a:off x="7867650" y="30099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Lab4 Sv39</a:t>
            </a:r>
          </a:p>
        </p:txBody>
      </p:sp>
      <p:sp>
        <p:nvSpPr>
          <p:cNvPr id="48" name="直接连接符 47">
            <a:extLst>
              <a:ext uri="{FF2B5EF4-FFF2-40B4-BE49-F238E27FC236}">
                <a16:creationId xmlns:a16="http://schemas.microsoft.com/office/drawing/2014/main" id="{1EE13FC8-7500-43F4-99DF-1C627CFFC90B}"/>
              </a:ext>
            </a:extLst>
          </p:cNvPr>
          <p:cNvSpPr>
            <a:spLocks noGrp="1"/>
          </p:cNvSpPr>
          <p:nvPr/>
        </p:nvSpPr>
        <p:spPr>
          <a:xfrm>
            <a:off x="7734300" y="3600450"/>
            <a:ext cx="2933700" cy="0"/>
          </a:xfrm>
          <a:prstGeom prst="line">
            <a:avLst/>
          </a:prstGeom>
          <a:noFill/>
          <a:ln w="9525">
            <a:solidFill>
              <a:srgbClr val="17334E"/>
            </a:solidFill>
            <a:prstDash val="solid"/>
          </a:ln>
        </p:spPr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BC0BDF9-AD86-42A6-9115-1E65FA8023E0}"/>
              </a:ext>
            </a:extLst>
          </p:cNvPr>
          <p:cNvSpPr>
            <a:spLocks noGrp="1"/>
          </p:cNvSpPr>
          <p:nvPr/>
        </p:nvSpPr>
        <p:spPr>
          <a:xfrm>
            <a:off x="7543800" y="3552825"/>
            <a:ext cx="95250" cy="95250"/>
          </a:xfrm>
          <a:prstGeom prst="ellipse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7209EAE-EB60-4847-9B12-D1D3E95F0593}"/>
              </a:ext>
            </a:extLst>
          </p:cNvPr>
          <p:cNvSpPr>
            <a:spLocks noGrp="1"/>
          </p:cNvSpPr>
          <p:nvPr/>
        </p:nvSpPr>
        <p:spPr>
          <a:xfrm>
            <a:off x="7867650" y="34671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Lab5 调度</a:t>
            </a:r>
          </a:p>
        </p:txBody>
      </p:sp>
      <p:sp>
        <p:nvSpPr>
          <p:cNvPr id="51" name="直接连接符 50">
            <a:extLst>
              <a:ext uri="{FF2B5EF4-FFF2-40B4-BE49-F238E27FC236}">
                <a16:creationId xmlns:a16="http://schemas.microsoft.com/office/drawing/2014/main" id="{23F36D1C-0424-41AF-A39D-1A84D9CFFB43}"/>
              </a:ext>
            </a:extLst>
          </p:cNvPr>
          <p:cNvSpPr>
            <a:spLocks noGrp="1"/>
          </p:cNvSpPr>
          <p:nvPr/>
        </p:nvSpPr>
        <p:spPr>
          <a:xfrm>
            <a:off x="7734300" y="4057650"/>
            <a:ext cx="2933700" cy="0"/>
          </a:xfrm>
          <a:prstGeom prst="line">
            <a:avLst/>
          </a:prstGeom>
          <a:noFill/>
          <a:ln w="9525">
            <a:solidFill>
              <a:srgbClr val="1E4B6C"/>
            </a:solidFill>
            <a:prstDash val="solid"/>
          </a:ln>
        </p:spPr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2493B6A9-8535-4B42-8BAE-235DCEF738BE}"/>
              </a:ext>
            </a:extLst>
          </p:cNvPr>
          <p:cNvSpPr>
            <a:spLocks noGrp="1"/>
          </p:cNvSpPr>
          <p:nvPr/>
        </p:nvSpPr>
        <p:spPr>
          <a:xfrm>
            <a:off x="7543800" y="4010025"/>
            <a:ext cx="95250" cy="95250"/>
          </a:xfrm>
          <a:prstGeom prst="ellipse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0048BCB-2C90-4519-9775-6EC56F62471C}"/>
              </a:ext>
            </a:extLst>
          </p:cNvPr>
          <p:cNvSpPr>
            <a:spLocks noGrp="1"/>
          </p:cNvSpPr>
          <p:nvPr/>
        </p:nvSpPr>
        <p:spPr>
          <a:xfrm>
            <a:off x="7867650" y="39243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FDBA74"/>
                </a:solidFill>
              </a:defRPr>
            </a:pPr>
            <a:r>
              <a:rPr sz="1125" b="0">
                <a:solidFill>
                  <a:srgbClr val="FDBA74"/>
                </a:solidFill>
              </a:rPr>
              <a:t>Lab6 用户态</a:t>
            </a:r>
          </a:p>
        </p:txBody>
      </p:sp>
      <p:sp>
        <p:nvSpPr>
          <p:cNvPr id="54" name="直接连接符 53">
            <a:extLst>
              <a:ext uri="{FF2B5EF4-FFF2-40B4-BE49-F238E27FC236}">
                <a16:creationId xmlns:a16="http://schemas.microsoft.com/office/drawing/2014/main" id="{325DB04B-B85B-4E95-B67C-7F90537C53B5}"/>
              </a:ext>
            </a:extLst>
          </p:cNvPr>
          <p:cNvSpPr>
            <a:spLocks noGrp="1"/>
          </p:cNvSpPr>
          <p:nvPr/>
        </p:nvSpPr>
        <p:spPr>
          <a:xfrm>
            <a:off x="7734300" y="4514850"/>
            <a:ext cx="2933700" cy="0"/>
          </a:xfrm>
          <a:prstGeom prst="line">
            <a:avLst/>
          </a:prstGeom>
          <a:noFill/>
          <a:ln w="9525">
            <a:solidFill>
              <a:srgbClr val="17334E"/>
            </a:solidFill>
            <a:prstDash val="solid"/>
          </a:ln>
        </p:spPr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9C2B71D0-C1C3-432C-90A6-74C7983282CC}"/>
              </a:ext>
            </a:extLst>
          </p:cNvPr>
          <p:cNvSpPr>
            <a:spLocks noGrp="1"/>
          </p:cNvSpPr>
          <p:nvPr/>
        </p:nvSpPr>
        <p:spPr>
          <a:xfrm>
            <a:off x="7543800" y="4467225"/>
            <a:ext cx="95250" cy="95250"/>
          </a:xfrm>
          <a:prstGeom prst="ellipse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897A219-6AA8-4BE8-8054-768591754A41}"/>
              </a:ext>
            </a:extLst>
          </p:cNvPr>
          <p:cNvSpPr>
            <a:spLocks noGrp="1"/>
          </p:cNvSpPr>
          <p:nvPr/>
        </p:nvSpPr>
        <p:spPr>
          <a:xfrm>
            <a:off x="7867650" y="43815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Lab7 文件 I/O</a:t>
            </a:r>
          </a:p>
        </p:txBody>
      </p:sp>
      <p:sp>
        <p:nvSpPr>
          <p:cNvPr id="57" name="直接连接符 56">
            <a:extLst>
              <a:ext uri="{FF2B5EF4-FFF2-40B4-BE49-F238E27FC236}">
                <a16:creationId xmlns:a16="http://schemas.microsoft.com/office/drawing/2014/main" id="{6FD2D711-9270-473D-8613-9621B1F5AA24}"/>
              </a:ext>
            </a:extLst>
          </p:cNvPr>
          <p:cNvSpPr>
            <a:spLocks noGrp="1"/>
          </p:cNvSpPr>
          <p:nvPr/>
        </p:nvSpPr>
        <p:spPr>
          <a:xfrm>
            <a:off x="7734300" y="4972050"/>
            <a:ext cx="2933700" cy="0"/>
          </a:xfrm>
          <a:prstGeom prst="line">
            <a:avLst/>
          </a:prstGeom>
          <a:noFill/>
          <a:ln w="9525">
            <a:solidFill>
              <a:srgbClr val="1E4B6C"/>
            </a:solidFill>
            <a:prstDash val="solid"/>
          </a:ln>
        </p:spPr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B5DD2976-9F11-4D19-9043-C8FBD2001EA7}"/>
              </a:ext>
            </a:extLst>
          </p:cNvPr>
          <p:cNvSpPr>
            <a:spLocks noGrp="1"/>
          </p:cNvSpPr>
          <p:nvPr/>
        </p:nvSpPr>
        <p:spPr>
          <a:xfrm>
            <a:off x="7543800" y="4924425"/>
            <a:ext cx="95250" cy="95250"/>
          </a:xfrm>
          <a:prstGeom prst="ellipse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35F9A06-D002-4996-B7F2-E4721F94B414}"/>
              </a:ext>
            </a:extLst>
          </p:cNvPr>
          <p:cNvSpPr>
            <a:spLocks noGrp="1"/>
          </p:cNvSpPr>
          <p:nvPr/>
        </p:nvSpPr>
        <p:spPr>
          <a:xfrm>
            <a:off x="7867650" y="483870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A9BAD0"/>
                </a:solidFill>
              </a:defRPr>
            </a:pPr>
            <a:r>
              <a:rPr sz="1125" b="1">
                <a:solidFill>
                  <a:srgbClr val="A9BAD0"/>
                </a:solidFill>
              </a:rPr>
              <a:t>测试与文档闭环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8FECB193-A0FC-45F1-A4B8-CE6B2FE4B84E}"/>
              </a:ext>
            </a:extLst>
          </p:cNvPr>
          <p:cNvSpPr>
            <a:spLocks noGrp="1"/>
          </p:cNvSpPr>
          <p:nvPr/>
        </p:nvSpPr>
        <p:spPr>
          <a:xfrm>
            <a:off x="590550" y="1333500"/>
            <a:ext cx="685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200" b="1">
                <a:solidFill>
                  <a:srgbClr val="F8FAFC"/>
                </a:solidFill>
              </a:defRPr>
            </a:pPr>
            <a:r>
              <a:rPr sz="4200" b="1">
                <a:solidFill>
                  <a:srgbClr val="F8FAFC"/>
                </a:solidFill>
              </a:rPr>
              <a:t>AI 合作的操作系统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6E27B47-1A7A-4177-A458-0E635142E90E}"/>
              </a:ext>
            </a:extLst>
          </p:cNvPr>
          <p:cNvSpPr>
            <a:spLocks noGrp="1"/>
          </p:cNvSpPr>
          <p:nvPr/>
        </p:nvSpPr>
        <p:spPr>
          <a:xfrm>
            <a:off x="590550" y="2038350"/>
            <a:ext cx="6858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800" b="1">
                <a:solidFill>
                  <a:srgbClr val="39D5FF"/>
                </a:solidFill>
              </a:defRPr>
            </a:pPr>
            <a:r>
              <a:rPr sz="4800" b="1">
                <a:solidFill>
                  <a:srgbClr val="39D5FF"/>
                </a:solidFill>
              </a:rPr>
              <a:t>教学实验环境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4ABE664F-42E7-4EBB-A130-FD8B83C24C7C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647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>
                <a:solidFill>
                  <a:srgbClr val="A9BAD0"/>
                </a:solidFill>
              </a:defRPr>
            </a:pPr>
            <a:r>
              <a:rPr sz="1800" b="0">
                <a:solidFill>
                  <a:srgbClr val="A9BAD0"/>
                </a:solidFill>
              </a:rPr>
              <a:t>Rust · RISC-V 64 · QEMU/OpenSBI · P0-Lab7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C371712-B513-4517-A536-A6A7F92BC8C0}"/>
              </a:ext>
            </a:extLst>
          </p:cNvPr>
          <p:cNvSpPr>
            <a:spLocks noGrp="1"/>
          </p:cNvSpPr>
          <p:nvPr/>
        </p:nvSpPr>
        <p:spPr>
          <a:xfrm>
            <a:off x="628650" y="3962400"/>
            <a:ext cx="6762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FDBA74"/>
                </a:solidFill>
              </a:defRPr>
            </a:pPr>
            <a:r>
              <a:rPr sz="2250" b="1">
                <a:solidFill>
                  <a:srgbClr val="FDBA74"/>
                </a:solidFill>
              </a:rPr>
              <a:t>从可运行内核到可直接教学的实验仓库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D687B24-A91A-4C55-8A76-4C1A3774F039}"/>
              </a:ext>
            </a:extLst>
          </p:cNvPr>
          <p:cNvSpPr>
            <a:spLocks noGrp="1"/>
          </p:cNvSpPr>
          <p:nvPr/>
        </p:nvSpPr>
        <p:spPr>
          <a:xfrm>
            <a:off x="628650" y="4800600"/>
            <a:ext cx="1619250" cy="323850"/>
          </a:xfrm>
          <a:prstGeom prst="roundRect">
            <a:avLst>
              <a:gd name="adj" fmla="val 23529"/>
            </a:avLst>
          </a:prstGeom>
          <a:solidFill>
            <a:srgbClr val="081827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604F3F0-AE9A-423B-BB6C-CBACFD0890D3}"/>
              </a:ext>
            </a:extLst>
          </p:cNvPr>
          <p:cNvSpPr>
            <a:spLocks noGrp="1"/>
          </p:cNvSpPr>
          <p:nvPr/>
        </p:nvSpPr>
        <p:spPr>
          <a:xfrm>
            <a:off x="628650" y="485775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设计方案答辩</a:t>
            </a: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52C968FC-BB67-4DAA-81D1-96D2A271D5DD}"/>
              </a:ext>
            </a:extLst>
          </p:cNvPr>
          <p:cNvSpPr>
            <a:spLocks noGrp="1"/>
          </p:cNvSpPr>
          <p:nvPr/>
        </p:nvSpPr>
        <p:spPr>
          <a:xfrm>
            <a:off x="2476500" y="4800600"/>
            <a:ext cx="1619250" cy="323850"/>
          </a:xfrm>
          <a:prstGeom prst="roundRect">
            <a:avLst>
              <a:gd name="adj" fmla="val 23529"/>
            </a:avLst>
          </a:prstGeom>
          <a:solidFill>
            <a:srgbClr val="081827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6D78DABA-83B7-4121-9AD5-EEB9D078EC9E}"/>
              </a:ext>
            </a:extLst>
          </p:cNvPr>
          <p:cNvSpPr>
            <a:spLocks noGrp="1"/>
          </p:cNvSpPr>
          <p:nvPr/>
        </p:nvSpPr>
        <p:spPr>
          <a:xfrm>
            <a:off x="2476500" y="4857750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22C55E"/>
                </a:solidFill>
              </a:defRPr>
            </a:pPr>
            <a:r>
              <a:rPr sz="1125" b="1">
                <a:solidFill>
                  <a:srgbClr val="22C55E"/>
                </a:solidFill>
              </a:rPr>
              <a:t>教学实验体系</a:t>
            </a: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8BEC8A18-DCE8-4202-A1A6-384C2AB11CF4}"/>
              </a:ext>
            </a:extLst>
          </p:cNvPr>
          <p:cNvSpPr>
            <a:spLocks noGrp="1"/>
          </p:cNvSpPr>
          <p:nvPr/>
        </p:nvSpPr>
        <p:spPr>
          <a:xfrm>
            <a:off x="4324350" y="4800600"/>
            <a:ext cx="1714500" cy="323850"/>
          </a:xfrm>
          <a:prstGeom prst="roundRect">
            <a:avLst>
              <a:gd name="adj" fmla="val 23529"/>
            </a:avLst>
          </a:prstGeom>
          <a:solidFill>
            <a:srgbClr val="081827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E319BE1-544D-43DE-8195-DE750F58E551}"/>
              </a:ext>
            </a:extLst>
          </p:cNvPr>
          <p:cNvSpPr>
            <a:spLocks noGrp="1"/>
          </p:cNvSpPr>
          <p:nvPr/>
        </p:nvSpPr>
        <p:spPr>
          <a:xfrm>
            <a:off x="4324350" y="4857750"/>
            <a:ext cx="1714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DBA74"/>
                </a:solidFill>
              </a:defRPr>
            </a:pPr>
            <a:r>
              <a:rPr sz="1125" b="1">
                <a:solidFill>
                  <a:srgbClr val="FDBA74"/>
                </a:solidFill>
              </a:rPr>
              <a:t>QEMU 自动验收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C85735DE-6715-405F-A450-0C655D983DBF}"/>
              </a:ext>
            </a:extLst>
          </p:cNvPr>
          <p:cNvSpPr>
            <a:spLocks noGrp="1"/>
          </p:cNvSpPr>
          <p:nvPr/>
        </p:nvSpPr>
        <p:spPr>
          <a:xfrm>
            <a:off x="628650" y="5657850"/>
            <a:ext cx="6477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项目负责人 / 内核实现：李浩明</a:t>
            </a:r>
          </a:p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教学设计、测试与验收、文档与答辩：李昊然、张义灿</a:t>
            </a: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C98B2FFB-5E42-4959-9538-18BDD2B4F44A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49859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46B60A21-7D1F-40D6-A919-C7B94DE977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0BAA08F1-BE32-4181-8FEC-AEA99E7181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87DF2CDF-FB9F-4573-8042-102B8F6A6B9A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1C99A7A-5C44-4C77-9F61-9EA04F05DCBF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A5BD568D-0506-455B-B604-DB268B0EBDAE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4DB7B998-5729-4028-85C4-3162C4318409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6F1E7224-8CF6-42B2-936E-C2E491110030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8BAD42D7-6018-4A76-80D8-3BEF02CC825D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957CD551-E029-4B39-9BD2-21E2A74E6F42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16B194AC-1C6B-477B-969E-9580FA718135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927F6998-8EB8-4AC0-9FD9-2AEEB4AF2B4A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64B0BFBD-1D87-4A57-B0EF-DB3A5F21D765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770AB725-599D-4C06-891B-C406F3B4E8BD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34F04D83-10F6-40F8-BF77-B39EA851648B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03DBD1D1-948D-424D-BBE0-1F2B64D0830E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56179BCA-7344-45CA-A30F-0660F51CDB61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ED0FBEEF-C14D-427E-B177-0D033A03E07E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4D30D5F5-13CD-475E-AD5A-A52BA39416E2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69CCBB2F-A78D-4597-8858-BE69A95D72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CA714020-F798-4B29-BD43-54F390B1CFD5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7D6C007F-1DF4-4198-B85D-B5AA648F7DBD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4B8188AC-FB01-4F67-B3A6-728C967FC73C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2636F81F-1F9E-49E9-BD96-1656960517DF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191474D4-4B01-4B6A-9C55-45439159B2B2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68259D0C-33E4-4894-8D33-34EC31253C79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D6699518-0AB2-4864-8075-A53FB9FF0A00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458F7E3B-1482-4923-BF57-AAA0133C7BEB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37C9658B-113B-46D6-B888-DB6ECAA69ADD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8246F72-5290-4E8A-8B33-3B30B2E41D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71EC522-191E-4CE3-BB06-DF240EBD9644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22DC539-5F6E-4C48-AA56-47264EB829D2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赛题分析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8B15432-6171-4E62-871E-C5C8D29284C4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题目要求的不是“大而全 OS”，而是可教学的 OS 实验环境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1D4A1D0-172D-4E3A-9ABA-196564F3D172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我们把评分关注点拆成工程基线、教学设计、测试证据和文档交付四条线。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031A0504-DA10-42DA-A8FF-A42DC9F7F6AE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FC4602E-4ACD-4D8C-B561-F3F59C1D9466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10382250" cy="666750"/>
          </a:xfrm>
          <a:prstGeom prst="roundRect">
            <a:avLst>
              <a:gd name="adj" fmla="val 11429"/>
            </a:avLst>
          </a:prstGeom>
          <a:solidFill>
            <a:srgbClr val="102033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270895E-A921-4630-8C19-5D4416902750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57150" cy="6667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7CBCFC5-96C8-43B9-8B4F-51E92C188FA4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39D5FF"/>
                </a:solidFill>
              </a:defRPr>
            </a:pPr>
            <a:r>
              <a:rPr sz="1650" b="1">
                <a:solidFill>
                  <a:srgbClr val="39D5FF"/>
                </a:solidFill>
              </a:rPr>
              <a:t>Rust / RISC-V / QEMU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EE2F134-0C7F-43D1-8E1B-32FE046D0403}"/>
              </a:ext>
            </a:extLst>
          </p:cNvPr>
          <p:cNvSpPr>
            <a:spLocks noGrp="1"/>
          </p:cNvSpPr>
          <p:nvPr/>
        </p:nvSpPr>
        <p:spPr>
          <a:xfrm>
            <a:off x="4000500" y="2438400"/>
            <a:ext cx="647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内核主体使用 Rust，目标为 RISC-V 64，通过 QEMU virt + OpenSBI 运行。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1DED322-0CF8-49D0-8740-07CA24915C49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10382250" cy="666750"/>
          </a:xfrm>
          <a:prstGeom prst="roundRect">
            <a:avLst>
              <a:gd name="adj" fmla="val 11429"/>
            </a:avLst>
          </a:prstGeom>
          <a:solidFill>
            <a:srgbClr val="102033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34E515A-2928-4EF3-A468-8E2C70D9C8B3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57150" cy="66675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AD45925-3D32-417F-A29D-CF5D85573AD1}"/>
              </a:ext>
            </a:extLst>
          </p:cNvPr>
          <p:cNvSpPr>
            <a:spLocks noGrp="1"/>
          </p:cNvSpPr>
          <p:nvPr/>
        </p:nvSpPr>
        <p:spPr>
          <a:xfrm>
            <a:off x="1162050" y="32956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2C55E"/>
                </a:solidFill>
              </a:defRPr>
            </a:pPr>
            <a:r>
              <a:rPr sz="1650" b="1">
                <a:solidFill>
                  <a:srgbClr val="22C55E"/>
                </a:solidFill>
              </a:rPr>
              <a:t>至少 5 个基础实验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5620C79-69CD-4123-A1A5-C9DBA7D1A179}"/>
              </a:ext>
            </a:extLst>
          </p:cNvPr>
          <p:cNvSpPr>
            <a:spLocks noGrp="1"/>
          </p:cNvSpPr>
          <p:nvPr/>
        </p:nvSpPr>
        <p:spPr>
          <a:xfrm>
            <a:off x="4000500" y="3314700"/>
            <a:ext cx="647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最终设计 7 个递进实验，从启动到文件 I/O，知识点前后衔接。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AC858CA5-FE12-4219-A59C-8651BDA74AA7}"/>
              </a:ext>
            </a:extLst>
          </p:cNvPr>
          <p:cNvSpPr>
            <a:spLocks noGrp="1"/>
          </p:cNvSpPr>
          <p:nvPr/>
        </p:nvSpPr>
        <p:spPr>
          <a:xfrm>
            <a:off x="876300" y="4019550"/>
            <a:ext cx="10382250" cy="666750"/>
          </a:xfrm>
          <a:prstGeom prst="roundRect">
            <a:avLst>
              <a:gd name="adj" fmla="val 11429"/>
            </a:avLst>
          </a:prstGeom>
          <a:solidFill>
            <a:srgbClr val="102033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13C1A47-9FDF-4BB1-BDB1-CE576486880D}"/>
              </a:ext>
            </a:extLst>
          </p:cNvPr>
          <p:cNvSpPr>
            <a:spLocks noGrp="1"/>
          </p:cNvSpPr>
          <p:nvPr/>
        </p:nvSpPr>
        <p:spPr>
          <a:xfrm>
            <a:off x="876300" y="4019550"/>
            <a:ext cx="57150" cy="66675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3C1B5FF-6C67-4CB8-99FE-A5383C61F45A}"/>
              </a:ext>
            </a:extLst>
          </p:cNvPr>
          <p:cNvSpPr>
            <a:spLocks noGrp="1"/>
          </p:cNvSpPr>
          <p:nvPr/>
        </p:nvSpPr>
        <p:spPr>
          <a:xfrm>
            <a:off x="1162050" y="41719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FDBA74"/>
                </a:solidFill>
              </a:defRPr>
            </a:pPr>
            <a:r>
              <a:rPr sz="1650" b="1">
                <a:solidFill>
                  <a:srgbClr val="FDBA74"/>
                </a:solidFill>
              </a:rPr>
              <a:t>Crate 与测试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8A504BC-6543-401F-B2FA-A523394F1D5F}"/>
              </a:ext>
            </a:extLst>
          </p:cNvPr>
          <p:cNvSpPr>
            <a:spLocks noGrp="1"/>
          </p:cNvSpPr>
          <p:nvPr/>
        </p:nvSpPr>
        <p:spPr>
          <a:xfrm>
            <a:off x="4000500" y="4191000"/>
            <a:ext cx="647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Rust workspace + kernel crate，配套主机单测与 QEMU 系统测试。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A0A6BB1D-9106-407C-B404-D551543C3240}"/>
              </a:ext>
            </a:extLst>
          </p:cNvPr>
          <p:cNvSpPr>
            <a:spLocks noGrp="1"/>
          </p:cNvSpPr>
          <p:nvPr/>
        </p:nvSpPr>
        <p:spPr>
          <a:xfrm>
            <a:off x="876300" y="4895850"/>
            <a:ext cx="10382250" cy="666750"/>
          </a:xfrm>
          <a:prstGeom prst="roundRect">
            <a:avLst>
              <a:gd name="adj" fmla="val 11429"/>
            </a:avLst>
          </a:prstGeom>
          <a:solidFill>
            <a:srgbClr val="102033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A1F46B8-7358-4515-A6E0-7EA067FDE3F2}"/>
              </a:ext>
            </a:extLst>
          </p:cNvPr>
          <p:cNvSpPr>
            <a:spLocks noGrp="1"/>
          </p:cNvSpPr>
          <p:nvPr/>
        </p:nvSpPr>
        <p:spPr>
          <a:xfrm>
            <a:off x="876300" y="4895850"/>
            <a:ext cx="57150" cy="666750"/>
          </a:xfrm>
          <a:prstGeom prst="rect">
            <a:avLst/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6C66D407-438B-428C-8181-34E90601183F}"/>
              </a:ext>
            </a:extLst>
          </p:cNvPr>
          <p:cNvSpPr>
            <a:spLocks noGrp="1"/>
          </p:cNvSpPr>
          <p:nvPr/>
        </p:nvSpPr>
        <p:spPr>
          <a:xfrm>
            <a:off x="1162050" y="50482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A78BFA"/>
                </a:solidFill>
              </a:defRPr>
            </a:pPr>
            <a:r>
              <a:rPr sz="1650" b="1">
                <a:solidFill>
                  <a:srgbClr val="A78BFA"/>
                </a:solidFill>
              </a:rPr>
              <a:t>Markdown 与 Mermaid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7BA8C56-DC5B-46DE-80BE-4693036A53AF}"/>
              </a:ext>
            </a:extLst>
          </p:cNvPr>
          <p:cNvSpPr>
            <a:spLocks noGrp="1"/>
          </p:cNvSpPr>
          <p:nvPr/>
        </p:nvSpPr>
        <p:spPr>
          <a:xfrm>
            <a:off x="4000500" y="5067300"/>
            <a:ext cx="647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AD0"/>
                </a:solidFill>
              </a:defRPr>
            </a:pPr>
            <a:r>
              <a:rPr sz="1350" b="0">
                <a:solidFill>
                  <a:srgbClr val="A9BAD0"/>
                </a:solidFill>
              </a:rPr>
              <a:t>README、任务书、提示、教师指南、设计文档均使用 Markdown。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B5757C5-6F33-488B-BCF6-2FB84E84C96C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22331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3DD337F0-A45D-4A6D-AAFD-CBE65F384D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2F248029-0764-4FBF-9E0B-A5B16AAFD2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60E83C17-E778-4B13-9080-2C156DFF0B4E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87D38CF-4CEE-4A8B-B4A6-251CFCB68440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E7C6664-3328-46F5-B30E-1E058B52CE98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28F2F9B9-EBED-425C-87D9-BB5E65F168E0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A4974CF5-43BB-41F5-A613-FD97D58AF252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FE04B340-F1F4-4B1D-AE72-0E1F4529F6E2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741F7778-37AB-481A-89B9-A0CD52BD94C6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86275DC8-8B06-4BA1-A542-A89931C409C2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AC3D1F08-CD1B-4C71-8E64-41A11486C887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0620EB91-97AA-4749-93C8-9B4E983FDABA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99CF5064-EBBC-4D7D-B5E6-BEC4D59624CB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406879F9-EF76-4F36-81E1-F4E7B57B5153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70FAACBB-F964-4AA9-9BD3-B956817D5A95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0E8F75B1-B9F1-4DEA-80CD-7576E00F9532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C33DF1BC-9CB5-40AE-82F5-AF23AD597803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DDF7F6A1-96EE-410C-B087-194121CDE05E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6519AF06-24B9-4BC2-8FC7-34D0D9B231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47F4267D-62E0-4D0E-B84D-0A9C365BC98F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CCF29291-5AD3-4C97-825A-37A8C5F8D5CC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168A8F1B-4FF4-4E62-896E-78947A2F7226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43865F4C-9EFB-4257-9195-900FF61C0ABE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0444B141-035A-44E3-A4AE-2B43DE37DBF5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5411D6AC-28AB-4DBF-BB5B-5B29D62205C5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58CB60A2-4F05-48B8-AECF-9FC44F91DD01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6623AF49-D423-4977-BE85-D82B03E638A7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EA537AA3-E2E5-40EA-AA26-119BC667D3EC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9B32ADF-CE1B-4B05-A505-EB3A0DF43D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2F976F1-216B-4D79-A70A-0E9D60142A0C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4DB6838-64CB-4B3B-92FB-0E9F4BD6DAB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核心判断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A2B2E38-0DBF-4DB0-8F5A-724CEE93853E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把赛题从“实现更多功能”转化为“构建可教学体系”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409883E-5D64-4460-AAB4-2F90785B314F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功能是基础，教学可用性才是本题区别于普通 OS 作业的关键。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920DE61D-4BFD-4B21-A573-2A7C7F17F7E2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C469BB2-8D66-4BAE-A6D5-3CB186B88FC2}"/>
              </a:ext>
            </a:extLst>
          </p:cNvPr>
          <p:cNvSpPr>
            <a:spLocks noGrp="1"/>
          </p:cNvSpPr>
          <p:nvPr/>
        </p:nvSpPr>
        <p:spPr>
          <a:xfrm>
            <a:off x="742950" y="2333625"/>
            <a:ext cx="3190875" cy="2381250"/>
          </a:xfrm>
          <a:prstGeom prst="roundRect">
            <a:avLst>
              <a:gd name="adj" fmla="val 3200"/>
            </a:avLst>
          </a:prstGeom>
          <a:solidFill>
            <a:srgbClr val="102033"/>
          </a:solidFill>
          <a:ln w="9525">
            <a:solidFill>
              <a:srgbClr val="FB7185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F94068A-82FE-455C-B2FF-E60B487B45B7}"/>
              </a:ext>
            </a:extLst>
          </p:cNvPr>
          <p:cNvSpPr>
            <a:spLocks noGrp="1"/>
          </p:cNvSpPr>
          <p:nvPr/>
        </p:nvSpPr>
        <p:spPr>
          <a:xfrm>
            <a:off x="742950" y="2333625"/>
            <a:ext cx="57150" cy="2381250"/>
          </a:xfrm>
          <a:prstGeom prst="rect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E76A4D3-4C0D-4F79-8895-D4A1E80B439C}"/>
              </a:ext>
            </a:extLst>
          </p:cNvPr>
          <p:cNvSpPr>
            <a:spLocks noGrp="1"/>
          </p:cNvSpPr>
          <p:nvPr/>
        </p:nvSpPr>
        <p:spPr>
          <a:xfrm>
            <a:off x="990600" y="260985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FB7185"/>
                </a:solidFill>
              </a:defRPr>
            </a:pPr>
            <a:r>
              <a:rPr sz="2100" b="1">
                <a:solidFill>
                  <a:srgbClr val="FB7185"/>
                </a:solidFill>
              </a:rPr>
              <a:t>如果只做功能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09ABC8C-6AFE-43C6-AF44-5177C33C8F39}"/>
              </a:ext>
            </a:extLst>
          </p:cNvPr>
          <p:cNvSpPr>
            <a:spLocks noGrp="1"/>
          </p:cNvSpPr>
          <p:nvPr/>
        </p:nvSpPr>
        <p:spPr>
          <a:xfrm>
            <a:off x="1009650" y="3219450"/>
            <a:ext cx="2476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评委看到能跑的内核，但学生未必知道从哪里学。</a:t>
            </a:r>
          </a:p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文档和测试容易变成附属品。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AA130CE-C13A-4D4D-B6CD-F4D5F50DC718}"/>
              </a:ext>
            </a:extLst>
          </p:cNvPr>
          <p:cNvSpPr>
            <a:spLocks noGrp="1"/>
          </p:cNvSpPr>
          <p:nvPr/>
        </p:nvSpPr>
        <p:spPr>
          <a:xfrm>
            <a:off x="4505325" y="2333625"/>
            <a:ext cx="3190875" cy="2381250"/>
          </a:xfrm>
          <a:prstGeom prst="roundRect">
            <a:avLst>
              <a:gd name="adj" fmla="val 3200"/>
            </a:avLst>
          </a:prstGeom>
          <a:solidFill>
            <a:srgbClr val="0C2235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4250702-AFDD-492F-A5D6-F485595026B0}"/>
              </a:ext>
            </a:extLst>
          </p:cNvPr>
          <p:cNvSpPr>
            <a:spLocks noGrp="1"/>
          </p:cNvSpPr>
          <p:nvPr/>
        </p:nvSpPr>
        <p:spPr>
          <a:xfrm>
            <a:off x="4505325" y="2333625"/>
            <a:ext cx="57150" cy="23812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9D847D6-9CBA-4040-B29D-3805A397631C}"/>
              </a:ext>
            </a:extLst>
          </p:cNvPr>
          <p:cNvSpPr>
            <a:spLocks noGrp="1"/>
          </p:cNvSpPr>
          <p:nvPr/>
        </p:nvSpPr>
        <p:spPr>
          <a:xfrm>
            <a:off x="4752975" y="260985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39D5FF"/>
                </a:solidFill>
              </a:defRPr>
            </a:pPr>
            <a:r>
              <a:rPr sz="2100" b="1">
                <a:solidFill>
                  <a:srgbClr val="39D5FF"/>
                </a:solidFill>
              </a:rPr>
              <a:t>我们的设计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07219D-3A9A-4D98-A29D-50818F53B99C}"/>
              </a:ext>
            </a:extLst>
          </p:cNvPr>
          <p:cNvSpPr>
            <a:spLocks noGrp="1"/>
          </p:cNvSpPr>
          <p:nvPr/>
        </p:nvSpPr>
        <p:spPr>
          <a:xfrm>
            <a:off x="4772025" y="3219450"/>
            <a:ext cx="2476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P0 先保证可重复运行。</a:t>
            </a:r>
          </a:p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Lab1-Lab7 每个实验都有 starter/solution。</a:t>
            </a:r>
          </a:p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每个实验约 3 个任务，任务完成即可阶段测试。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228C1D8E-444E-4527-8A9C-5241301B6501}"/>
              </a:ext>
            </a:extLst>
          </p:cNvPr>
          <p:cNvSpPr>
            <a:spLocks noGrp="1"/>
          </p:cNvSpPr>
          <p:nvPr/>
        </p:nvSpPr>
        <p:spPr>
          <a:xfrm>
            <a:off x="8267700" y="2333625"/>
            <a:ext cx="3190875" cy="2381250"/>
          </a:xfrm>
          <a:prstGeom prst="roundRect">
            <a:avLst>
              <a:gd name="adj" fmla="val 3200"/>
            </a:avLst>
          </a:prstGeom>
          <a:solidFill>
            <a:srgbClr val="102033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CA75684-3FDB-4AC4-8158-361F51A5DC64}"/>
              </a:ext>
            </a:extLst>
          </p:cNvPr>
          <p:cNvSpPr>
            <a:spLocks noGrp="1"/>
          </p:cNvSpPr>
          <p:nvPr/>
        </p:nvSpPr>
        <p:spPr>
          <a:xfrm>
            <a:off x="8267700" y="2333625"/>
            <a:ext cx="57150" cy="238125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B5A8A4E-8FAD-467A-BAEE-75717CAFB4C2}"/>
              </a:ext>
            </a:extLst>
          </p:cNvPr>
          <p:cNvSpPr>
            <a:spLocks noGrp="1"/>
          </p:cNvSpPr>
          <p:nvPr/>
        </p:nvSpPr>
        <p:spPr>
          <a:xfrm>
            <a:off x="8515350" y="260985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最终效果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1D2BB96-4B28-4B58-BDF4-927248688889}"/>
              </a:ext>
            </a:extLst>
          </p:cNvPr>
          <p:cNvSpPr>
            <a:spLocks noGrp="1"/>
          </p:cNvSpPr>
          <p:nvPr/>
        </p:nvSpPr>
        <p:spPr>
          <a:xfrm>
            <a:off x="8534400" y="3219450"/>
            <a:ext cx="2476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学生有任务书与分级提示。</a:t>
            </a:r>
          </a:p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教师有参考实现与教师指南。</a:t>
            </a:r>
          </a:p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• 评委可用脚本复现验收。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935CAFE2-AAAB-4347-B51F-0303A36A52B6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609600"/>
          </a:xfrm>
          <a:prstGeom prst="roundRect">
            <a:avLst>
              <a:gd name="adj" fmla="val 12500"/>
            </a:avLst>
          </a:prstGeom>
          <a:solidFill>
            <a:srgbClr val="081827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1E41B22-3A82-4BD2-829A-7E7910007CFA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57150" cy="60960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E24C3A5C-6641-4DFC-815D-2BA7274C6415}"/>
              </a:ext>
            </a:extLst>
          </p:cNvPr>
          <p:cNvSpPr>
            <a:spLocks noGrp="1"/>
          </p:cNvSpPr>
          <p:nvPr/>
        </p:nvSpPr>
        <p:spPr>
          <a:xfrm>
            <a:off x="1714500" y="5448300"/>
            <a:ext cx="876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一句话定位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CFB6F19-06EF-407C-A568-D71162C060CB}"/>
              </a:ext>
            </a:extLst>
          </p:cNvPr>
          <p:cNvSpPr>
            <a:spLocks noGrp="1"/>
          </p:cNvSpPr>
          <p:nvPr/>
        </p:nvSpPr>
        <p:spPr>
          <a:xfrm>
            <a:off x="1733550" y="5734050"/>
            <a:ext cx="8724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这不是工业级通用 OS，而是一套能把 OS 核心机制讲清楚、跑起来、测出来的本科教学实验环境。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FBFA8996-66F2-4DC5-9F04-9314992453BB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24808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 62">
            <a:extLst>
              <a:ext uri="{FF2B5EF4-FFF2-40B4-BE49-F238E27FC236}">
                <a16:creationId xmlns:a16="http://schemas.microsoft.com/office/drawing/2014/main" id="{C64DD3E7-2B85-4E3E-BBEB-F7D7AA716A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04E8EA-F3E5-4B15-A29E-C1ACCEA670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3F452B2-9232-4AA5-ADF1-A5552A677011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6576A29-6FCC-40F6-9870-4A9D382A042A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33FA8F8-7EB9-4EE8-8EFC-BAB5412148FE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86A1911-F358-4763-95B8-269D7757FD35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8D2742-1948-41F5-AB78-46BDEB1816EF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8E6C1D-5A32-41DB-AC7B-E28101EC4207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7877BB0-DF1A-4903-836C-59BD7D3583BE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E3E0C17-EA31-4B49-9D32-3A41355E542A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4878E5-5ADE-4BDA-86B2-BBA7F6615D78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ED56F2E-8A05-482C-A62C-621CE7044D7B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1EA5BA7-F6CF-43DD-A064-4C3B7CAA3EC4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8BD0D57-BB07-4BDE-8F63-FE52EB07D3E9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8682175-E6BA-49ED-8A54-BA2050D9FDD4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F636A8-0325-4885-BA5D-4ABFF417FF7A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96B7827-6639-4E0A-A0E4-1C7E58E00C7C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8C7A323-1D15-44D7-B26E-8A3AD0256A8B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D07C221-278C-43C9-B496-BB62AD1D67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C9A0368-CDB2-40B5-86F6-BB9D12DCE25F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D028335-D274-40BE-8F0D-16061EA2C0D5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13A08B6-4464-4FE9-96E9-4255158F4B6E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B30EECE-4FD2-477D-81A9-36CD81C8E190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8962A80-84ED-4596-8FC4-945EA780904E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5363020-2D87-4151-8D58-3CF0F1E6E5E7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E5CA145-1058-4C30-83AF-2AD89646D1B5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06455D7-D9AC-46B7-9AA4-44AD67359DFE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A5CEA0C-D431-4062-B9E5-B6C7F7A51BDA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5B47F29-96DC-4443-A3F8-B3EFD36CD6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03A2F68-C221-4D5C-A8FC-CE80134BD465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CF28A76-B1F7-4413-8771-004E859F0797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成果展示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4B10695-0B07-473A-AAF9-D36F750BAFB6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一套仓库串起教学、可视化、反馈、验收和答辩证据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586FE4-8050-4A4C-AB9C-986CBA20B2EF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816BFB3-EA2A-4E07-AC84-27216DC94574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04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751DF762-A6F3-4820-A01C-F3E1AF7A4E18}"/>
              </a:ext>
            </a:extLst>
          </p:cNvPr>
          <p:cNvSpPr>
            <a:spLocks noGrp="1"/>
          </p:cNvSpPr>
          <p:nvPr/>
        </p:nvSpPr>
        <p:spPr>
          <a:xfrm>
            <a:off x="552450" y="2133600"/>
            <a:ext cx="200025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4C21D36-1BD7-4233-9B45-3A925C335551}"/>
              </a:ext>
            </a:extLst>
          </p:cNvPr>
          <p:cNvSpPr>
            <a:spLocks noGrp="1"/>
          </p:cNvSpPr>
          <p:nvPr/>
        </p:nvSpPr>
        <p:spPr>
          <a:xfrm>
            <a:off x="552450" y="2133600"/>
            <a:ext cx="57150" cy="14287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F682D8C-A469-44F0-9830-B4AF98751196}"/>
              </a:ext>
            </a:extLst>
          </p:cNvPr>
          <p:cNvSpPr>
            <a:spLocks noGrp="1"/>
          </p:cNvSpPr>
          <p:nvPr/>
        </p:nvSpPr>
        <p:spPr>
          <a:xfrm>
            <a:off x="723900" y="2343150"/>
            <a:ext cx="1657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35C8F4"/>
                </a:solidFill>
              </a:defRPr>
            </a:pPr>
            <a:r>
              <a:rPr sz="3150" b="1">
                <a:solidFill>
                  <a:srgbClr val="35C8F4"/>
                </a:solidFill>
              </a:rPr>
              <a:t>7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8BCF6D3-2157-46E8-B19A-9616E16333E5}"/>
              </a:ext>
            </a:extLst>
          </p:cNvPr>
          <p:cNvSpPr>
            <a:spLocks noGrp="1"/>
          </p:cNvSpPr>
          <p:nvPr/>
        </p:nvSpPr>
        <p:spPr>
          <a:xfrm>
            <a:off x="723900" y="29718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递进式教学实验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80388FA7-6A20-4938-83E3-D69F8A2AFE8D}"/>
              </a:ext>
            </a:extLst>
          </p:cNvPr>
          <p:cNvSpPr>
            <a:spLocks noGrp="1"/>
          </p:cNvSpPr>
          <p:nvPr/>
        </p:nvSpPr>
        <p:spPr>
          <a:xfrm>
            <a:off x="2857500" y="2133600"/>
            <a:ext cx="200025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43A0B81-865F-49EC-92E7-EE445B52FE0F}"/>
              </a:ext>
            </a:extLst>
          </p:cNvPr>
          <p:cNvSpPr>
            <a:spLocks noGrp="1"/>
          </p:cNvSpPr>
          <p:nvPr/>
        </p:nvSpPr>
        <p:spPr>
          <a:xfrm>
            <a:off x="2857500" y="2133600"/>
            <a:ext cx="57150" cy="142875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FFF2B651-1A3C-4435-ABCF-F04D8D996CEF}"/>
              </a:ext>
            </a:extLst>
          </p:cNvPr>
          <p:cNvSpPr>
            <a:spLocks noGrp="1"/>
          </p:cNvSpPr>
          <p:nvPr/>
        </p:nvSpPr>
        <p:spPr>
          <a:xfrm>
            <a:off x="3028950" y="2343150"/>
            <a:ext cx="1657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FF7A1A"/>
                </a:solidFill>
              </a:defRPr>
            </a:pPr>
            <a:r>
              <a:rPr sz="3150" b="1">
                <a:solidFill>
                  <a:srgbClr val="FF7A1A"/>
                </a:solidFill>
              </a:rPr>
              <a:t>3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86E2188-C2C0-44F5-963B-D0C8316A3223}"/>
              </a:ext>
            </a:extLst>
          </p:cNvPr>
          <p:cNvSpPr>
            <a:spLocks noGrp="1"/>
          </p:cNvSpPr>
          <p:nvPr/>
        </p:nvSpPr>
        <p:spPr>
          <a:xfrm>
            <a:off x="3028950" y="29718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每个 Lab 分阶段验收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EE54281-C84F-494B-A0E6-91CC1AB1E5ED}"/>
              </a:ext>
            </a:extLst>
          </p:cNvPr>
          <p:cNvSpPr>
            <a:spLocks noGrp="1"/>
          </p:cNvSpPr>
          <p:nvPr/>
        </p:nvSpPr>
        <p:spPr>
          <a:xfrm>
            <a:off x="5162550" y="2133600"/>
            <a:ext cx="200025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9586773-63DF-4947-A317-FA958796BF64}"/>
              </a:ext>
            </a:extLst>
          </p:cNvPr>
          <p:cNvSpPr>
            <a:spLocks noGrp="1"/>
          </p:cNvSpPr>
          <p:nvPr/>
        </p:nvSpPr>
        <p:spPr>
          <a:xfrm>
            <a:off x="5162550" y="2133600"/>
            <a:ext cx="57150" cy="14287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C5DCA81E-31B8-4D05-8F68-F48978312421}"/>
              </a:ext>
            </a:extLst>
          </p:cNvPr>
          <p:cNvSpPr>
            <a:spLocks noGrp="1"/>
          </p:cNvSpPr>
          <p:nvPr/>
        </p:nvSpPr>
        <p:spPr>
          <a:xfrm>
            <a:off x="5334000" y="2343150"/>
            <a:ext cx="1657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30C980"/>
                </a:solidFill>
              </a:defRPr>
            </a:pPr>
            <a:r>
              <a:rPr lang="en-US" altLang="zh-CN" sz="3150" b="1">
                <a:solidFill>
                  <a:srgbClr val="30C980"/>
                </a:solidFill>
              </a:rPr>
              <a:t>580</a:t>
            </a:r>
            <a:endParaRPr sz="3150" b="1">
              <a:solidFill>
                <a:srgbClr val="30C980"/>
              </a:solidFill>
            </a:endParaRP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E26E3402-BFD2-495E-B4D6-C02D53D1ED45}"/>
              </a:ext>
            </a:extLst>
          </p:cNvPr>
          <p:cNvSpPr>
            <a:spLocks noGrp="1"/>
          </p:cNvSpPr>
          <p:nvPr/>
        </p:nvSpPr>
        <p:spPr>
          <a:xfrm>
            <a:off x="5334000" y="29718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最终全量通过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2A655754-EA81-488C-BE6D-DCC4359FA945}"/>
              </a:ext>
            </a:extLst>
          </p:cNvPr>
          <p:cNvSpPr>
            <a:spLocks noGrp="1"/>
          </p:cNvSpPr>
          <p:nvPr/>
        </p:nvSpPr>
        <p:spPr>
          <a:xfrm>
            <a:off x="7467600" y="2133600"/>
            <a:ext cx="200025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9A41EBF-2234-44F7-BE8A-5E09E31F4C73}"/>
              </a:ext>
            </a:extLst>
          </p:cNvPr>
          <p:cNvSpPr>
            <a:spLocks noGrp="1"/>
          </p:cNvSpPr>
          <p:nvPr/>
        </p:nvSpPr>
        <p:spPr>
          <a:xfrm>
            <a:off x="7467600" y="2133600"/>
            <a:ext cx="57150" cy="1428750"/>
          </a:xfrm>
          <a:prstGeom prst="rect">
            <a:avLst/>
          </a:prstGeom>
          <a:solidFill>
            <a:srgbClr val="F3B562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56D35DB-E282-4C91-B554-575376478EC0}"/>
              </a:ext>
            </a:extLst>
          </p:cNvPr>
          <p:cNvSpPr>
            <a:spLocks noGrp="1"/>
          </p:cNvSpPr>
          <p:nvPr/>
        </p:nvSpPr>
        <p:spPr>
          <a:xfrm>
            <a:off x="7639050" y="2343150"/>
            <a:ext cx="1657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F3B562"/>
                </a:solidFill>
              </a:defRPr>
            </a:pPr>
            <a:r>
              <a:rPr sz="3150" b="1">
                <a:solidFill>
                  <a:srgbClr val="F3B562"/>
                </a:solidFill>
              </a:rPr>
              <a:t>80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40CB385-AB53-45EE-BE5E-4B4C4CD83E33}"/>
              </a:ext>
            </a:extLst>
          </p:cNvPr>
          <p:cNvSpPr>
            <a:spLocks noGrp="1"/>
          </p:cNvSpPr>
          <p:nvPr/>
        </p:nvSpPr>
        <p:spPr>
          <a:xfrm>
            <a:off x="7639050" y="29718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新增定向测试通过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E4E83011-2924-4FB2-86E5-ACFE05E32A5B}"/>
              </a:ext>
            </a:extLst>
          </p:cNvPr>
          <p:cNvSpPr>
            <a:spLocks noGrp="1"/>
          </p:cNvSpPr>
          <p:nvPr/>
        </p:nvSpPr>
        <p:spPr>
          <a:xfrm>
            <a:off x="9772650" y="2133600"/>
            <a:ext cx="200025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B3F73EE-FFA2-4143-BA7F-7FFBF025EF13}"/>
              </a:ext>
            </a:extLst>
          </p:cNvPr>
          <p:cNvSpPr>
            <a:spLocks noGrp="1"/>
          </p:cNvSpPr>
          <p:nvPr/>
        </p:nvSpPr>
        <p:spPr>
          <a:xfrm>
            <a:off x="9772650" y="2133600"/>
            <a:ext cx="57150" cy="14287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98D1507-D46F-4838-8739-D009965311C6}"/>
              </a:ext>
            </a:extLst>
          </p:cNvPr>
          <p:cNvSpPr>
            <a:spLocks noGrp="1"/>
          </p:cNvSpPr>
          <p:nvPr/>
        </p:nvSpPr>
        <p:spPr>
          <a:xfrm>
            <a:off x="9944100" y="2343150"/>
            <a:ext cx="16573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35C8F4"/>
                </a:solidFill>
              </a:defRPr>
            </a:pPr>
            <a:r>
              <a:rPr lang="en-US" altLang="zh-CN" sz="3150" b="1">
                <a:solidFill>
                  <a:srgbClr val="35C8F4"/>
                </a:solidFill>
              </a:rPr>
              <a:t>21</a:t>
            </a:r>
            <a:endParaRPr sz="3150" b="1">
              <a:solidFill>
                <a:srgbClr val="35C8F4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0121CFD-AC0B-4275-88BE-99108F69F159}"/>
              </a:ext>
            </a:extLst>
          </p:cNvPr>
          <p:cNvSpPr>
            <a:spLocks noGrp="1"/>
          </p:cNvSpPr>
          <p:nvPr/>
        </p:nvSpPr>
        <p:spPr>
          <a:xfrm>
            <a:off x="9944100" y="2971800"/>
            <a:ext cx="165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/>
            <a:r>
              <a:rPr sz="1200" b="1">
                <a:solidFill>
                  <a:srgbClr val="F7FAFC"/>
                </a:solidFill>
              </a:rPr>
              <a:t>既有交付分支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376BE905-CF94-4E5D-A579-18519EEC9E00}"/>
              </a:ext>
            </a:extLst>
          </p:cNvPr>
          <p:cNvSpPr>
            <a:spLocks noGrp="1"/>
          </p:cNvSpPr>
          <p:nvPr/>
        </p:nvSpPr>
        <p:spPr>
          <a:xfrm>
            <a:off x="723900" y="4095750"/>
            <a:ext cx="4572000" cy="1524000"/>
          </a:xfrm>
          <a:prstGeom prst="roundRect">
            <a:avLst>
              <a:gd name="adj" fmla="val 75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2C11C381-E8A9-4AE1-9297-A7759B7E25AF}"/>
              </a:ext>
            </a:extLst>
          </p:cNvPr>
          <p:cNvSpPr>
            <a:spLocks noGrp="1"/>
          </p:cNvSpPr>
          <p:nvPr/>
        </p:nvSpPr>
        <p:spPr>
          <a:xfrm>
            <a:off x="723900" y="4095750"/>
            <a:ext cx="57150" cy="15240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67DC812-71A7-4C4A-A77A-26B0490F3CD8}"/>
              </a:ext>
            </a:extLst>
          </p:cNvPr>
          <p:cNvSpPr>
            <a:spLocks noGrp="1"/>
          </p:cNvSpPr>
          <p:nvPr/>
        </p:nvSpPr>
        <p:spPr>
          <a:xfrm>
            <a:off x="952500" y="4267200"/>
            <a:ext cx="4171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main：完整产品说明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E8CF39E-DDAA-447A-8941-FF32411AA745}"/>
              </a:ext>
            </a:extLst>
          </p:cNvPr>
          <p:cNvSpPr>
            <a:spLocks noGrp="1"/>
          </p:cNvSpPr>
          <p:nvPr/>
        </p:nvSpPr>
        <p:spPr>
          <a:xfrm>
            <a:off x="952500" y="4686300"/>
            <a:ext cx="41719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面向评委和教师：真实 QEMU 证据、可视化、受限教学智能体、主动远程反馈和本机人工评分。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24B120A3-FE74-417F-AA24-4623EB3362C0}"/>
              </a:ext>
            </a:extLst>
          </p:cNvPr>
          <p:cNvSpPr>
            <a:spLocks noGrp="1"/>
          </p:cNvSpPr>
          <p:nvPr/>
        </p:nvSpPr>
        <p:spPr>
          <a:xfrm>
            <a:off x="5734050" y="4095750"/>
            <a:ext cx="5429250" cy="1524000"/>
          </a:xfrm>
          <a:prstGeom prst="roundRect">
            <a:avLst>
              <a:gd name="adj" fmla="val 75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33799B7-F716-4C43-8A18-DA62B2377E9C}"/>
              </a:ext>
            </a:extLst>
          </p:cNvPr>
          <p:cNvSpPr>
            <a:spLocks noGrp="1"/>
          </p:cNvSpPr>
          <p:nvPr/>
        </p:nvSpPr>
        <p:spPr>
          <a:xfrm>
            <a:off x="5734050" y="4095750"/>
            <a:ext cx="57150" cy="152400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03900B3D-E3D8-4E44-9A70-7F2241C5C874}"/>
              </a:ext>
            </a:extLst>
          </p:cNvPr>
          <p:cNvSpPr>
            <a:spLocks noGrp="1"/>
          </p:cNvSpPr>
          <p:nvPr/>
        </p:nvSpPr>
        <p:spPr>
          <a:xfrm>
            <a:off x="5962650" y="4267200"/>
            <a:ext cx="5029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lang="zh-CN" altLang="en-US" sz="1575" b="1">
                <a:solidFill>
                  <a:srgbClr val="35C8F4"/>
                </a:solidFill>
              </a:rPr>
              <a:t>当前 </a:t>
            </a:r>
            <a:r>
              <a:rPr lang="en-US" altLang="zh-CN" sz="1575" b="1">
                <a:solidFill>
                  <a:srgbClr val="35C8F4"/>
                </a:solidFill>
              </a:rPr>
              <a:t>main + </a:t>
            </a:r>
            <a:r>
              <a:rPr lang="zh-CN" altLang="en-US" sz="1575" b="1">
                <a:solidFill>
                  <a:srgbClr val="35C8F4"/>
                </a:solidFill>
              </a:rPr>
              <a:t>五项实验报告</a:t>
            </a:r>
            <a:endParaRPr sz="1575" b="1">
              <a:solidFill>
                <a:srgbClr val="35C8F4"/>
              </a:solidFill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A333CA6-29FA-446A-91DC-36FFCC9CB629}"/>
              </a:ext>
            </a:extLst>
          </p:cNvPr>
          <p:cNvSpPr>
            <a:spLocks noGrp="1"/>
          </p:cNvSpPr>
          <p:nvPr/>
        </p:nvSpPr>
        <p:spPr>
          <a:xfrm>
            <a:off x="5962650" y="4686300"/>
            <a:ext cx="50292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/>
            <a:r>
              <a:rPr sz="1200" b="0">
                <a:solidFill>
                  <a:srgbClr val="F7FAFC"/>
                </a:solidFill>
              </a:rPr>
              <a:t>2026-08-16 复核：Rust/QEMU、21 个既有分支导航及 30 页五项实验报告已验收；Node 580/586，在线 Agent Plan 与远程 CI 未运行。</a:t>
            </a:r>
          </a:p>
        </p:txBody>
      </p:sp>
    </p:spTree>
    <p:extLst>
      <p:ext uri="{BB962C8B-B14F-4D97-AF65-F5344CB8AC3E}">
        <p14:creationId xmlns:p14="http://schemas.microsoft.com/office/powerpoint/2010/main" val="1477603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矩形 51">
            <a:extLst>
              <a:ext uri="{FF2B5EF4-FFF2-40B4-BE49-F238E27FC236}">
                <a16:creationId xmlns:a16="http://schemas.microsoft.com/office/drawing/2014/main" id="{21B367C4-957E-4B8F-A3C8-428555A6E3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F73F28DD-EE51-49AA-A365-8244466C31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72CDAF7-75AC-439D-9531-6B7DC5CC601A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EAA379C8-BCE1-4938-A379-E9CC6EB44875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6BEBA249-1031-4625-A6DF-F445AB96C0E5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B976BE12-BCB9-4549-BFB3-258AC034D816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AA73AA5B-F58B-48C0-B244-CD9095776605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4420AA84-A868-4A03-BEC7-9418DA4EB350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46CB726A-688E-4942-BBFD-348FCBC6F6DB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006ED467-CB12-47A6-9AB1-409C80F939E1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70A29E6B-21FB-4ABC-A636-6AE1B5EF5A3D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B2984B15-AF66-413E-A840-843523D9520D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36ABB2E1-A1C8-440B-A6F9-AAFCAB86B002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A8DD3040-F5B8-4B1A-A4A8-9FFFD1FB7EF3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B70D5C4A-3F4E-448D-8414-AF0971195797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75F385A0-C561-4101-9819-587F2B60C245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8B25C680-DA65-4946-A1D4-A91931A74934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472569D7-62BE-4FD6-974B-CF06CFC435D4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E6F38BDE-7739-4BE9-8538-B8BCA5B1BB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55821C11-A7F9-4ED7-9483-9D11FFD618A5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A8D65BC7-1B38-4546-AC77-0E10C046C0A9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7699939B-A6BE-4885-82FD-E2B099EB6B3E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F0528190-2EDB-4DED-A640-0D326CE51700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1209E89F-B96A-4795-9EDE-80A8537F360A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F5ED7974-8373-4877-897E-57345B2AE654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50E775AF-7375-4E80-AA3E-FF16981A2BB5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284A583C-5D51-44B3-961D-CC0D03E18302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00192F3D-F0FF-46DB-BDC4-0A6889295F3B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D1FBF24-7534-4A74-885C-02DC7CAACF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2D76683-331D-47CE-B7CF-20B3CB7B5576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0A2B236-F87A-4CF1-81D2-095E439C1300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教学设计方法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1861B12-1C65-4D05-9340-72B98E826B02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每个实验都按“低门槛进入、分阶段验证、答案隔离”设计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CF02FF3-EC72-4974-816A-EF12EB0BB43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面向普通本科生，不默认学生已经具备复杂内核开发经验。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0535607C-AE6D-467A-B58A-34E59B465CC2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045BECBD-1E5A-4610-95CD-3D958C2870CF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4762500" cy="1143000"/>
          </a:xfrm>
          <a:prstGeom prst="roundRect">
            <a:avLst>
              <a:gd name="adj" fmla="val 6667"/>
            </a:avLst>
          </a:prstGeom>
          <a:solidFill>
            <a:srgbClr val="102033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630F797-8BDD-4688-B4E1-E05D921FB0B9}"/>
              </a:ext>
            </a:extLst>
          </p:cNvPr>
          <p:cNvSpPr>
            <a:spLocks noGrp="1"/>
          </p:cNvSpPr>
          <p:nvPr/>
        </p:nvSpPr>
        <p:spPr>
          <a:xfrm>
            <a:off x="952500" y="2333625"/>
            <a:ext cx="57150" cy="114300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8B771D0-8143-4AC5-B0EE-D02DDC742D27}"/>
              </a:ext>
            </a:extLst>
          </p:cNvPr>
          <p:cNvSpPr>
            <a:spLocks noGrp="1"/>
          </p:cNvSpPr>
          <p:nvPr/>
        </p:nvSpPr>
        <p:spPr>
          <a:xfrm>
            <a:off x="1200150" y="25431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39D5FF"/>
                </a:solidFill>
              </a:defRPr>
            </a:pPr>
            <a:r>
              <a:rPr sz="1875" b="1">
                <a:solidFill>
                  <a:srgbClr val="39D5FF"/>
                </a:solidFill>
              </a:rPr>
              <a:t>约 3 个任务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CE43B77-5649-496E-8BE9-9106251D3A99}"/>
              </a:ext>
            </a:extLst>
          </p:cNvPr>
          <p:cNvSpPr>
            <a:spLocks noGrp="1"/>
          </p:cNvSpPr>
          <p:nvPr/>
        </p:nvSpPr>
        <p:spPr>
          <a:xfrm>
            <a:off x="3143250" y="2543175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每个实验拆成 3 个由易到难的小任务，避免一次性跨越过大。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8E4BA94B-1EC4-4CBF-9B6F-340BAEBB7845}"/>
              </a:ext>
            </a:extLst>
          </p:cNvPr>
          <p:cNvSpPr>
            <a:spLocks noGrp="1"/>
          </p:cNvSpPr>
          <p:nvPr/>
        </p:nvSpPr>
        <p:spPr>
          <a:xfrm>
            <a:off x="6477000" y="2333625"/>
            <a:ext cx="4762500" cy="1143000"/>
          </a:xfrm>
          <a:prstGeom prst="roundRect">
            <a:avLst>
              <a:gd name="adj" fmla="val 6667"/>
            </a:avLst>
          </a:prstGeom>
          <a:solidFill>
            <a:srgbClr val="102033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FEA4F95-76DC-42AF-9592-2987F6865B37}"/>
              </a:ext>
            </a:extLst>
          </p:cNvPr>
          <p:cNvSpPr>
            <a:spLocks noGrp="1"/>
          </p:cNvSpPr>
          <p:nvPr/>
        </p:nvSpPr>
        <p:spPr>
          <a:xfrm>
            <a:off x="6477000" y="2333625"/>
            <a:ext cx="57150" cy="114300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D2EBF1FD-5B03-4174-973C-2D3F36BA5814}"/>
              </a:ext>
            </a:extLst>
          </p:cNvPr>
          <p:cNvSpPr>
            <a:spLocks noGrp="1"/>
          </p:cNvSpPr>
          <p:nvPr/>
        </p:nvSpPr>
        <p:spPr>
          <a:xfrm>
            <a:off x="6724650" y="2543175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22C55E"/>
                </a:solidFill>
              </a:defRPr>
            </a:pPr>
            <a:r>
              <a:rPr sz="1875" b="1">
                <a:solidFill>
                  <a:srgbClr val="22C55E"/>
                </a:solidFill>
              </a:rPr>
              <a:t>每步可验证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4EE8CD4-B74B-459A-A127-7293B8C176FE}"/>
              </a:ext>
            </a:extLst>
          </p:cNvPr>
          <p:cNvSpPr>
            <a:spLocks noGrp="1"/>
          </p:cNvSpPr>
          <p:nvPr/>
        </p:nvSpPr>
        <p:spPr>
          <a:xfrm>
            <a:off x="8667750" y="2543175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Stage 1/2/3 独立 PASS，学生完成一小步就能看到结果。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2A184715-A1F5-4B64-A5C5-F9E4BF8EC930}"/>
              </a:ext>
            </a:extLst>
          </p:cNvPr>
          <p:cNvSpPr>
            <a:spLocks noGrp="1"/>
          </p:cNvSpPr>
          <p:nvPr/>
        </p:nvSpPr>
        <p:spPr>
          <a:xfrm>
            <a:off x="952500" y="4000500"/>
            <a:ext cx="4762500" cy="1143000"/>
          </a:xfrm>
          <a:prstGeom prst="roundRect">
            <a:avLst>
              <a:gd name="adj" fmla="val 6667"/>
            </a:avLst>
          </a:prstGeom>
          <a:solidFill>
            <a:srgbClr val="102033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36145E4-FD0F-47C6-974E-DA4D41C5338D}"/>
              </a:ext>
            </a:extLst>
          </p:cNvPr>
          <p:cNvSpPr>
            <a:spLocks noGrp="1"/>
          </p:cNvSpPr>
          <p:nvPr/>
        </p:nvSpPr>
        <p:spPr>
          <a:xfrm>
            <a:off x="952500" y="4000500"/>
            <a:ext cx="57150" cy="114300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D1F78F5-3BC2-4C75-8B76-BA560891602E}"/>
              </a:ext>
            </a:extLst>
          </p:cNvPr>
          <p:cNvSpPr>
            <a:spLocks noGrp="1"/>
          </p:cNvSpPr>
          <p:nvPr/>
        </p:nvSpPr>
        <p:spPr>
          <a:xfrm>
            <a:off x="1200150" y="4210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DBA74"/>
                </a:solidFill>
              </a:defRPr>
            </a:pPr>
            <a:r>
              <a:rPr sz="1875" b="1">
                <a:solidFill>
                  <a:srgbClr val="FDBA74"/>
                </a:solidFill>
              </a:rPr>
              <a:t>分级提示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600348F-23B6-48F9-848D-1CA8228870D1}"/>
              </a:ext>
            </a:extLst>
          </p:cNvPr>
          <p:cNvSpPr>
            <a:spLocks noGrp="1"/>
          </p:cNvSpPr>
          <p:nvPr/>
        </p:nvSpPr>
        <p:spPr>
          <a:xfrm>
            <a:off x="3143250" y="4210050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HINTS 从概念方向到伪代码，不直接给可复制答案。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0A7B8916-F376-4605-8EDC-483B230247DB}"/>
              </a:ext>
            </a:extLst>
          </p:cNvPr>
          <p:cNvSpPr>
            <a:spLocks noGrp="1"/>
          </p:cNvSpPr>
          <p:nvPr/>
        </p:nvSpPr>
        <p:spPr>
          <a:xfrm>
            <a:off x="6477000" y="4000500"/>
            <a:ext cx="4762500" cy="1143000"/>
          </a:xfrm>
          <a:prstGeom prst="roundRect">
            <a:avLst>
              <a:gd name="adj" fmla="val 6667"/>
            </a:avLst>
          </a:prstGeom>
          <a:solidFill>
            <a:srgbClr val="102033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22FC0F35-AC69-4F5D-AFC6-EACFE954C6EA}"/>
              </a:ext>
            </a:extLst>
          </p:cNvPr>
          <p:cNvSpPr>
            <a:spLocks noGrp="1"/>
          </p:cNvSpPr>
          <p:nvPr/>
        </p:nvSpPr>
        <p:spPr>
          <a:xfrm>
            <a:off x="6477000" y="4000500"/>
            <a:ext cx="57150" cy="1143000"/>
          </a:xfrm>
          <a:prstGeom prst="rect">
            <a:avLst/>
          </a:prstGeom>
          <a:solidFill>
            <a:srgbClr val="A78BFA"/>
          </a:solidFill>
          <a:ln w="0">
            <a:noFill/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E10BA62-2E0F-48FC-B15D-5F822D94DF57}"/>
              </a:ext>
            </a:extLst>
          </p:cNvPr>
          <p:cNvSpPr>
            <a:spLocks noGrp="1"/>
          </p:cNvSpPr>
          <p:nvPr/>
        </p:nvSpPr>
        <p:spPr>
          <a:xfrm>
            <a:off x="6724650" y="42100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A78BFA"/>
                </a:solidFill>
              </a:defRPr>
            </a:pPr>
            <a:r>
              <a:rPr sz="1875" b="1">
                <a:solidFill>
                  <a:srgbClr val="A78BFA"/>
                </a:solidFill>
              </a:rPr>
              <a:t>答案隔离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2362E019-CFC4-41B6-9141-E70687A097FD}"/>
              </a:ext>
            </a:extLst>
          </p:cNvPr>
          <p:cNvSpPr>
            <a:spLocks noGrp="1"/>
          </p:cNvSpPr>
          <p:nvPr/>
        </p:nvSpPr>
        <p:spPr>
          <a:xfrm>
            <a:off x="8667750" y="4210050"/>
            <a:ext cx="2190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starter 不含 SOLUTION，solution 才给参考实现和教师指南。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D91DD57-511E-45D6-88B7-FEDB00487919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53448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矩形 70">
            <a:extLst>
              <a:ext uri="{FF2B5EF4-FFF2-40B4-BE49-F238E27FC236}">
                <a16:creationId xmlns:a16="http://schemas.microsoft.com/office/drawing/2014/main" id="{D7BB7894-B112-4D96-9B05-71D3664F57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534E6ED6-E49D-4949-B884-5084717667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A12BE624-FA3E-478D-8B21-707AC02B74E1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371C5AA3-E8D1-4961-AD74-02832E757CD5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64F4E7E2-DEC6-407B-8B50-5C07141D39B6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357D73EC-C543-4CF8-8CDD-DC32E218D81F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924808F8-045E-44B6-A374-971D6E63BFCE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F3E532A2-6D0D-4D56-BAAC-3AB9A717E9FC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E878134E-0704-4AB1-9237-C1DC8ED0C798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2844D867-F31A-4EED-B1EA-1357EE04BCE1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DAEA80F8-579F-4E08-A4AD-E5E277427258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34914543-052A-4E30-99E3-C7352F189F93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1F7E6D7F-F57E-4FB9-818E-F67533598ACB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69C168BB-A6C1-44CA-B22F-6AD042F40D28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DE424293-CE5F-444C-9F17-EB63C3A18036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F95872B7-5ED1-4584-84EA-9E132DB72B55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98105CA4-EB85-4F91-97C5-E560AE85AB8F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0F5CE2A0-B2B6-404B-98A6-90D96B1BF83E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5BEF4743-4D2B-4830-9F7F-BB658A5CD6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AD6DD94E-B960-4CA3-8FAD-C740E382FC3A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E6DECEA2-12B2-4241-AA9F-177AD7F86BE4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F5D3CF43-3C18-4455-90DD-F4C7821E25FF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285A7B12-92CF-4812-B9E0-5DF5A2CEF88A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993C35C0-67D4-40A9-95DD-54AEDC6AEC15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1520062A-884E-41F4-9B50-76ABC383B956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480E9F2E-6650-4BFE-AE8C-F2308F2C4085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81DA891A-1B9A-4601-B01C-7274642664CB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9ADAB4E4-6557-4A92-8508-2906FA56A3B6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DCF1813-DB5E-4C02-ABF6-985272DA15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A980754-839E-4C6E-B893-AB6287E1444A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53194A2-22AD-4AE5-8E05-8F5AE649867B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系统总体架构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126B308-7CB2-4392-A38F-8E170A5AE44A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从 boot 到 fs 的教学内核路径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F8EFE03-8DF1-4672-8482-E66D14DE7FE9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保留真实 OS 机制，但每一层都控制在本科教学可理解范围。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AAE50F87-0A5D-4BB3-AFCD-EF431DAAA5D0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3FB856CA-5B2E-4492-BB97-721AD5149216}"/>
              </a:ext>
            </a:extLst>
          </p:cNvPr>
          <p:cNvSpPr>
            <a:spLocks noGrp="1"/>
          </p:cNvSpPr>
          <p:nvPr/>
        </p:nvSpPr>
        <p:spPr>
          <a:xfrm>
            <a:off x="666750" y="2524125"/>
            <a:ext cx="1476375" cy="781050"/>
          </a:xfrm>
          <a:prstGeom prst="roundRect">
            <a:avLst>
              <a:gd name="adj" fmla="val 9756"/>
            </a:avLst>
          </a:prstGeom>
          <a:solidFill>
            <a:srgbClr val="132940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08F2403-6260-49E6-A685-8330EFAF9A4B}"/>
              </a:ext>
            </a:extLst>
          </p:cNvPr>
          <p:cNvSpPr>
            <a:spLocks noGrp="1"/>
          </p:cNvSpPr>
          <p:nvPr/>
        </p:nvSpPr>
        <p:spPr>
          <a:xfrm>
            <a:off x="819150" y="2657475"/>
            <a:ext cx="117157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boot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A2840BE-A0C1-4C9E-9F8C-AEB4A82A01AF}"/>
              </a:ext>
            </a:extLst>
          </p:cNvPr>
          <p:cNvSpPr>
            <a:spLocks noGrp="1"/>
          </p:cNvSpPr>
          <p:nvPr/>
        </p:nvSpPr>
        <p:spPr>
          <a:xfrm>
            <a:off x="819150" y="2962275"/>
            <a:ext cx="11715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_start / stack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CDC5941-FF61-43A6-A3D8-EBC62943CAAA}"/>
              </a:ext>
            </a:extLst>
          </p:cNvPr>
          <p:cNvSpPr>
            <a:spLocks noGrp="1"/>
          </p:cNvSpPr>
          <p:nvPr/>
        </p:nvSpPr>
        <p:spPr>
          <a:xfrm>
            <a:off x="2571750" y="1790700"/>
            <a:ext cx="1619250" cy="781050"/>
          </a:xfrm>
          <a:prstGeom prst="roundRect">
            <a:avLst>
              <a:gd name="adj" fmla="val 9756"/>
            </a:avLst>
          </a:prstGeom>
          <a:solidFill>
            <a:srgbClr val="132940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AE340F1-7E7D-4C25-B0C8-74B84CC356BD}"/>
              </a:ext>
            </a:extLst>
          </p:cNvPr>
          <p:cNvSpPr>
            <a:spLocks noGrp="1"/>
          </p:cNvSpPr>
          <p:nvPr/>
        </p:nvSpPr>
        <p:spPr>
          <a:xfrm>
            <a:off x="2724150" y="1924050"/>
            <a:ext cx="1314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sbi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DFB96A8-F29C-4B62-8B1A-646DC5DAB70C}"/>
              </a:ext>
            </a:extLst>
          </p:cNvPr>
          <p:cNvSpPr>
            <a:spLocks noGrp="1"/>
          </p:cNvSpPr>
          <p:nvPr/>
        </p:nvSpPr>
        <p:spPr>
          <a:xfrm>
            <a:off x="2724150" y="222885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console / reset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68B75992-C4BD-4126-95C1-9D6B318041EC}"/>
              </a:ext>
            </a:extLst>
          </p:cNvPr>
          <p:cNvSpPr>
            <a:spLocks noGrp="1"/>
          </p:cNvSpPr>
          <p:nvPr/>
        </p:nvSpPr>
        <p:spPr>
          <a:xfrm>
            <a:off x="2571750" y="3238500"/>
            <a:ext cx="1619250" cy="781050"/>
          </a:xfrm>
          <a:prstGeom prst="roundRect">
            <a:avLst>
              <a:gd name="adj" fmla="val 9756"/>
            </a:avLst>
          </a:prstGeom>
          <a:solidFill>
            <a:srgbClr val="132940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5454E77-B2B9-4530-AB50-1822884A02F8}"/>
              </a:ext>
            </a:extLst>
          </p:cNvPr>
          <p:cNvSpPr>
            <a:spLocks noGrp="1"/>
          </p:cNvSpPr>
          <p:nvPr/>
        </p:nvSpPr>
        <p:spPr>
          <a:xfrm>
            <a:off x="2724150" y="3371850"/>
            <a:ext cx="1314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console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6950C43-0563-42A3-B626-652F889C2706}"/>
              </a:ext>
            </a:extLst>
          </p:cNvPr>
          <p:cNvSpPr>
            <a:spLocks noGrp="1"/>
          </p:cNvSpPr>
          <p:nvPr/>
        </p:nvSpPr>
        <p:spPr>
          <a:xfrm>
            <a:off x="2724150" y="3676650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日志输出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582AC395-8C6F-4CDD-8A12-3B758B475564}"/>
              </a:ext>
            </a:extLst>
          </p:cNvPr>
          <p:cNvSpPr>
            <a:spLocks noGrp="1"/>
          </p:cNvSpPr>
          <p:nvPr/>
        </p:nvSpPr>
        <p:spPr>
          <a:xfrm>
            <a:off x="4762500" y="2524125"/>
            <a:ext cx="1619250" cy="781050"/>
          </a:xfrm>
          <a:prstGeom prst="roundRect">
            <a:avLst>
              <a:gd name="adj" fmla="val 9756"/>
            </a:avLst>
          </a:prstGeom>
          <a:solidFill>
            <a:srgbClr val="132940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6C1202B-F32A-4C53-96B9-DF39A4B4FE8E}"/>
              </a:ext>
            </a:extLst>
          </p:cNvPr>
          <p:cNvSpPr>
            <a:spLocks noGrp="1"/>
          </p:cNvSpPr>
          <p:nvPr/>
        </p:nvSpPr>
        <p:spPr>
          <a:xfrm>
            <a:off x="4914900" y="2657475"/>
            <a:ext cx="13144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trap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B2F1FB2-70F2-40EC-BFA3-4F6B6C3A32A0}"/>
              </a:ext>
            </a:extLst>
          </p:cNvPr>
          <p:cNvSpPr>
            <a:spLocks noGrp="1"/>
          </p:cNvSpPr>
          <p:nvPr/>
        </p:nvSpPr>
        <p:spPr>
          <a:xfrm>
            <a:off x="4914900" y="2962275"/>
            <a:ext cx="13144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stvec / scause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59578F07-3D8E-4B4B-80B2-81C36ED08C1F}"/>
              </a:ext>
            </a:extLst>
          </p:cNvPr>
          <p:cNvSpPr>
            <a:spLocks noGrp="1"/>
          </p:cNvSpPr>
          <p:nvPr/>
        </p:nvSpPr>
        <p:spPr>
          <a:xfrm>
            <a:off x="6905625" y="171450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132940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1690290A-0A20-4D10-BB2E-8211F456E3F0}"/>
              </a:ext>
            </a:extLst>
          </p:cNvPr>
          <p:cNvSpPr>
            <a:spLocks noGrp="1"/>
          </p:cNvSpPr>
          <p:nvPr/>
        </p:nvSpPr>
        <p:spPr>
          <a:xfrm>
            <a:off x="7058025" y="1847850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memory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99E109F-1B34-4C53-A55F-0F81841E3C8D}"/>
              </a:ext>
            </a:extLst>
          </p:cNvPr>
          <p:cNvSpPr>
            <a:spLocks noGrp="1"/>
          </p:cNvSpPr>
          <p:nvPr/>
        </p:nvSpPr>
        <p:spPr>
          <a:xfrm>
            <a:off x="7058025" y="215265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frame + Sv39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7B400D9A-B712-43E5-9856-2F49D7FE9DEB}"/>
              </a:ext>
            </a:extLst>
          </p:cNvPr>
          <p:cNvSpPr>
            <a:spLocks noGrp="1"/>
          </p:cNvSpPr>
          <p:nvPr/>
        </p:nvSpPr>
        <p:spPr>
          <a:xfrm>
            <a:off x="9239250" y="171450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132940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137ECED-DFBF-4164-A6D4-578DAC743C62}"/>
              </a:ext>
            </a:extLst>
          </p:cNvPr>
          <p:cNvSpPr>
            <a:spLocks noGrp="1"/>
          </p:cNvSpPr>
          <p:nvPr/>
        </p:nvSpPr>
        <p:spPr>
          <a:xfrm>
            <a:off x="9391650" y="1847850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task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256D6F4-B3A1-485D-860E-75B90901845F}"/>
              </a:ext>
            </a:extLst>
          </p:cNvPr>
          <p:cNvSpPr>
            <a:spLocks noGrp="1"/>
          </p:cNvSpPr>
          <p:nvPr/>
        </p:nvSpPr>
        <p:spPr>
          <a:xfrm>
            <a:off x="9391650" y="215265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yield + switch</a:t>
            </a: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4B8A8D4A-5F15-4AC5-A9E3-7EAE2C10FCA0}"/>
              </a:ext>
            </a:extLst>
          </p:cNvPr>
          <p:cNvSpPr>
            <a:spLocks noGrp="1"/>
          </p:cNvSpPr>
          <p:nvPr/>
        </p:nvSpPr>
        <p:spPr>
          <a:xfrm>
            <a:off x="6905625" y="371475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132940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8E4C7F1-AA04-4F42-B17A-134DE283047D}"/>
              </a:ext>
            </a:extLst>
          </p:cNvPr>
          <p:cNvSpPr>
            <a:spLocks noGrp="1"/>
          </p:cNvSpPr>
          <p:nvPr/>
        </p:nvSpPr>
        <p:spPr>
          <a:xfrm>
            <a:off x="7058025" y="3848100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user/syscall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20B5525-C52D-4122-A156-C00869666353}"/>
              </a:ext>
            </a:extLst>
          </p:cNvPr>
          <p:cNvSpPr>
            <a:spLocks noGrp="1"/>
          </p:cNvSpPr>
          <p:nvPr/>
        </p:nvSpPr>
        <p:spPr>
          <a:xfrm>
            <a:off x="7058025" y="415290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U-mode + ecall</a:t>
            </a: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A0728845-A9CC-4F6D-AC98-B674D15B6A44}"/>
              </a:ext>
            </a:extLst>
          </p:cNvPr>
          <p:cNvSpPr>
            <a:spLocks noGrp="1"/>
          </p:cNvSpPr>
          <p:nvPr/>
        </p:nvSpPr>
        <p:spPr>
          <a:xfrm>
            <a:off x="9239250" y="3714750"/>
            <a:ext cx="1809750" cy="781050"/>
          </a:xfrm>
          <a:prstGeom prst="roundRect">
            <a:avLst>
              <a:gd name="adj" fmla="val 9756"/>
            </a:avLst>
          </a:prstGeom>
          <a:solidFill>
            <a:srgbClr val="132940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8B0BAD8-9BA8-4362-94A2-27B92F366725}"/>
              </a:ext>
            </a:extLst>
          </p:cNvPr>
          <p:cNvSpPr>
            <a:spLocks noGrp="1"/>
          </p:cNvSpPr>
          <p:nvPr/>
        </p:nvSpPr>
        <p:spPr>
          <a:xfrm>
            <a:off x="9391650" y="3848100"/>
            <a:ext cx="1504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8FAFC"/>
                </a:solidFill>
              </a:defRPr>
            </a:pPr>
            <a:r>
              <a:rPr sz="1575" b="1">
                <a:solidFill>
                  <a:srgbClr val="F8FAFC"/>
                </a:solidFill>
              </a:rPr>
              <a:t>fs/drivers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3049EE4-C1A1-4C49-9658-7F9BA2EFA9F5}"/>
              </a:ext>
            </a:extLst>
          </p:cNvPr>
          <p:cNvSpPr>
            <a:spLocks noGrp="1"/>
          </p:cNvSpPr>
          <p:nvPr/>
        </p:nvSpPr>
        <p:spPr>
          <a:xfrm>
            <a:off x="9391650" y="4152900"/>
            <a:ext cx="1504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SimpleFs + RAM</a:t>
            </a:r>
          </a:p>
        </p:txBody>
      </p:sp>
      <p:sp>
        <p:nvSpPr>
          <p:cNvPr id="59" name="直接连接符 58">
            <a:extLst>
              <a:ext uri="{FF2B5EF4-FFF2-40B4-BE49-F238E27FC236}">
                <a16:creationId xmlns:a16="http://schemas.microsoft.com/office/drawing/2014/main" id="{B8C38802-D249-49B0-9D24-CA6C8B382399}"/>
              </a:ext>
            </a:extLst>
          </p:cNvPr>
          <p:cNvSpPr>
            <a:spLocks noGrp="1"/>
          </p:cNvSpPr>
          <p:nvPr/>
        </p:nvSpPr>
        <p:spPr>
          <a:xfrm>
            <a:off x="2143125" y="2209800"/>
            <a:ext cx="428625" cy="704850"/>
          </a:xfrm>
          <a:prstGeom prst="line">
            <a:avLst/>
          </a:prstGeom>
          <a:noFill/>
          <a:ln w="19050">
            <a:solidFill>
              <a:srgbClr val="24425F"/>
            </a:solidFill>
            <a:prstDash val="solid"/>
          </a:ln>
        </p:spPr>
      </p:sp>
      <p:sp>
        <p:nvSpPr>
          <p:cNvPr id="60" name="直接连接符 59">
            <a:extLst>
              <a:ext uri="{FF2B5EF4-FFF2-40B4-BE49-F238E27FC236}">
                <a16:creationId xmlns:a16="http://schemas.microsoft.com/office/drawing/2014/main" id="{BCB3200E-A0B7-4714-8355-6CD45C66BC8B}"/>
              </a:ext>
            </a:extLst>
          </p:cNvPr>
          <p:cNvSpPr>
            <a:spLocks noGrp="1"/>
          </p:cNvSpPr>
          <p:nvPr/>
        </p:nvSpPr>
        <p:spPr>
          <a:xfrm>
            <a:off x="2143125" y="2914650"/>
            <a:ext cx="428625" cy="723900"/>
          </a:xfrm>
          <a:prstGeom prst="line">
            <a:avLst/>
          </a:prstGeom>
          <a:noFill/>
          <a:ln w="19050">
            <a:solidFill>
              <a:srgbClr val="24425F"/>
            </a:solidFill>
            <a:prstDash val="solid"/>
          </a:ln>
        </p:spPr>
      </p:sp>
      <p:sp>
        <p:nvSpPr>
          <p:cNvPr id="61" name="直接连接符 60">
            <a:extLst>
              <a:ext uri="{FF2B5EF4-FFF2-40B4-BE49-F238E27FC236}">
                <a16:creationId xmlns:a16="http://schemas.microsoft.com/office/drawing/2014/main" id="{75C4A267-E9F0-4497-8D75-B878420B8FCC}"/>
              </a:ext>
            </a:extLst>
          </p:cNvPr>
          <p:cNvSpPr>
            <a:spLocks noGrp="1"/>
          </p:cNvSpPr>
          <p:nvPr/>
        </p:nvSpPr>
        <p:spPr>
          <a:xfrm>
            <a:off x="4191000" y="2914650"/>
            <a:ext cx="571500" cy="723900"/>
          </a:xfrm>
          <a:prstGeom prst="line">
            <a:avLst/>
          </a:prstGeom>
          <a:noFill/>
          <a:ln w="19050">
            <a:solidFill>
              <a:srgbClr val="24425F"/>
            </a:solidFill>
            <a:prstDash val="solid"/>
          </a:ln>
        </p:spPr>
      </p:sp>
      <p:sp>
        <p:nvSpPr>
          <p:cNvPr id="62" name="直接连接符 61">
            <a:extLst>
              <a:ext uri="{FF2B5EF4-FFF2-40B4-BE49-F238E27FC236}">
                <a16:creationId xmlns:a16="http://schemas.microsoft.com/office/drawing/2014/main" id="{6D28B3EB-F464-4510-873A-30F7AF0CBF57}"/>
              </a:ext>
            </a:extLst>
          </p:cNvPr>
          <p:cNvSpPr>
            <a:spLocks noGrp="1"/>
          </p:cNvSpPr>
          <p:nvPr/>
        </p:nvSpPr>
        <p:spPr>
          <a:xfrm>
            <a:off x="6381750" y="2105025"/>
            <a:ext cx="523875" cy="809625"/>
          </a:xfrm>
          <a:prstGeom prst="line">
            <a:avLst/>
          </a:prstGeom>
          <a:noFill/>
          <a:ln w="19050">
            <a:solidFill>
              <a:srgbClr val="24425F"/>
            </a:solidFill>
            <a:prstDash val="solid"/>
          </a:ln>
        </p:spPr>
      </p:sp>
      <p:sp>
        <p:nvSpPr>
          <p:cNvPr id="63" name="直接连接符 62">
            <a:extLst>
              <a:ext uri="{FF2B5EF4-FFF2-40B4-BE49-F238E27FC236}">
                <a16:creationId xmlns:a16="http://schemas.microsoft.com/office/drawing/2014/main" id="{0CE4DFA0-C73D-4AEF-A6C7-48F1426F4AC2}"/>
              </a:ext>
            </a:extLst>
          </p:cNvPr>
          <p:cNvSpPr>
            <a:spLocks noGrp="1"/>
          </p:cNvSpPr>
          <p:nvPr/>
        </p:nvSpPr>
        <p:spPr>
          <a:xfrm>
            <a:off x="8715375" y="2105025"/>
            <a:ext cx="523875" cy="0"/>
          </a:xfrm>
          <a:prstGeom prst="line">
            <a:avLst/>
          </a:prstGeom>
          <a:noFill/>
          <a:ln w="19050">
            <a:solidFill>
              <a:srgbClr val="24425F"/>
            </a:solidFill>
            <a:prstDash val="solid"/>
          </a:ln>
        </p:spPr>
      </p:sp>
      <p:sp>
        <p:nvSpPr>
          <p:cNvPr id="64" name="直接连接符 63">
            <a:extLst>
              <a:ext uri="{FF2B5EF4-FFF2-40B4-BE49-F238E27FC236}">
                <a16:creationId xmlns:a16="http://schemas.microsoft.com/office/drawing/2014/main" id="{442D4F1C-4B56-40BA-A096-4A65CE34D6C5}"/>
              </a:ext>
            </a:extLst>
          </p:cNvPr>
          <p:cNvSpPr>
            <a:spLocks noGrp="1"/>
          </p:cNvSpPr>
          <p:nvPr/>
        </p:nvSpPr>
        <p:spPr>
          <a:xfrm>
            <a:off x="6381750" y="2914650"/>
            <a:ext cx="523875" cy="1190625"/>
          </a:xfrm>
          <a:prstGeom prst="line">
            <a:avLst/>
          </a:prstGeom>
          <a:noFill/>
          <a:ln w="19050">
            <a:solidFill>
              <a:srgbClr val="24425F"/>
            </a:solidFill>
            <a:prstDash val="solid"/>
          </a:ln>
        </p:spPr>
      </p:sp>
      <p:sp>
        <p:nvSpPr>
          <p:cNvPr id="65" name="直接连接符 64">
            <a:extLst>
              <a:ext uri="{FF2B5EF4-FFF2-40B4-BE49-F238E27FC236}">
                <a16:creationId xmlns:a16="http://schemas.microsoft.com/office/drawing/2014/main" id="{D9859FE7-B2FE-4A42-A3B4-BCCCCB127BA6}"/>
              </a:ext>
            </a:extLst>
          </p:cNvPr>
          <p:cNvSpPr>
            <a:spLocks noGrp="1"/>
          </p:cNvSpPr>
          <p:nvPr/>
        </p:nvSpPr>
        <p:spPr>
          <a:xfrm>
            <a:off x="8715375" y="4105275"/>
            <a:ext cx="523875" cy="0"/>
          </a:xfrm>
          <a:prstGeom prst="line">
            <a:avLst/>
          </a:prstGeom>
          <a:noFill/>
          <a:ln w="19050">
            <a:solidFill>
              <a:srgbClr val="24425F"/>
            </a:solidFill>
            <a:prstDash val="solid"/>
          </a:ln>
        </p:spPr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89792724-CD82-42F8-8BA7-2FC6F2C201E2}"/>
              </a:ext>
            </a:extLst>
          </p:cNvPr>
          <p:cNvSpPr>
            <a:spLocks noGrp="1"/>
          </p:cNvSpPr>
          <p:nvPr/>
        </p:nvSpPr>
        <p:spPr>
          <a:xfrm>
            <a:off x="1428750" y="5286375"/>
            <a:ext cx="9334500" cy="742950"/>
          </a:xfrm>
          <a:prstGeom prst="roundRect">
            <a:avLst>
              <a:gd name="adj" fmla="val 10256"/>
            </a:avLst>
          </a:prstGeom>
          <a:solidFill>
            <a:srgbClr val="081827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8661BBA1-90D9-467E-A6BF-83FD4BD57B6F}"/>
              </a:ext>
            </a:extLst>
          </p:cNvPr>
          <p:cNvSpPr>
            <a:spLocks noGrp="1"/>
          </p:cNvSpPr>
          <p:nvPr/>
        </p:nvSpPr>
        <p:spPr>
          <a:xfrm>
            <a:off x="1428750" y="5286375"/>
            <a:ext cx="57150" cy="7429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23387FF-589C-4848-928F-7DF3BB29994B}"/>
              </a:ext>
            </a:extLst>
          </p:cNvPr>
          <p:cNvSpPr>
            <a:spLocks noGrp="1"/>
          </p:cNvSpPr>
          <p:nvPr/>
        </p:nvSpPr>
        <p:spPr>
          <a:xfrm>
            <a:off x="1619250" y="5400675"/>
            <a:ext cx="895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架构亮点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D0DC6717-9669-4AEF-8B25-127BE0A144F9}"/>
              </a:ext>
            </a:extLst>
          </p:cNvPr>
          <p:cNvSpPr>
            <a:spLocks noGrp="1"/>
          </p:cNvSpPr>
          <p:nvPr/>
        </p:nvSpPr>
        <p:spPr>
          <a:xfrm>
            <a:off x="1638300" y="5686425"/>
            <a:ext cx="8915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模块顺序与实验顺序一致，学生看到的代码结构和课程路线一致。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测试脚本贯穿所有模块，用稳定 marker 验证真实行为。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F850FF80-6F6E-4A28-8F31-4B03261CBAC4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677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矩形 60">
            <a:extLst>
              <a:ext uri="{FF2B5EF4-FFF2-40B4-BE49-F238E27FC236}">
                <a16:creationId xmlns:a16="http://schemas.microsoft.com/office/drawing/2014/main" id="{A6C7DE6A-2D5A-4779-A7D5-98CAD22C70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273A7A8C-D764-41D0-9AD8-E78AF3312A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560DEF38-A3DF-41AD-A2EF-49EE72A7C2FB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49E2AADC-EFF0-408D-A29E-71B826A6D431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2383D4A-AB1B-4C44-817B-137C44449E71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F257FE50-7D0A-491B-85A4-BE18CF5C5EAA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31E7A898-FDFE-4956-8455-0752D4E047DF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778FE331-409B-4BE8-865B-BAD79FE79B54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1E7F911F-A8C9-4A51-8682-24F2D097DE72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C00F01B5-C78F-4333-A07F-FEB0926013D5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F6B35534-3FE0-4EA7-878F-56A1D483C304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0684F04E-0FFC-4435-84EB-E3C582DA0590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8DB1EBBF-D690-4E91-BB21-269B1E172935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124E1463-13AF-42CE-87A9-8A15AEF74533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E6F46F2E-40A8-4B34-9CD3-B0625EAEC3D0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EF57346E-96F8-4829-8C47-59CA970B4AE1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57E310B7-8DF8-43D0-BF51-8DF094B47FDF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0350D810-0AB6-4A17-B747-DB2B48A6CBBD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89043C4B-59D5-45BC-9B40-B6D1CFEFB4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3DFCF672-EFFC-4620-9FBA-3AE6DF53D680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25D06277-5CBF-49DB-ADD2-EBF240BEAA6C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D9C8DBC0-9632-4732-9A4E-F225FFBCCE36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8E1CC9E5-094A-4BAB-8AB6-9978AAAD202C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A533E1BB-F544-44DA-89D5-85ADAE62D2A0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E6A35C14-EDA9-4071-8F1C-03B2280CF9E4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A9386221-92EF-4863-B1C1-DAECF099F39A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37F14587-2B76-407C-99CE-4C3F2289E23A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90F69CF3-CE7F-4429-9C3A-49C6B26A21D3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0EB80F8-F2D5-4E9C-8227-8C44F3B23C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35FE191-3500-4342-9FA1-9E9FD2B414FD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48C4F0C-AD33-43D9-9250-0E1FC2462A05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分支与教学材料架构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F7AA262-AE0D-4307-A089-152A97799710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学生、教师、评委各有入口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CCD035A-054A-46A2-A5F1-17957FFCB4BC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Git 分支不只是版本管理，也承担教学组织和答案隔离。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D9B8AF2E-6ECF-48B3-A8A6-A9DB437009D3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A292FB2-3AF2-4305-A1EB-DA57050BB690}"/>
              </a:ext>
            </a:extLst>
          </p:cNvPr>
          <p:cNvSpPr>
            <a:spLocks noGrp="1"/>
          </p:cNvSpPr>
          <p:nvPr/>
        </p:nvSpPr>
        <p:spPr>
          <a:xfrm>
            <a:off x="838200" y="2305050"/>
            <a:ext cx="3048000" cy="2190750"/>
          </a:xfrm>
          <a:prstGeom prst="roundRect">
            <a:avLst>
              <a:gd name="adj" fmla="val 3478"/>
            </a:avLst>
          </a:prstGeom>
          <a:solidFill>
            <a:srgbClr val="102033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E2E33E4-F484-4B6E-8CDC-2731FBB4314E}"/>
              </a:ext>
            </a:extLst>
          </p:cNvPr>
          <p:cNvSpPr>
            <a:spLocks noGrp="1"/>
          </p:cNvSpPr>
          <p:nvPr/>
        </p:nvSpPr>
        <p:spPr>
          <a:xfrm>
            <a:off x="838200" y="2305050"/>
            <a:ext cx="57150" cy="21907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BB6F486-E18E-4217-A7E9-B7D59FFCD38E}"/>
              </a:ext>
            </a:extLst>
          </p:cNvPr>
          <p:cNvSpPr>
            <a:spLocks noGrp="1"/>
          </p:cNvSpPr>
          <p:nvPr/>
        </p:nvSpPr>
        <p:spPr>
          <a:xfrm>
            <a:off x="1085850" y="255270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39D5FF"/>
                </a:solidFill>
              </a:defRPr>
            </a:pPr>
            <a:r>
              <a:rPr sz="2250" b="1">
                <a:solidFill>
                  <a:srgbClr val="39D5FF"/>
                </a:solidFill>
              </a:rPr>
              <a:t>学生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F2345B7-7DEC-4976-8C9D-7AA4529D4B7A}"/>
              </a:ext>
            </a:extLst>
          </p:cNvPr>
          <p:cNvSpPr>
            <a:spLocks noGrp="1"/>
          </p:cNvSpPr>
          <p:nvPr/>
        </p:nvSpPr>
        <p:spPr>
          <a:xfrm>
            <a:off x="1085850" y="302895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6101D"/>
          </a:solidFill>
          <a:ln w="9525">
            <a:solidFill>
              <a:srgbClr val="1E3A56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58A25AA-EC1D-4507-B993-3278258F70E3}"/>
              </a:ext>
            </a:extLst>
          </p:cNvPr>
          <p:cNvSpPr>
            <a:spLocks noGrp="1"/>
          </p:cNvSpPr>
          <p:nvPr/>
        </p:nvSpPr>
        <p:spPr>
          <a:xfrm>
            <a:off x="1257300" y="3181350"/>
            <a:ext cx="21336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labN-starter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B0C7546-96E9-42FC-B196-0748C931AC9B}"/>
              </a:ext>
            </a:extLst>
          </p:cNvPr>
          <p:cNvSpPr>
            <a:spLocks noGrp="1"/>
          </p:cNvSpPr>
          <p:nvPr/>
        </p:nvSpPr>
        <p:spPr>
          <a:xfrm>
            <a:off x="1085850" y="3667125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README / TASKS / HINTS / TESTING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C8C2A22D-3296-4D4D-AE2B-ACBACD8A3A87}"/>
              </a:ext>
            </a:extLst>
          </p:cNvPr>
          <p:cNvSpPr>
            <a:spLocks noGrp="1"/>
          </p:cNvSpPr>
          <p:nvPr/>
        </p:nvSpPr>
        <p:spPr>
          <a:xfrm>
            <a:off x="1085850" y="417195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不包含参考答案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A5F7146C-B43A-4908-ADBE-B5F4D446A055}"/>
              </a:ext>
            </a:extLst>
          </p:cNvPr>
          <p:cNvSpPr>
            <a:spLocks noGrp="1"/>
          </p:cNvSpPr>
          <p:nvPr/>
        </p:nvSpPr>
        <p:spPr>
          <a:xfrm>
            <a:off x="4505325" y="2305050"/>
            <a:ext cx="3048000" cy="2190750"/>
          </a:xfrm>
          <a:prstGeom prst="roundRect">
            <a:avLst>
              <a:gd name="adj" fmla="val 3478"/>
            </a:avLst>
          </a:prstGeom>
          <a:solidFill>
            <a:srgbClr val="102033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9D89521-88F4-4DFE-ACF1-67AE7860BC95}"/>
              </a:ext>
            </a:extLst>
          </p:cNvPr>
          <p:cNvSpPr>
            <a:spLocks noGrp="1"/>
          </p:cNvSpPr>
          <p:nvPr/>
        </p:nvSpPr>
        <p:spPr>
          <a:xfrm>
            <a:off x="4505325" y="2305050"/>
            <a:ext cx="57150" cy="219075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EDB97A4-BA51-414B-92A7-01046EAD956E}"/>
              </a:ext>
            </a:extLst>
          </p:cNvPr>
          <p:cNvSpPr>
            <a:spLocks noGrp="1"/>
          </p:cNvSpPr>
          <p:nvPr/>
        </p:nvSpPr>
        <p:spPr>
          <a:xfrm>
            <a:off x="4752975" y="255270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22C55E"/>
                </a:solidFill>
              </a:defRPr>
            </a:pPr>
            <a:r>
              <a:rPr sz="2250" b="1">
                <a:solidFill>
                  <a:srgbClr val="22C55E"/>
                </a:solidFill>
              </a:rPr>
              <a:t>教师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6B06840-688E-4991-BA83-B9AB1148D95F}"/>
              </a:ext>
            </a:extLst>
          </p:cNvPr>
          <p:cNvSpPr>
            <a:spLocks noGrp="1"/>
          </p:cNvSpPr>
          <p:nvPr/>
        </p:nvSpPr>
        <p:spPr>
          <a:xfrm>
            <a:off x="4752975" y="302895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6101D"/>
          </a:solidFill>
          <a:ln w="9525">
            <a:solidFill>
              <a:srgbClr val="1E3A56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D3C61B2-A5B8-4F30-9C3B-46B22258B429}"/>
              </a:ext>
            </a:extLst>
          </p:cNvPr>
          <p:cNvSpPr>
            <a:spLocks noGrp="1"/>
          </p:cNvSpPr>
          <p:nvPr/>
        </p:nvSpPr>
        <p:spPr>
          <a:xfrm>
            <a:off x="4924425" y="3181350"/>
            <a:ext cx="21336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labN-solution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B25DB39-7386-4B94-84B0-C8E0E14CAAC6}"/>
              </a:ext>
            </a:extLst>
          </p:cNvPr>
          <p:cNvSpPr>
            <a:spLocks noGrp="1"/>
          </p:cNvSpPr>
          <p:nvPr/>
        </p:nvSpPr>
        <p:spPr>
          <a:xfrm>
            <a:off x="4752975" y="3667125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SOLUTION / TEACHER_GUIDE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47C311CC-D759-4F71-81B8-6C4609A44740}"/>
              </a:ext>
            </a:extLst>
          </p:cNvPr>
          <p:cNvSpPr>
            <a:spLocks noGrp="1"/>
          </p:cNvSpPr>
          <p:nvPr/>
        </p:nvSpPr>
        <p:spPr>
          <a:xfrm>
            <a:off x="4752975" y="417195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包含参考实现与验收说明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9037CB93-DD88-4708-965C-992D2DCCB285}"/>
              </a:ext>
            </a:extLst>
          </p:cNvPr>
          <p:cNvSpPr>
            <a:spLocks noGrp="1"/>
          </p:cNvSpPr>
          <p:nvPr/>
        </p:nvSpPr>
        <p:spPr>
          <a:xfrm>
            <a:off x="8172450" y="2305050"/>
            <a:ext cx="3048000" cy="2190750"/>
          </a:xfrm>
          <a:prstGeom prst="roundRect">
            <a:avLst>
              <a:gd name="adj" fmla="val 3478"/>
            </a:avLst>
          </a:prstGeom>
          <a:solidFill>
            <a:srgbClr val="102033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BF265E18-8BF4-430C-9F43-12512FBF5B31}"/>
              </a:ext>
            </a:extLst>
          </p:cNvPr>
          <p:cNvSpPr>
            <a:spLocks noGrp="1"/>
          </p:cNvSpPr>
          <p:nvPr/>
        </p:nvSpPr>
        <p:spPr>
          <a:xfrm>
            <a:off x="8172450" y="2305050"/>
            <a:ext cx="57150" cy="219075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D82F022-19D4-4FDA-9B39-43F61098FAA2}"/>
              </a:ext>
            </a:extLst>
          </p:cNvPr>
          <p:cNvSpPr>
            <a:spLocks noGrp="1"/>
          </p:cNvSpPr>
          <p:nvPr/>
        </p:nvSpPr>
        <p:spPr>
          <a:xfrm>
            <a:off x="8420100" y="255270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FDBA74"/>
                </a:solidFill>
              </a:defRPr>
            </a:pPr>
            <a:r>
              <a:rPr sz="2250" b="1">
                <a:solidFill>
                  <a:srgbClr val="FDBA74"/>
                </a:solidFill>
              </a:rPr>
              <a:t>评委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6E505835-8687-4CD2-8621-E0B881B65A5C}"/>
              </a:ext>
            </a:extLst>
          </p:cNvPr>
          <p:cNvSpPr>
            <a:spLocks noGrp="1"/>
          </p:cNvSpPr>
          <p:nvPr/>
        </p:nvSpPr>
        <p:spPr>
          <a:xfrm>
            <a:off x="8420100" y="3028950"/>
            <a:ext cx="2476500" cy="438150"/>
          </a:xfrm>
          <a:prstGeom prst="roundRect">
            <a:avLst>
              <a:gd name="adj" fmla="val 17391"/>
            </a:avLst>
          </a:prstGeom>
          <a:solidFill>
            <a:srgbClr val="06101D"/>
          </a:solidFill>
          <a:ln w="9525">
            <a:solidFill>
              <a:srgbClr val="1E3A56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785C1561-7D67-42D2-9F00-F9AB4E7CD062}"/>
              </a:ext>
            </a:extLst>
          </p:cNvPr>
          <p:cNvSpPr>
            <a:spLocks noGrp="1"/>
          </p:cNvSpPr>
          <p:nvPr/>
        </p:nvSpPr>
        <p:spPr>
          <a:xfrm>
            <a:off x="8591550" y="3181350"/>
            <a:ext cx="21336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39D5FF"/>
                </a:solidFill>
              </a:defRPr>
            </a:pPr>
            <a:r>
              <a:rPr sz="1200" b="0">
                <a:solidFill>
                  <a:srgbClr val="39D5FF"/>
                </a:solidFill>
              </a:rPr>
              <a:t>main / lab7-solution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C6E18737-1F1B-402E-9FE7-F9DFC90A9E00}"/>
              </a:ext>
            </a:extLst>
          </p:cNvPr>
          <p:cNvSpPr>
            <a:spLocks noGrp="1"/>
          </p:cNvSpPr>
          <p:nvPr/>
        </p:nvSpPr>
        <p:spPr>
          <a:xfrm>
            <a:off x="8420100" y="3667125"/>
            <a:ext cx="2476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A9BAD0"/>
                </a:solidFill>
              </a:defRPr>
            </a:pPr>
            <a:r>
              <a:rPr sz="1275" b="0">
                <a:solidFill>
                  <a:srgbClr val="A9BAD0"/>
                </a:solidFill>
              </a:rPr>
              <a:t>DESIGN.md / demo-script / tests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210A806-0A33-45EC-BC02-1B7F8EFDBCAD}"/>
              </a:ext>
            </a:extLst>
          </p:cNvPr>
          <p:cNvSpPr>
            <a:spLocks noGrp="1"/>
          </p:cNvSpPr>
          <p:nvPr/>
        </p:nvSpPr>
        <p:spPr>
          <a:xfrm>
            <a:off x="8420100" y="4171950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8FAFC"/>
                </a:solidFill>
              </a:defRPr>
            </a:pPr>
            <a:r>
              <a:rPr sz="1200" b="0">
                <a:solidFill>
                  <a:srgbClr val="F8FAFC"/>
                </a:solidFill>
              </a:rPr>
              <a:t>完整成果与提交材料</a:t>
            </a: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A0563C3-30C8-4843-A666-C143E34DE13E}"/>
              </a:ext>
            </a:extLst>
          </p:cNvPr>
          <p:cNvSpPr>
            <a:spLocks noGrp="1"/>
          </p:cNvSpPr>
          <p:nvPr/>
        </p:nvSpPr>
        <p:spPr>
          <a:xfrm>
            <a:off x="1619250" y="5219700"/>
            <a:ext cx="8953500" cy="609600"/>
          </a:xfrm>
          <a:prstGeom prst="roundRect">
            <a:avLst>
              <a:gd name="adj" fmla="val 12500"/>
            </a:avLst>
          </a:prstGeom>
          <a:solidFill>
            <a:srgbClr val="081827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92AB8F70-154E-4BE6-924A-AA34C0B52F9B}"/>
              </a:ext>
            </a:extLst>
          </p:cNvPr>
          <p:cNvSpPr>
            <a:spLocks noGrp="1"/>
          </p:cNvSpPr>
          <p:nvPr/>
        </p:nvSpPr>
        <p:spPr>
          <a:xfrm>
            <a:off x="1619250" y="5219700"/>
            <a:ext cx="57150" cy="60960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57192B-1029-4F52-A653-39C007F98C2C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为什么这样设计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4144A323-B126-4C0F-8A10-37E269CF112C}"/>
              </a:ext>
            </a:extLst>
          </p:cNvPr>
          <p:cNvSpPr>
            <a:spLocks noGrp="1"/>
          </p:cNvSpPr>
          <p:nvPr/>
        </p:nvSpPr>
        <p:spPr>
          <a:xfrm>
            <a:off x="1828800" y="5619750"/>
            <a:ext cx="85344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starter 适合发布给学生，solution 适合教师讲解和评分，main 适合评委直接浏览最终成果。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41D446D7-C5B9-46E6-822C-1F8CB5F421E9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804551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>
            <a:extLst>
              <a:ext uri="{FF2B5EF4-FFF2-40B4-BE49-F238E27FC236}">
                <a16:creationId xmlns:a16="http://schemas.microsoft.com/office/drawing/2014/main" id="{10DDBB9B-0EEA-4046-8A96-4A6B8CE2EE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602AB432-4A8C-422A-B62A-4AA0D55C9C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780E8F1D-7573-4B9E-9829-B364BB2BBBD8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6A1F643-3DB6-4413-AEC1-FB67DC71FF70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15507DB-0F18-4F25-9578-FF1783073B18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03412108-4B4C-4097-AB07-B8C17FA459FA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7F5B3ACF-DDCB-4D27-9879-8048590553E7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3AE16735-9FE7-4A4F-AC04-D99994BCB1F1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7010D72D-61F9-4869-A059-82F5507F78C1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178DA5DA-47E8-4362-ACF7-DFCDE7F88B44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7E7DB9DC-D027-4928-94F6-2C1782FB298B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392B77DB-1118-42A2-8997-CDE50331A5C3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DC80F377-51AD-4019-915C-6CB2A46BD766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1F45E731-B6FC-4492-B96B-3358578CFA1E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CC860043-876E-4B65-91AB-F99FE693387B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65B8BC0A-66D6-45D8-8C6A-9EF50277C64A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0F35DC4D-9507-4B3E-BC5E-38784414C8D8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06FF1539-6F1F-4270-AC9A-281E14C9FD12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51482E2C-511E-4F68-BBE5-CC1CA7FCEB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1BD2081E-AB44-43C3-995B-E36C6794F0FD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7E72B71C-0608-47AB-B57C-196F7F4A9D83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F09EBAD0-8D28-4BBF-9907-F127AD00B878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0D18B26A-B3DB-4414-A449-5640A48BD74B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84EAF6F5-DAD7-4921-A117-7FB080C85BA6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B464B98D-0BBC-49AC-AC77-300E6520B6B4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8952AD58-27C1-4520-BF75-7411729EC387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ECEF3CF4-9A30-4B1D-B8DE-7DAA3E7E92A9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945238F5-5139-4606-8D4A-4F862A623430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A6A4B5A-1570-49C4-8682-D642E7AC8F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C3819B7-61E3-4E5D-90CE-1E78B6F1BB52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27FDF38-B145-4B2F-ADA2-F7C102DD1338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P0 与 Lab1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461A5C6-3998-43EC-81E9-56C47DED25A3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从第一条启动日志进入内核世界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A204BCA-3F28-492F-A550-EE39D9CE767F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先建立可运行基线，再让学生理解 boot、启动栈、SBI 输出和正常关机。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EC792A42-B853-4E78-9C5E-B224997791F0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718787FC-31D8-4C62-B783-0854DDCA23E3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3714750" cy="3105150"/>
          </a:xfrm>
          <a:prstGeom prst="roundRect">
            <a:avLst>
              <a:gd name="adj" fmla="val 2454"/>
            </a:avLst>
          </a:prstGeom>
          <a:solidFill>
            <a:srgbClr val="102033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1C65745-1A33-4C99-99DE-3BD1442243DC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57150" cy="31051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3100984-E8B4-408E-89C6-33EB06C52771}"/>
              </a:ext>
            </a:extLst>
          </p:cNvPr>
          <p:cNvSpPr>
            <a:spLocks noGrp="1"/>
          </p:cNvSpPr>
          <p:nvPr/>
        </p:nvSpPr>
        <p:spPr>
          <a:xfrm>
            <a:off x="933450" y="2362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39D5FF"/>
                </a:solidFill>
              </a:defRPr>
            </a:pPr>
            <a:r>
              <a:rPr sz="2025" b="1">
                <a:solidFill>
                  <a:srgbClr val="39D5FF"/>
                </a:solidFill>
              </a:rPr>
              <a:t>实验设计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4DD1FDC-C4E9-4E15-B5A8-2DFD4A978377}"/>
              </a:ext>
            </a:extLst>
          </p:cNvPr>
          <p:cNvSpPr>
            <a:spLocks noGrp="1"/>
          </p:cNvSpPr>
          <p:nvPr/>
        </p:nvSpPr>
        <p:spPr>
          <a:xfrm>
            <a:off x="990600" y="2895600"/>
            <a:ext cx="285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P0 建立 Rust/RISC-V/QEMU 运行闭环。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Lab1 把启动流程变成可观察日志。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学生理解 _start、启动栈与 kernel_main。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170EA04-65C1-4409-879F-B69A0ED8858A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89EEFDE-3891-4939-9B6C-8275D732E903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boot.rs / sbi.rs / console.rs；不改测试脚本和链接脚本。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9EC91DB5-9BCE-48D0-A63F-A893BB3740A2}"/>
              </a:ext>
            </a:extLst>
          </p:cNvPr>
          <p:cNvSpPr>
            <a:spLocks noGrp="1"/>
          </p:cNvSpPr>
          <p:nvPr/>
        </p:nvSpPr>
        <p:spPr>
          <a:xfrm>
            <a:off x="4857750" y="2114550"/>
            <a:ext cx="6381750" cy="3105150"/>
          </a:xfrm>
          <a:prstGeom prst="roundRect">
            <a:avLst>
              <a:gd name="adj" fmla="val 2454"/>
            </a:avLst>
          </a:prstGeom>
          <a:solidFill>
            <a:srgbClr val="0A192B"/>
          </a:solidFill>
          <a:ln w="9525">
            <a:solidFill>
              <a:srgbClr val="24425F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E593320-5DE0-4780-BDF3-45B075822919}"/>
              </a:ext>
            </a:extLst>
          </p:cNvPr>
          <p:cNvSpPr>
            <a:spLocks noGrp="1"/>
          </p:cNvSpPr>
          <p:nvPr/>
        </p:nvSpPr>
        <p:spPr>
          <a:xfrm>
            <a:off x="5143500" y="23622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76708ABF-5B54-4D95-83BD-0308210BADAB}"/>
              </a:ext>
            </a:extLst>
          </p:cNvPr>
          <p:cNvSpPr>
            <a:spLocks noGrp="1"/>
          </p:cNvSpPr>
          <p:nvPr/>
        </p:nvSpPr>
        <p:spPr>
          <a:xfrm>
            <a:off x="5143500" y="2952750"/>
            <a:ext cx="342900" cy="342900"/>
          </a:xfrm>
          <a:prstGeom prst="ellipse">
            <a:avLst/>
          </a:prstGeom>
          <a:solidFill>
            <a:srgbClr val="39D5FF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19A9198-4BD8-440C-85E2-A0C01E1D7315}"/>
              </a:ext>
            </a:extLst>
          </p:cNvPr>
          <p:cNvSpPr>
            <a:spLocks noGrp="1"/>
          </p:cNvSpPr>
          <p:nvPr/>
        </p:nvSpPr>
        <p:spPr>
          <a:xfrm>
            <a:off x="5143500" y="30194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18954C0-DDA1-45CF-95B2-FE8683EA4F6F}"/>
              </a:ext>
            </a:extLst>
          </p:cNvPr>
          <p:cNvSpPr>
            <a:spLocks noGrp="1"/>
          </p:cNvSpPr>
          <p:nvPr/>
        </p:nvSpPr>
        <p:spPr>
          <a:xfrm>
            <a:off x="5638800" y="28575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理解内核启动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4A91BF0-9282-48D0-A6A4-579A1A62B928}"/>
              </a:ext>
            </a:extLst>
          </p:cNvPr>
          <p:cNvSpPr>
            <a:spLocks noGrp="1"/>
          </p:cNvSpPr>
          <p:nvPr/>
        </p:nvSpPr>
        <p:spPr>
          <a:xfrm>
            <a:off x="5638800" y="31527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识别入口、启动栈和 Rust kernel_main，输出 Lab1-T1。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865F6B43-87C1-46A9-B74E-DB68B6C7B26C}"/>
              </a:ext>
            </a:extLst>
          </p:cNvPr>
          <p:cNvSpPr>
            <a:spLocks noGrp="1"/>
          </p:cNvSpPr>
          <p:nvPr/>
        </p:nvSpPr>
        <p:spPr>
          <a:xfrm>
            <a:off x="5143500" y="3771900"/>
            <a:ext cx="342900" cy="342900"/>
          </a:xfrm>
          <a:prstGeom prst="ellipse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E0B0B7A-F3A7-4A74-8B94-A3A42ADB97E7}"/>
              </a:ext>
            </a:extLst>
          </p:cNvPr>
          <p:cNvSpPr>
            <a:spLocks noGrp="1"/>
          </p:cNvSpPr>
          <p:nvPr/>
        </p:nvSpPr>
        <p:spPr>
          <a:xfrm>
            <a:off x="5143500" y="38385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68BBD6F-DB5E-4C57-8FC9-53EFAA552CD1}"/>
              </a:ext>
            </a:extLst>
          </p:cNvPr>
          <p:cNvSpPr>
            <a:spLocks noGrp="1"/>
          </p:cNvSpPr>
          <p:nvPr/>
        </p:nvSpPr>
        <p:spPr>
          <a:xfrm>
            <a:off x="5638800" y="36766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实现 SBI 输出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C8080AA-BF58-4FB9-A66F-9B117E3D4A29}"/>
              </a:ext>
            </a:extLst>
          </p:cNvPr>
          <p:cNvSpPr>
            <a:spLocks noGrp="1"/>
          </p:cNvSpPr>
          <p:nvPr/>
        </p:nvSpPr>
        <p:spPr>
          <a:xfrm>
            <a:off x="5638800" y="397192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完成字符/字符串输出接口，输出 Lab1-T2。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5637130-0D91-48F4-AEF2-CCC6E026FABE}"/>
              </a:ext>
            </a:extLst>
          </p:cNvPr>
          <p:cNvSpPr>
            <a:spLocks noGrp="1"/>
          </p:cNvSpPr>
          <p:nvPr/>
        </p:nvSpPr>
        <p:spPr>
          <a:xfrm>
            <a:off x="5143500" y="4591050"/>
            <a:ext cx="342900" cy="342900"/>
          </a:xfrm>
          <a:prstGeom prst="ellipse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206AFBD5-D0BD-4CEB-AA25-24D7F8026DE6}"/>
              </a:ext>
            </a:extLst>
          </p:cNvPr>
          <p:cNvSpPr>
            <a:spLocks noGrp="1"/>
          </p:cNvSpPr>
          <p:nvPr/>
        </p:nvSpPr>
        <p:spPr>
          <a:xfrm>
            <a:off x="5143500" y="46577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ACBA62D-3F24-4F93-82E6-A1547271C0BF}"/>
              </a:ext>
            </a:extLst>
          </p:cNvPr>
          <p:cNvSpPr>
            <a:spLocks noGrp="1"/>
          </p:cNvSpPr>
          <p:nvPr/>
        </p:nvSpPr>
        <p:spPr>
          <a:xfrm>
            <a:off x="5638800" y="44958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启动日志与退出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3AD5EF5-3C52-46C2-9C8B-2703B08039B3}"/>
              </a:ext>
            </a:extLst>
          </p:cNvPr>
          <p:cNvSpPr>
            <a:spLocks noGrp="1"/>
          </p:cNvSpPr>
          <p:nvPr/>
        </p:nvSpPr>
        <p:spPr>
          <a:xfrm>
            <a:off x="5638800" y="47910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组织完整启动日志并通过 SBI reset 退出 QEMU。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B4D3816D-A9F0-491A-8637-B8CE56E425D5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9620250" cy="952500"/>
          </a:xfrm>
          <a:prstGeom prst="roundRect">
            <a:avLst>
              <a:gd name="adj" fmla="val 8000"/>
            </a:avLst>
          </a:prstGeom>
          <a:solidFill>
            <a:srgbClr val="081827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9A7D8EE2-54AE-4234-BBDB-CA8C99B7DD19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57150" cy="95250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D46EB620-927C-4AA7-9C3C-969B56895F18}"/>
              </a:ext>
            </a:extLst>
          </p:cNvPr>
          <p:cNvSpPr>
            <a:spLocks noGrp="1"/>
          </p:cNvSpPr>
          <p:nvPr/>
        </p:nvSpPr>
        <p:spPr>
          <a:xfrm>
            <a:off x="1381125" y="5372100"/>
            <a:ext cx="923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验收输出与亮点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66DB5D3-E97F-449D-9D1A-4C3F2C97393A}"/>
              </a:ext>
            </a:extLst>
          </p:cNvPr>
          <p:cNvSpPr>
            <a:spLocks noGrp="1"/>
          </p:cNvSpPr>
          <p:nvPr/>
        </p:nvSpPr>
        <p:spPr>
          <a:xfrm>
            <a:off x="1400175" y="5657850"/>
            <a:ext cx="920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关键输出：`[Lab1-T1] PASS`、`[Lab1-T2] PASS`、`[Lab1] PASS`。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亮点：第一节课就能看到真实内核在 QEMU 中启动和退出。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A9F769C-7C0A-45DC-A0B7-36275E2A6FF5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7030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>
            <a:extLst>
              <a:ext uri="{FF2B5EF4-FFF2-40B4-BE49-F238E27FC236}">
                <a16:creationId xmlns:a16="http://schemas.microsoft.com/office/drawing/2014/main" id="{0944109A-1A12-489D-9CAE-A3E19CF9E1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CFDF6254-EDB8-464B-876D-847F87FDB2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F49FC857-D9D1-48BF-95AC-0D3F002FFCE9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040CC96-FB98-45AC-B561-437C0F2B2AA8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816E1A1-7ABE-4208-98EF-961DF95E4520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6187F0C0-56C6-4123-B9AC-FC7E07AAF4E9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673FF3A9-5C9D-4D20-9B00-851693231DDE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8A59C130-6B41-441A-96B3-98F44B6F699F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3BC3D301-CD80-43CC-A546-47B1B058186B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305E262D-D60D-4114-A86B-25FFC2DD105B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98C819E4-9E7A-425B-AD78-2B0773500F90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B03EF1A7-AE19-43E9-9FF3-B3481F038EC8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236B6CCA-2951-4EB7-9EDE-A0238CCB0A4D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C8DE98EF-C111-4B77-9BE8-391381BBA9C7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08F3D5AD-8747-4E21-9FB1-2A8D9DBA8A8D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A761FA6F-270B-4838-9108-B205B203637F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DF7E4D18-4FB3-4768-9A2B-55F3E0305FF4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42C07F42-371C-4E28-919E-2C125389971B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5D7627F0-EF5C-4D7C-BDD1-F615FCBB2F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78A93D44-6CF4-46FF-9693-834441CD8DFC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543D08A3-9FE4-4465-841E-CB183550DEE9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BE43FAA4-4BAC-4EB1-B0E7-DD43FEE3C2FC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844BECC5-A1BB-4604-90F5-960BA16363CA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D8FB467A-3B07-4C8F-BBFA-CABB9EEA2504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9480BB0E-8E47-464F-B2A6-F2C58322AEA9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06B4241A-19EA-410C-864F-345DEB7D2633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3482BA82-ED1C-4F04-8842-FA6BC2E74497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B4D22508-DD4C-4CF1-B68D-5AE7D75AEF15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9A0B571-1243-4C65-B91F-6DCB992CCB1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BA2EE1E-CDD1-4ADC-8C74-8264E4D9DFA1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C96913D-88C6-4F69-83A0-CCB43B0EAD51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Lab2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CE22B81-28B4-4D94-9BF2-F86D3ACCCA1B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Trap 与异常处理：让 CPU 异常变成可观察流程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0F8D89C-5305-4D28-B466-FBF202D3243B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Lab2 选择 breakpoint 作为低风险入口，讲清 stvec、scause、sepc 和 stval。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FC4015C7-A53E-4C12-ABE8-F5C92446F23E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6848A4CC-F79F-45AE-8CC6-C3ABE5DA5D96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3714750" cy="3105150"/>
          </a:xfrm>
          <a:prstGeom prst="roundRect">
            <a:avLst>
              <a:gd name="adj" fmla="val 2454"/>
            </a:avLst>
          </a:prstGeom>
          <a:solidFill>
            <a:srgbClr val="102033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7C555B0-DBBD-4B4D-BB39-D6BF3C9D294F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57150" cy="310515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578076A-CF88-499A-9FBC-E95D2C2897E3}"/>
              </a:ext>
            </a:extLst>
          </p:cNvPr>
          <p:cNvSpPr>
            <a:spLocks noGrp="1"/>
          </p:cNvSpPr>
          <p:nvPr/>
        </p:nvSpPr>
        <p:spPr>
          <a:xfrm>
            <a:off x="933450" y="2362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C4792F7-72B8-4B40-B0E9-313D143860AF}"/>
              </a:ext>
            </a:extLst>
          </p:cNvPr>
          <p:cNvSpPr>
            <a:spLocks noGrp="1"/>
          </p:cNvSpPr>
          <p:nvPr/>
        </p:nvSpPr>
        <p:spPr>
          <a:xfrm>
            <a:off x="990600" y="2895600"/>
            <a:ext cx="285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设置 stvec 指向 trap 入口。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读取 scause/sepc/stval 解释异常来源。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处理 breakpoint 后推进 sepc，避免重复异常。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BA279CB-97A4-455B-9D17-BEA81F2D41AF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D42E331-E611-43E1-AC9A-9CD1A02505F1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trap.rs 与 trap 入口汇编；不引入内存管理、任务和系统调用。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4611B19-EB05-4E48-9BC0-6690B07C007F}"/>
              </a:ext>
            </a:extLst>
          </p:cNvPr>
          <p:cNvSpPr>
            <a:spLocks noGrp="1"/>
          </p:cNvSpPr>
          <p:nvPr/>
        </p:nvSpPr>
        <p:spPr>
          <a:xfrm>
            <a:off x="4857750" y="2114550"/>
            <a:ext cx="6381750" cy="3105150"/>
          </a:xfrm>
          <a:prstGeom prst="roundRect">
            <a:avLst>
              <a:gd name="adj" fmla="val 2454"/>
            </a:avLst>
          </a:prstGeom>
          <a:solidFill>
            <a:srgbClr val="0A192B"/>
          </a:solidFill>
          <a:ln w="9525">
            <a:solidFill>
              <a:srgbClr val="24425F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759BDF4-0253-41D7-A4E0-129E97E70DF8}"/>
              </a:ext>
            </a:extLst>
          </p:cNvPr>
          <p:cNvSpPr>
            <a:spLocks noGrp="1"/>
          </p:cNvSpPr>
          <p:nvPr/>
        </p:nvSpPr>
        <p:spPr>
          <a:xfrm>
            <a:off x="5143500" y="23622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77F44A81-DFFA-4648-8BC0-E6AB94EEA13E}"/>
              </a:ext>
            </a:extLst>
          </p:cNvPr>
          <p:cNvSpPr>
            <a:spLocks noGrp="1"/>
          </p:cNvSpPr>
          <p:nvPr/>
        </p:nvSpPr>
        <p:spPr>
          <a:xfrm>
            <a:off x="5143500" y="2952750"/>
            <a:ext cx="342900" cy="342900"/>
          </a:xfrm>
          <a:prstGeom prst="ellipse">
            <a:avLst/>
          </a:prstGeom>
          <a:solidFill>
            <a:srgbClr val="39D5FF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60DF2F9-7DA4-4F39-87E0-1C713008F3E1}"/>
              </a:ext>
            </a:extLst>
          </p:cNvPr>
          <p:cNvSpPr>
            <a:spLocks noGrp="1"/>
          </p:cNvSpPr>
          <p:nvPr/>
        </p:nvSpPr>
        <p:spPr>
          <a:xfrm>
            <a:off x="5143500" y="30194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65858FA-9FD1-40D0-B766-6AF07A1222A1}"/>
              </a:ext>
            </a:extLst>
          </p:cNvPr>
          <p:cNvSpPr>
            <a:spLocks noGrp="1"/>
          </p:cNvSpPr>
          <p:nvPr/>
        </p:nvSpPr>
        <p:spPr>
          <a:xfrm>
            <a:off x="5638800" y="28575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配置 trap 入口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4252353-C297-4CFC-9EA6-D43FB3871321}"/>
              </a:ext>
            </a:extLst>
          </p:cNvPr>
          <p:cNvSpPr>
            <a:spLocks noGrp="1"/>
          </p:cNvSpPr>
          <p:nvPr/>
        </p:nvSpPr>
        <p:spPr>
          <a:xfrm>
            <a:off x="5638800" y="31527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设置 stvec 并确认异常进入内核处理路径。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4F9420D-6E63-4768-ACF0-803D3D835158}"/>
              </a:ext>
            </a:extLst>
          </p:cNvPr>
          <p:cNvSpPr>
            <a:spLocks noGrp="1"/>
          </p:cNvSpPr>
          <p:nvPr/>
        </p:nvSpPr>
        <p:spPr>
          <a:xfrm>
            <a:off x="5143500" y="3771900"/>
            <a:ext cx="342900" cy="342900"/>
          </a:xfrm>
          <a:prstGeom prst="ellipse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C62F64C-BE76-469A-9F5F-E592E140C708}"/>
              </a:ext>
            </a:extLst>
          </p:cNvPr>
          <p:cNvSpPr>
            <a:spLocks noGrp="1"/>
          </p:cNvSpPr>
          <p:nvPr/>
        </p:nvSpPr>
        <p:spPr>
          <a:xfrm>
            <a:off x="5143500" y="38385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3AE7BB3-3345-492D-AEBE-94B1C5B8AB82}"/>
              </a:ext>
            </a:extLst>
          </p:cNvPr>
          <p:cNvSpPr>
            <a:spLocks noGrp="1"/>
          </p:cNvSpPr>
          <p:nvPr/>
        </p:nvSpPr>
        <p:spPr>
          <a:xfrm>
            <a:off x="5638800" y="36766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解析异常寄存器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959B4F4-698E-4666-9319-BD4E161CCD20}"/>
              </a:ext>
            </a:extLst>
          </p:cNvPr>
          <p:cNvSpPr>
            <a:spLocks noGrp="1"/>
          </p:cNvSpPr>
          <p:nvPr/>
        </p:nvSpPr>
        <p:spPr>
          <a:xfrm>
            <a:off x="5638800" y="397192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读取 scause、sepc、stval，识别 breakpoint。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5D1FE388-892C-411B-97C6-E4E737E66B78}"/>
              </a:ext>
            </a:extLst>
          </p:cNvPr>
          <p:cNvSpPr>
            <a:spLocks noGrp="1"/>
          </p:cNvSpPr>
          <p:nvPr/>
        </p:nvSpPr>
        <p:spPr>
          <a:xfrm>
            <a:off x="5143500" y="4591050"/>
            <a:ext cx="342900" cy="342900"/>
          </a:xfrm>
          <a:prstGeom prst="ellipse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45E88D2-F98C-4F8F-9AE4-08662AD04EA2}"/>
              </a:ext>
            </a:extLst>
          </p:cNvPr>
          <p:cNvSpPr>
            <a:spLocks noGrp="1"/>
          </p:cNvSpPr>
          <p:nvPr/>
        </p:nvSpPr>
        <p:spPr>
          <a:xfrm>
            <a:off x="5143500" y="46577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1EDA028-BA37-4AD7-B97F-290494A63C52}"/>
              </a:ext>
            </a:extLst>
          </p:cNvPr>
          <p:cNvSpPr>
            <a:spLocks noGrp="1"/>
          </p:cNvSpPr>
          <p:nvPr/>
        </p:nvSpPr>
        <p:spPr>
          <a:xfrm>
            <a:off x="5638800" y="44958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恢复执行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4D08CF7-A72C-470A-9C02-125240D929AA}"/>
              </a:ext>
            </a:extLst>
          </p:cNvPr>
          <p:cNvSpPr>
            <a:spLocks noGrp="1"/>
          </p:cNvSpPr>
          <p:nvPr/>
        </p:nvSpPr>
        <p:spPr>
          <a:xfrm>
            <a:off x="5638800" y="47910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正确推进 sepc 并返回，输出最终 Lab2 PASS。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3E41F285-7453-464E-B582-B619C22CB9CD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9620250" cy="952500"/>
          </a:xfrm>
          <a:prstGeom prst="roundRect">
            <a:avLst>
              <a:gd name="adj" fmla="val 8000"/>
            </a:avLst>
          </a:prstGeom>
          <a:solidFill>
            <a:srgbClr val="081827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1322369-84C3-496B-A17B-422AE07BEE11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57150" cy="95250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E56C463C-0384-4D4A-AD80-743B411EB496}"/>
              </a:ext>
            </a:extLst>
          </p:cNvPr>
          <p:cNvSpPr>
            <a:spLocks noGrp="1"/>
          </p:cNvSpPr>
          <p:nvPr/>
        </p:nvSpPr>
        <p:spPr>
          <a:xfrm>
            <a:off x="1381125" y="5372100"/>
            <a:ext cx="923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C09483A-0D67-48ED-8A8F-8CAE3F338BBD}"/>
              </a:ext>
            </a:extLst>
          </p:cNvPr>
          <p:cNvSpPr>
            <a:spLocks noGrp="1"/>
          </p:cNvSpPr>
          <p:nvPr/>
        </p:nvSpPr>
        <p:spPr>
          <a:xfrm>
            <a:off x="1400175" y="5657850"/>
            <a:ext cx="920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关键输出：`[Lab2-T1] PASS`、`[Lab2-T2] PASS`、`[Lab2] PASS`。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难点：`sepc += 4` 是避免同一条 ebreak 反复触发的关键。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3BD6071-7840-4F57-AD46-88A5D3099BA3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44719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>
            <a:extLst>
              <a:ext uri="{FF2B5EF4-FFF2-40B4-BE49-F238E27FC236}">
                <a16:creationId xmlns:a16="http://schemas.microsoft.com/office/drawing/2014/main" id="{F52C6D50-0FA5-4B43-B258-E5637B7B72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041800E7-7D6B-4C2B-9946-F51FAE0C2DF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52165DD-B2AE-4660-8E8F-F94E7B0F8F52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E02F3D2A-9072-46E9-98F4-94C333299CDC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0B423D0-CBB9-46CD-A91B-75D5A79D2DE9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58025F5E-A690-43DD-AADF-7D8541A7FE23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B82FB372-8A13-411E-AD20-A916C24CF55B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6659BAEA-AF07-45BE-9F6B-B10C43ED3F2E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B0E5A850-6564-4E9F-8777-2D03F34C8811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91883FEF-379D-49EA-B556-278C6CEEC9F8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4026D0DB-E9DE-4637-8349-6397F7B1119C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7B6BAFD7-444B-49AD-B406-A08852C88724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8C917725-4A11-4E8B-A5BD-5890FBA02855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E9BA574D-62F4-4B13-8D8D-8914042A17AE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9ADB62AE-FBF3-49DA-9BAC-55FAD8FFCF33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183F8DCE-9935-4152-B896-083C7B88CAF0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EFEE700D-161C-40EB-82A8-E3F62CED4255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FE8D86CA-D7D2-46C4-BA3E-6DB1375A2156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259096F0-A043-4521-A800-26A459D41F1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2C8169A-61E5-4087-B22B-8222BC747AE6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6F91D07A-0C82-44E5-8F3D-573C9599240C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4817F866-AABE-49C5-88DA-1C4F45F72895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0194FD85-1FB3-4699-B0E9-4C7CEB47EFBA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27C14905-0C4D-41E0-BBDA-E2173DE1ABD5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0ADE6F6C-3863-467D-A222-FBAB86690019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D8D64C2F-20FA-4BD9-9F64-EC22D0D9ED0E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49720D5B-DF3E-4AD4-BE99-617A3E567A03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D4912700-BDB3-4E27-9574-B43E5F669213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470D097-9392-4DF2-AAB8-C4347DAC3C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4453AA2-6F9C-4643-B11F-14FA27820C38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14E3622-3209-4B8D-9E45-4AE96E6F5AA0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Lab3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0336B33-8E5E-435C-B67E-1A1D28259872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物理内存管理：从地址计算到页帧分配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2B6352D-C601-46C7-A5A2-FD5F38A5C4E9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用 PhysAddr、PPN 和 FrameAllocator 讲清内核如何管理 4 KiB 物理页。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2CC56B4E-5C85-4EA5-87EE-7A535ECD0CC3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B744BE7-780E-4369-BAA2-24F7F4538713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3714750" cy="3105150"/>
          </a:xfrm>
          <a:prstGeom prst="roundRect">
            <a:avLst>
              <a:gd name="adj" fmla="val 2454"/>
            </a:avLst>
          </a:prstGeom>
          <a:solidFill>
            <a:srgbClr val="102033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7A1D206-FCF5-456C-9D77-F49EC24B4D06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57150" cy="310515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DA03C1C-477C-4750-8661-D93217C020A5}"/>
              </a:ext>
            </a:extLst>
          </p:cNvPr>
          <p:cNvSpPr>
            <a:spLocks noGrp="1"/>
          </p:cNvSpPr>
          <p:nvPr/>
        </p:nvSpPr>
        <p:spPr>
          <a:xfrm>
            <a:off x="933450" y="2362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2C55E"/>
                </a:solidFill>
              </a:defRPr>
            </a:pPr>
            <a:r>
              <a:rPr sz="2025" b="1">
                <a:solidFill>
                  <a:srgbClr val="22C55E"/>
                </a:solidFill>
              </a:rPr>
              <a:t>实验设计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D8670A8-933F-48AC-AEBF-BA612E22313E}"/>
              </a:ext>
            </a:extLst>
          </p:cNvPr>
          <p:cNvSpPr>
            <a:spLocks noGrp="1"/>
          </p:cNvSpPr>
          <p:nvPr/>
        </p:nvSpPr>
        <p:spPr>
          <a:xfrm>
            <a:off x="990600" y="2895600"/>
            <a:ext cx="285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PAGE_SIZE 固定为 4 KiB。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分配起点来自链接脚本 ekernel，避免覆盖内核镜像。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实现分配、释放、复用、非法释放和重复释放检测。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D07A4FC-82BE-4A13-83CA-A9C32FFD69A2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F76C2D4-B64A-48F0-9B36-55E89FF31C53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memory/address.rs 与 frame_allocator.rs；不实现 Sv39 页表。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736E8F4-1D3A-4DD9-86AB-4C1A0803F507}"/>
              </a:ext>
            </a:extLst>
          </p:cNvPr>
          <p:cNvSpPr>
            <a:spLocks noGrp="1"/>
          </p:cNvSpPr>
          <p:nvPr/>
        </p:nvSpPr>
        <p:spPr>
          <a:xfrm>
            <a:off x="4857750" y="2114550"/>
            <a:ext cx="6381750" cy="3105150"/>
          </a:xfrm>
          <a:prstGeom prst="roundRect">
            <a:avLst>
              <a:gd name="adj" fmla="val 2454"/>
            </a:avLst>
          </a:prstGeom>
          <a:solidFill>
            <a:srgbClr val="0A192B"/>
          </a:solidFill>
          <a:ln w="9525">
            <a:solidFill>
              <a:srgbClr val="24425F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7563A70-3AAE-4424-9676-2BF409DCF782}"/>
              </a:ext>
            </a:extLst>
          </p:cNvPr>
          <p:cNvSpPr>
            <a:spLocks noGrp="1"/>
          </p:cNvSpPr>
          <p:nvPr/>
        </p:nvSpPr>
        <p:spPr>
          <a:xfrm>
            <a:off x="5143500" y="23622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F701E6CA-E47C-4B87-B8F4-796044B3E7D4}"/>
              </a:ext>
            </a:extLst>
          </p:cNvPr>
          <p:cNvSpPr>
            <a:spLocks noGrp="1"/>
          </p:cNvSpPr>
          <p:nvPr/>
        </p:nvSpPr>
        <p:spPr>
          <a:xfrm>
            <a:off x="5143500" y="2952750"/>
            <a:ext cx="342900" cy="342900"/>
          </a:xfrm>
          <a:prstGeom prst="ellipse">
            <a:avLst/>
          </a:prstGeom>
          <a:solidFill>
            <a:srgbClr val="39D5FF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32D90C0-B80A-4FF1-8495-94D6C0ACE47E}"/>
              </a:ext>
            </a:extLst>
          </p:cNvPr>
          <p:cNvSpPr>
            <a:spLocks noGrp="1"/>
          </p:cNvSpPr>
          <p:nvPr/>
        </p:nvSpPr>
        <p:spPr>
          <a:xfrm>
            <a:off x="5143500" y="30194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9B47690-591E-47DF-BA09-BE550F263BCF}"/>
              </a:ext>
            </a:extLst>
          </p:cNvPr>
          <p:cNvSpPr>
            <a:spLocks noGrp="1"/>
          </p:cNvSpPr>
          <p:nvPr/>
        </p:nvSpPr>
        <p:spPr>
          <a:xfrm>
            <a:off x="5638800" y="28575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地址与页号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BD38F4F-625D-4ED7-A3C9-BE312B6718A8}"/>
              </a:ext>
            </a:extLst>
          </p:cNvPr>
          <p:cNvSpPr>
            <a:spLocks noGrp="1"/>
          </p:cNvSpPr>
          <p:nvPr/>
        </p:nvSpPr>
        <p:spPr>
          <a:xfrm>
            <a:off x="5638800" y="31527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完成 floor、ceil、page_offset 与地址/页号转换。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AEB83F9-1BF7-452D-AF7E-154DC65684A7}"/>
              </a:ext>
            </a:extLst>
          </p:cNvPr>
          <p:cNvSpPr>
            <a:spLocks noGrp="1"/>
          </p:cNvSpPr>
          <p:nvPr/>
        </p:nvSpPr>
        <p:spPr>
          <a:xfrm>
            <a:off x="5143500" y="3771900"/>
            <a:ext cx="342900" cy="342900"/>
          </a:xfrm>
          <a:prstGeom prst="ellipse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33373C5C-F12A-4B18-BD0F-524382FE4E9F}"/>
              </a:ext>
            </a:extLst>
          </p:cNvPr>
          <p:cNvSpPr>
            <a:spLocks noGrp="1"/>
          </p:cNvSpPr>
          <p:nvPr/>
        </p:nvSpPr>
        <p:spPr>
          <a:xfrm>
            <a:off x="5143500" y="38385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E9C6657-538B-4C98-9F4A-E1327E2CC3C0}"/>
              </a:ext>
            </a:extLst>
          </p:cNvPr>
          <p:cNvSpPr>
            <a:spLocks noGrp="1"/>
          </p:cNvSpPr>
          <p:nvPr/>
        </p:nvSpPr>
        <p:spPr>
          <a:xfrm>
            <a:off x="5638800" y="36766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初始化与分配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8E9D90F-404C-4BDB-B2CE-1093B25A5DA0}"/>
              </a:ext>
            </a:extLst>
          </p:cNvPr>
          <p:cNvSpPr>
            <a:spLocks noGrp="1"/>
          </p:cNvSpPr>
          <p:nvPr/>
        </p:nvSpPr>
        <p:spPr>
          <a:xfrm>
            <a:off x="5638800" y="397192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初始化可用物理页范围，实现基本 alloc。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682A3937-9B35-4314-B88F-41EFD5DD2757}"/>
              </a:ext>
            </a:extLst>
          </p:cNvPr>
          <p:cNvSpPr>
            <a:spLocks noGrp="1"/>
          </p:cNvSpPr>
          <p:nvPr/>
        </p:nvSpPr>
        <p:spPr>
          <a:xfrm>
            <a:off x="5143500" y="4591050"/>
            <a:ext cx="342900" cy="342900"/>
          </a:xfrm>
          <a:prstGeom prst="ellipse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2AF55132-C210-474F-BAB4-4C54333C762F}"/>
              </a:ext>
            </a:extLst>
          </p:cNvPr>
          <p:cNvSpPr>
            <a:spLocks noGrp="1"/>
          </p:cNvSpPr>
          <p:nvPr/>
        </p:nvSpPr>
        <p:spPr>
          <a:xfrm>
            <a:off x="5143500" y="46577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093E89A3-89FA-4561-9854-33C06A73F520}"/>
              </a:ext>
            </a:extLst>
          </p:cNvPr>
          <p:cNvSpPr>
            <a:spLocks noGrp="1"/>
          </p:cNvSpPr>
          <p:nvPr/>
        </p:nvSpPr>
        <p:spPr>
          <a:xfrm>
            <a:off x="5638800" y="44958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释放与错误检查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7FB67B60-D52A-4DE3-AB64-7069BF5A2DE9}"/>
              </a:ext>
            </a:extLst>
          </p:cNvPr>
          <p:cNvSpPr>
            <a:spLocks noGrp="1"/>
          </p:cNvSpPr>
          <p:nvPr/>
        </p:nvSpPr>
        <p:spPr>
          <a:xfrm>
            <a:off x="5638800" y="47910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dealloc、回收复用、非法释放和重复释放检测。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142EAF7-0CC1-4172-9ED2-F7B4A37A1E0F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9620250" cy="952500"/>
          </a:xfrm>
          <a:prstGeom prst="roundRect">
            <a:avLst>
              <a:gd name="adj" fmla="val 8000"/>
            </a:avLst>
          </a:prstGeom>
          <a:solidFill>
            <a:srgbClr val="081827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8C374396-333D-4F16-88EC-39817C1614C8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57150" cy="95250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8A74FD8-BBC5-4F3C-84A0-BE2702BB3F25}"/>
              </a:ext>
            </a:extLst>
          </p:cNvPr>
          <p:cNvSpPr>
            <a:spLocks noGrp="1"/>
          </p:cNvSpPr>
          <p:nvPr/>
        </p:nvSpPr>
        <p:spPr>
          <a:xfrm>
            <a:off x="1381125" y="5372100"/>
            <a:ext cx="923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验收输出与亮点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2B37302B-F071-45FD-BDC5-BEFCDA5AA547}"/>
              </a:ext>
            </a:extLst>
          </p:cNvPr>
          <p:cNvSpPr>
            <a:spLocks noGrp="1"/>
          </p:cNvSpPr>
          <p:nvPr/>
        </p:nvSpPr>
        <p:spPr>
          <a:xfrm>
            <a:off x="1400175" y="5657850"/>
            <a:ext cx="920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主机单测覆盖地址计算和分配器边界；QEMU 验证真实物理页分配。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亮点：学生能看到内核占用区不会被分配器覆盖。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4D9D706-CF4E-4E31-95B0-66B42D4CFC06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04741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>
            <a:extLst>
              <a:ext uri="{FF2B5EF4-FFF2-40B4-BE49-F238E27FC236}">
                <a16:creationId xmlns:a16="http://schemas.microsoft.com/office/drawing/2014/main" id="{184CC606-5A00-478A-A10B-0A9481DFB3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81685741-6D30-469F-A936-9C4031625B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75A7F649-A02D-4CE6-BF98-0779C7CC9875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BA8186AD-CD1E-4823-A597-9425FCB2034C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103AB99-C3A6-464B-A26B-684701C63F96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145BBFD3-B8BD-4868-9613-FB1473EE2F89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41511553-DCE7-4A5F-B8A6-3572EA0D4C53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B44E2036-781C-4429-AB7F-AA5B6790A2A5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6933E3AE-6121-4FDD-9AA0-FBA5B71F4316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63F9B37A-D199-4966-A808-439EAB24C2DC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3EBDB39D-7B42-4381-B54E-B7A3062861AB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5FA0D7E2-9CE2-4E91-952A-8B59A310B175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B583AD96-BC96-4BE8-AB99-A7B778659F56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8333FB1C-D29D-4AF9-9144-E674ABD2FE05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9DEDC6AF-EC2E-4AB4-99A5-B969B94EA6A5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9336EC77-63DD-42E0-A988-C5919F978820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AB5BD5F0-FE28-45FA-A20A-9C4A1DE7A518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56D20F13-B60E-4EDF-802F-531B165DBDB0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311BE21B-6EEC-470F-8BD8-448A727AFB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0FDF27F5-C6AC-4C0B-A3EE-54886F11107B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09D06809-C0A6-4C17-B6E5-9A62F9470D5A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5347ACB1-41AB-4890-B1CA-B9275AC3E19E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70E49D0B-66D7-42A4-8586-6AE7EE30A118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8FCD07F5-8645-44FB-8129-BECBA2AD492A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2D1CE831-EFE4-4215-81C4-8391A57BE11C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AC5C11C1-CC77-41CB-889C-C6F0756DAF53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D13304E7-63A5-4CFF-A5D2-9D7CB8087862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B087F1B5-5C12-4BDF-BF86-C907811A20F5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CB31F60-CC72-4CDB-A0E1-5B2B545F54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E66AB90-7971-4D51-8E6C-84BD4A53382E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299F6DE-1FEF-4A77-915E-D32C067B5EB3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C1A089D-E781-434A-874E-5D071798BEEC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Sv39 虚拟内存：把地址空间机制讲清楚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B5BC43-F58F-40D6-B473-5FF3E7D3491E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第一版采用恒等映射，降低高地址内核复杂度，把重点放在页表和权限。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C397B5F3-1AA2-4F01-ADA2-5E9F17B7B445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C7810A2A-5247-4DEC-BA7D-75428512EAB7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3714750" cy="3105150"/>
          </a:xfrm>
          <a:prstGeom prst="roundRect">
            <a:avLst>
              <a:gd name="adj" fmla="val 2454"/>
            </a:avLst>
          </a:prstGeom>
          <a:solidFill>
            <a:srgbClr val="102033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EEB51DA9-6934-4A74-8F6B-7937F9924ADB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57150" cy="31051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640D1B4-4AA0-489E-B6CB-7A8F69AEC402}"/>
              </a:ext>
            </a:extLst>
          </p:cNvPr>
          <p:cNvSpPr>
            <a:spLocks noGrp="1"/>
          </p:cNvSpPr>
          <p:nvPr/>
        </p:nvSpPr>
        <p:spPr>
          <a:xfrm>
            <a:off x="933450" y="2362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39D5FF"/>
                </a:solidFill>
              </a:defRPr>
            </a:pPr>
            <a:r>
              <a:rPr sz="2025" b="1">
                <a:solidFill>
                  <a:srgbClr val="39D5FF"/>
                </a:solidFill>
              </a:rPr>
              <a:t>实验设计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32C2C3C-A123-4527-B337-9EFEEECCE70A}"/>
              </a:ext>
            </a:extLst>
          </p:cNvPr>
          <p:cNvSpPr>
            <a:spLocks noGrp="1"/>
          </p:cNvSpPr>
          <p:nvPr/>
        </p:nvSpPr>
        <p:spPr>
          <a:xfrm>
            <a:off x="990600" y="2895600"/>
            <a:ext cx="285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VirtAddr/VPN 计算三级索引。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PTE 管理 PPN 与 V/R/W/X/U/A/D。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固定容量结构保存页表页所有权。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CA95A86-0135-43AC-BE41-07D18EEB264D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A455450-AFBB-473F-9CDD-F8E40B2DF1B0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virtual_address.rs / page_table.rs；不引入任务、用户态和文件系统。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20BA40F-AE2A-4D00-ABF1-66F42BC3C2E1}"/>
              </a:ext>
            </a:extLst>
          </p:cNvPr>
          <p:cNvSpPr>
            <a:spLocks noGrp="1"/>
          </p:cNvSpPr>
          <p:nvPr/>
        </p:nvSpPr>
        <p:spPr>
          <a:xfrm>
            <a:off x="4857750" y="2114550"/>
            <a:ext cx="6381750" cy="3105150"/>
          </a:xfrm>
          <a:prstGeom prst="roundRect">
            <a:avLst>
              <a:gd name="adj" fmla="val 2454"/>
            </a:avLst>
          </a:prstGeom>
          <a:solidFill>
            <a:srgbClr val="0A192B"/>
          </a:solidFill>
          <a:ln w="9525">
            <a:solidFill>
              <a:srgbClr val="24425F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78A037A-D326-4629-855D-9C3F89F84A7A}"/>
              </a:ext>
            </a:extLst>
          </p:cNvPr>
          <p:cNvSpPr>
            <a:spLocks noGrp="1"/>
          </p:cNvSpPr>
          <p:nvPr/>
        </p:nvSpPr>
        <p:spPr>
          <a:xfrm>
            <a:off x="5143500" y="23622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E12343BB-E711-4C3E-BE92-32A2B0527F78}"/>
              </a:ext>
            </a:extLst>
          </p:cNvPr>
          <p:cNvSpPr>
            <a:spLocks noGrp="1"/>
          </p:cNvSpPr>
          <p:nvPr/>
        </p:nvSpPr>
        <p:spPr>
          <a:xfrm>
            <a:off x="5143500" y="2952750"/>
            <a:ext cx="342900" cy="342900"/>
          </a:xfrm>
          <a:prstGeom prst="ellipse">
            <a:avLst/>
          </a:prstGeom>
          <a:solidFill>
            <a:srgbClr val="39D5FF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28EBF78-9D50-4712-B4A8-8FB3BD3081CF}"/>
              </a:ext>
            </a:extLst>
          </p:cNvPr>
          <p:cNvSpPr>
            <a:spLocks noGrp="1"/>
          </p:cNvSpPr>
          <p:nvPr/>
        </p:nvSpPr>
        <p:spPr>
          <a:xfrm>
            <a:off x="5143500" y="30194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C77A916-5389-471C-9C59-9F8E59566B51}"/>
              </a:ext>
            </a:extLst>
          </p:cNvPr>
          <p:cNvSpPr>
            <a:spLocks noGrp="1"/>
          </p:cNvSpPr>
          <p:nvPr/>
        </p:nvSpPr>
        <p:spPr>
          <a:xfrm>
            <a:off x="5638800" y="28575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地址与 PTE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B476FE19-1507-4B6C-A52C-1E6B5AB79AEE}"/>
              </a:ext>
            </a:extLst>
          </p:cNvPr>
          <p:cNvSpPr>
            <a:spLocks noGrp="1"/>
          </p:cNvSpPr>
          <p:nvPr/>
        </p:nvSpPr>
        <p:spPr>
          <a:xfrm>
            <a:off x="5638800" y="31527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实现虚拟地址转换、VPN 索引和 PTE 标志读取。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1A5771EB-AE9B-4187-860D-F86DBB4C38CC}"/>
              </a:ext>
            </a:extLst>
          </p:cNvPr>
          <p:cNvSpPr>
            <a:spLocks noGrp="1"/>
          </p:cNvSpPr>
          <p:nvPr/>
        </p:nvSpPr>
        <p:spPr>
          <a:xfrm>
            <a:off x="5143500" y="3771900"/>
            <a:ext cx="342900" cy="342900"/>
          </a:xfrm>
          <a:prstGeom prst="ellipse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E6D5097-E335-4531-9B67-0491ED120FA8}"/>
              </a:ext>
            </a:extLst>
          </p:cNvPr>
          <p:cNvSpPr>
            <a:spLocks noGrp="1"/>
          </p:cNvSpPr>
          <p:nvPr/>
        </p:nvSpPr>
        <p:spPr>
          <a:xfrm>
            <a:off x="5143500" y="38385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4B7968FB-75FB-4915-9400-5B476581BCB4}"/>
              </a:ext>
            </a:extLst>
          </p:cNvPr>
          <p:cNvSpPr>
            <a:spLocks noGrp="1"/>
          </p:cNvSpPr>
          <p:nvPr/>
        </p:nvSpPr>
        <p:spPr>
          <a:xfrm>
            <a:off x="5638800" y="36766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页表操作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789578F-764C-490A-ADA7-CE91F6A1B6ED}"/>
              </a:ext>
            </a:extLst>
          </p:cNvPr>
          <p:cNvSpPr>
            <a:spLocks noGrp="1"/>
          </p:cNvSpPr>
          <p:nvPr/>
        </p:nvSpPr>
        <p:spPr>
          <a:xfrm>
            <a:off x="5638800" y="397192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find_pte_create、map、unmap、translate。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CA0AE8C-7EE8-4F88-A9BA-993E69E212EC}"/>
              </a:ext>
            </a:extLst>
          </p:cNvPr>
          <p:cNvSpPr>
            <a:spLocks noGrp="1"/>
          </p:cNvSpPr>
          <p:nvPr/>
        </p:nvSpPr>
        <p:spPr>
          <a:xfrm>
            <a:off x="5143500" y="4591050"/>
            <a:ext cx="342900" cy="342900"/>
          </a:xfrm>
          <a:prstGeom prst="ellipse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FC472A9-0F76-4068-89EA-101FB459F4EF}"/>
              </a:ext>
            </a:extLst>
          </p:cNvPr>
          <p:cNvSpPr>
            <a:spLocks noGrp="1"/>
          </p:cNvSpPr>
          <p:nvPr/>
        </p:nvSpPr>
        <p:spPr>
          <a:xfrm>
            <a:off x="5143500" y="46577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F5719F38-BD73-4723-9121-ADA4EFE24362}"/>
              </a:ext>
            </a:extLst>
          </p:cNvPr>
          <p:cNvSpPr>
            <a:spLocks noGrp="1"/>
          </p:cNvSpPr>
          <p:nvPr/>
        </p:nvSpPr>
        <p:spPr>
          <a:xfrm>
            <a:off x="5638800" y="44958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启用分页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A431AE25-8867-4630-B28B-9EB17125B3D6}"/>
              </a:ext>
            </a:extLst>
          </p:cNvPr>
          <p:cNvSpPr>
            <a:spLocks noGrp="1"/>
          </p:cNvSpPr>
          <p:nvPr/>
        </p:nvSpPr>
        <p:spPr>
          <a:xfrm>
            <a:off x="5638800" y="47910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建立内核恒等映射，写 satp 并执行 sfence.vma。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29A7C7FD-3DFF-485F-9242-991044F40D7C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9620250" cy="952500"/>
          </a:xfrm>
          <a:prstGeom prst="roundRect">
            <a:avLst>
              <a:gd name="adj" fmla="val 8000"/>
            </a:avLst>
          </a:prstGeom>
          <a:solidFill>
            <a:srgbClr val="081827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FC64DEB-D009-474F-8BE1-96C027A56D33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57150" cy="95250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2AEFF5E7-8836-4D89-A069-E5372B82BA24}"/>
              </a:ext>
            </a:extLst>
          </p:cNvPr>
          <p:cNvSpPr>
            <a:spLocks noGrp="1"/>
          </p:cNvSpPr>
          <p:nvPr/>
        </p:nvSpPr>
        <p:spPr>
          <a:xfrm>
            <a:off x="1381125" y="5372100"/>
            <a:ext cx="923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39D5FF"/>
                </a:solidFill>
              </a:defRPr>
            </a:pPr>
            <a:r>
              <a:rPr sz="1425" b="1">
                <a:solidFill>
                  <a:srgbClr val="39D5FF"/>
                </a:solidFill>
              </a:rPr>
              <a:t>验收输出与亮点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A46E17D-D681-40CF-B817-23B273E5E1E6}"/>
              </a:ext>
            </a:extLst>
          </p:cNvPr>
          <p:cNvSpPr>
            <a:spLocks noGrp="1"/>
          </p:cNvSpPr>
          <p:nvPr/>
        </p:nvSpPr>
        <p:spPr>
          <a:xfrm>
            <a:off x="1400175" y="5657850"/>
            <a:ext cx="920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关键输出：`page table built`、`satp activated`、`paging is active`、`[Lab4] PASS`。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亮点：按段设置权限，不把全部内存简单设为 RWX。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A54BC9A-1092-42F0-90B0-F8CDB11DCA36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608130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>
            <a:extLst>
              <a:ext uri="{FF2B5EF4-FFF2-40B4-BE49-F238E27FC236}">
                <a16:creationId xmlns:a16="http://schemas.microsoft.com/office/drawing/2014/main" id="{6B58C4ED-2315-4C1B-9F02-63310FC3A2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EC699422-A527-4D4E-A10E-0510EE340E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972BD4B-96CE-40F6-8AFB-155FE9E8715E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D61E93F0-27CF-4989-9456-ADC08D0104AC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F9828DAD-D6C8-4BBD-BAF6-89EF21EEC5A0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4E3D62A5-5F68-4CF5-B2A7-A6710DB6DA7C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3B1BD127-92AF-42E0-AF2D-824910FDC3FB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3E7C45D8-4683-4768-8968-CB635BC4D9FF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6BBF7B0C-D329-4C5D-A879-476D0F086004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B41F631F-4017-4087-9E21-1AD63C0EE04A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43D805DB-09F7-4A49-B03E-908C04792D21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A7D6B689-70EC-42A8-BA3E-1DB8DE118298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F0095535-926D-46CE-8285-10261804B047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03E78E26-041E-4671-8192-812499ACE305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D5190BEB-4F6D-40B9-A53B-F15D9A383471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D4E25A6B-D21E-4943-BAB3-A42E1FD0DBEF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268FF9B0-C75F-415C-9DB7-E79992E74DF0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78D2A9A7-2F0E-4FC0-97E2-CA0FCD4AF6FF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794AF008-F7C9-45F9-B7CB-54D67F5909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C88F3833-E445-45A4-99D4-12CFB58DD6B4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7CD16D76-9577-4DD2-9757-6597246F9ECE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E900E800-2AC0-40C1-89B0-EEF1ECAEAB4F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C4BD7D81-1658-4D1A-A51E-E8DA5CAC6268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EEDEE731-59A7-4430-AA0C-30F3A577E960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FF03558E-062B-4452-9523-F1F201EADDDB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5215E057-1CC4-481F-AA6C-3E7CBCF3090E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64FE443B-D0D5-4F4F-8905-9B76B414F8DA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DB3530D7-9145-4B6F-B62A-CA977378D355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9A92CEB-3E36-482A-B8A6-4BCB4EA634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C2AFF64-1820-4E26-AB7D-F99C922E3E93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E3D711F-58C8-486B-8364-E69BBDED9010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Lab5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597DA4F-6592-423D-B6A4-A3317A7D3CA5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协作式调度：先理解上下文切换，再谈复杂调度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B54A3AA-F020-4AB6-9A70-C30FA65D65B8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只做单核、内核态、主动 yield 的 round-robin，难度控制在中等。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1F462068-F6BC-4284-A981-EADC78344743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CA004-9C22-47B0-A97E-878F45F4F488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3714750" cy="3105150"/>
          </a:xfrm>
          <a:prstGeom prst="roundRect">
            <a:avLst>
              <a:gd name="adj" fmla="val 2454"/>
            </a:avLst>
          </a:prstGeom>
          <a:solidFill>
            <a:srgbClr val="102033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0D4F683-70C0-4559-B88C-1F3206E1D078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57150" cy="310515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206167E-473C-40F5-803D-4725303D50BA}"/>
              </a:ext>
            </a:extLst>
          </p:cNvPr>
          <p:cNvSpPr>
            <a:spLocks noGrp="1"/>
          </p:cNvSpPr>
          <p:nvPr/>
        </p:nvSpPr>
        <p:spPr>
          <a:xfrm>
            <a:off x="933450" y="2362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35F71A8-01F2-4ED9-B579-A8A405909538}"/>
              </a:ext>
            </a:extLst>
          </p:cNvPr>
          <p:cNvSpPr>
            <a:spLocks noGrp="1"/>
          </p:cNvSpPr>
          <p:nvPr/>
        </p:nvSpPr>
        <p:spPr>
          <a:xfrm>
            <a:off x="990600" y="2895600"/>
            <a:ext cx="285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TaskContext 保存 ra/sp/s0..s11。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固定 MAX_TASKS=4，每个任务栈 16 KiB。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状态机只保留 Ready、Running、Exited。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05A56AA-BD12-4EB9-B50D-7BD9B854DE11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E5FF7F5-161C-48C7-A6B4-01D728989FBE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task/mod.rs 与 task/switch.S；不做抢占、多核、用户态任务和优先级。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E373E2EC-0732-4920-B56E-81E6B63F433B}"/>
              </a:ext>
            </a:extLst>
          </p:cNvPr>
          <p:cNvSpPr>
            <a:spLocks noGrp="1"/>
          </p:cNvSpPr>
          <p:nvPr/>
        </p:nvSpPr>
        <p:spPr>
          <a:xfrm>
            <a:off x="4857750" y="2114550"/>
            <a:ext cx="6381750" cy="3105150"/>
          </a:xfrm>
          <a:prstGeom prst="roundRect">
            <a:avLst>
              <a:gd name="adj" fmla="val 2454"/>
            </a:avLst>
          </a:prstGeom>
          <a:solidFill>
            <a:srgbClr val="0A192B"/>
          </a:solidFill>
          <a:ln w="9525">
            <a:solidFill>
              <a:srgbClr val="24425F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DED3032-D8DF-4BFC-8125-CF5FD2B3E52D}"/>
              </a:ext>
            </a:extLst>
          </p:cNvPr>
          <p:cNvSpPr>
            <a:spLocks noGrp="1"/>
          </p:cNvSpPr>
          <p:nvPr/>
        </p:nvSpPr>
        <p:spPr>
          <a:xfrm>
            <a:off x="5143500" y="23622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3BFE1A85-4FAB-4925-9EB3-F1361277D446}"/>
              </a:ext>
            </a:extLst>
          </p:cNvPr>
          <p:cNvSpPr>
            <a:spLocks noGrp="1"/>
          </p:cNvSpPr>
          <p:nvPr/>
        </p:nvSpPr>
        <p:spPr>
          <a:xfrm>
            <a:off x="5143500" y="2952750"/>
            <a:ext cx="342900" cy="342900"/>
          </a:xfrm>
          <a:prstGeom prst="ellipse">
            <a:avLst/>
          </a:prstGeom>
          <a:solidFill>
            <a:srgbClr val="39D5FF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BA7BF5D-9717-4495-A558-AA1890BAC89E}"/>
              </a:ext>
            </a:extLst>
          </p:cNvPr>
          <p:cNvSpPr>
            <a:spLocks noGrp="1"/>
          </p:cNvSpPr>
          <p:nvPr/>
        </p:nvSpPr>
        <p:spPr>
          <a:xfrm>
            <a:off x="5143500" y="30194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191C03C-FAA4-41F6-AF47-56CE466F9E20}"/>
              </a:ext>
            </a:extLst>
          </p:cNvPr>
          <p:cNvSpPr>
            <a:spLocks noGrp="1"/>
          </p:cNvSpPr>
          <p:nvPr/>
        </p:nvSpPr>
        <p:spPr>
          <a:xfrm>
            <a:off x="5638800" y="28575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任务抽象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B69F682-5216-439F-A6E0-2EB012DBD50C}"/>
              </a:ext>
            </a:extLst>
          </p:cNvPr>
          <p:cNvSpPr>
            <a:spLocks noGrp="1"/>
          </p:cNvSpPr>
          <p:nvPr/>
        </p:nvSpPr>
        <p:spPr>
          <a:xfrm>
            <a:off x="5638800" y="31527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TaskContext::goto、TCB、任务栈和 add_task。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6F6A62FC-A8CD-4A94-AD0B-CFE718B5C715}"/>
              </a:ext>
            </a:extLst>
          </p:cNvPr>
          <p:cNvSpPr>
            <a:spLocks noGrp="1"/>
          </p:cNvSpPr>
          <p:nvPr/>
        </p:nvSpPr>
        <p:spPr>
          <a:xfrm>
            <a:off x="5143500" y="3771900"/>
            <a:ext cx="342900" cy="342900"/>
          </a:xfrm>
          <a:prstGeom prst="ellipse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C4B2B40-CABC-4CBD-8040-CC04D7574F3C}"/>
              </a:ext>
            </a:extLst>
          </p:cNvPr>
          <p:cNvSpPr>
            <a:spLocks noGrp="1"/>
          </p:cNvSpPr>
          <p:nvPr/>
        </p:nvSpPr>
        <p:spPr>
          <a:xfrm>
            <a:off x="5143500" y="38385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6531E9E-3E01-424E-9C97-0BB8765013E1}"/>
              </a:ext>
            </a:extLst>
          </p:cNvPr>
          <p:cNvSpPr>
            <a:spLocks noGrp="1"/>
          </p:cNvSpPr>
          <p:nvPr/>
        </p:nvSpPr>
        <p:spPr>
          <a:xfrm>
            <a:off x="5638800" y="36766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轮转调度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DA8B030-3E57-4190-9C59-ACF1ADF954C6}"/>
              </a:ext>
            </a:extLst>
          </p:cNvPr>
          <p:cNvSpPr>
            <a:spLocks noGrp="1"/>
          </p:cNvSpPr>
          <p:nvPr/>
        </p:nvSpPr>
        <p:spPr>
          <a:xfrm>
            <a:off x="5638800" y="397192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fetch_next、yield_now、schedule 的状态转换。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CD80E004-5F3A-444C-A97B-34222D2188BE}"/>
              </a:ext>
            </a:extLst>
          </p:cNvPr>
          <p:cNvSpPr>
            <a:spLocks noGrp="1"/>
          </p:cNvSpPr>
          <p:nvPr/>
        </p:nvSpPr>
        <p:spPr>
          <a:xfrm>
            <a:off x="5143500" y="4591050"/>
            <a:ext cx="342900" cy="342900"/>
          </a:xfrm>
          <a:prstGeom prst="ellipse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698DA3A-B7F5-43FB-8A26-5153CFBE7241}"/>
              </a:ext>
            </a:extLst>
          </p:cNvPr>
          <p:cNvSpPr>
            <a:spLocks noGrp="1"/>
          </p:cNvSpPr>
          <p:nvPr/>
        </p:nvSpPr>
        <p:spPr>
          <a:xfrm>
            <a:off x="5143500" y="46577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443BBF82-82E5-4FF4-A12C-DFB94CA615EB}"/>
              </a:ext>
            </a:extLst>
          </p:cNvPr>
          <p:cNvSpPr>
            <a:spLocks noGrp="1"/>
          </p:cNvSpPr>
          <p:nvPr/>
        </p:nvSpPr>
        <p:spPr>
          <a:xfrm>
            <a:off x="5638800" y="44958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上下文切换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393683D-76AF-4086-9EE8-BAF7A779E382}"/>
              </a:ext>
            </a:extLst>
          </p:cNvPr>
          <p:cNvSpPr>
            <a:spLocks noGrp="1"/>
          </p:cNvSpPr>
          <p:nvPr/>
        </p:nvSpPr>
        <p:spPr>
          <a:xfrm>
            <a:off x="5638800" y="47910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__switch，让多个内核任务交替输出。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9021852E-ED44-4D14-A8B6-4E36FEFFAB9A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9620250" cy="952500"/>
          </a:xfrm>
          <a:prstGeom prst="roundRect">
            <a:avLst>
              <a:gd name="adj" fmla="val 8000"/>
            </a:avLst>
          </a:prstGeom>
          <a:solidFill>
            <a:srgbClr val="081827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7F3396F1-842D-4548-8E09-F57A1E41485F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57150" cy="95250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7FE4F57-2367-4C4C-B0A5-6569BA975F24}"/>
              </a:ext>
            </a:extLst>
          </p:cNvPr>
          <p:cNvSpPr>
            <a:spLocks noGrp="1"/>
          </p:cNvSpPr>
          <p:nvPr/>
        </p:nvSpPr>
        <p:spPr>
          <a:xfrm>
            <a:off x="1381125" y="5372100"/>
            <a:ext cx="923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C641AD2C-66F6-4DE6-88AE-69557FD95BE5}"/>
              </a:ext>
            </a:extLst>
          </p:cNvPr>
          <p:cNvSpPr>
            <a:spLocks noGrp="1"/>
          </p:cNvSpPr>
          <p:nvPr/>
        </p:nvSpPr>
        <p:spPr>
          <a:xfrm>
            <a:off x="1400175" y="5657850"/>
            <a:ext cx="920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关键输出：任务交替执行、`[Lab5] scheduler finished`、`[Lab5] PASS`。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亮点：汇编只保存 callee-saved 寄存器，贴合 RISC-V 调用约定。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7CE2E0E-A42F-4036-B2EA-C30A55B2135F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06502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>
            <a:extLst>
              <a:ext uri="{FF2B5EF4-FFF2-40B4-BE49-F238E27FC236}">
                <a16:creationId xmlns:a16="http://schemas.microsoft.com/office/drawing/2014/main" id="{ECD2D05D-F486-4038-A974-CE9E7E8B9C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56B0E975-2939-4023-83FC-DABF352FB6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21001625-7A86-41A6-8E69-865FEE069F19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8AD6E82-BEAD-44B3-8A3F-D66D3D60D51D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2293D61-A56F-4533-ABE8-73D6B414B5EB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26F4DE5E-3E56-4554-941F-933928361ABD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5E301FB6-2BA8-4AB6-B1A0-8D884FC3135F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73CC16F3-8902-4F4F-95F0-F78CC885F88A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A5F84389-7992-463D-84BA-E5EF87CC7217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3D402B8E-37BE-4D17-9DB1-0FA508DD09C1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ABA3DAB3-3AEF-47C0-87CC-9B811A10530F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AE403714-A094-473C-81FE-BEE9270431EC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B922C039-4026-45A3-912D-E75B9D88009F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43252908-6AD2-49DD-BE70-42EFF390AF6F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468970FC-834C-4499-B188-B88917D5E3BF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73FF33A9-7289-41EA-A8EC-9E7C03FBF2B0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17E1A4F0-6B0E-4F7A-88A7-59CC83DDD8B5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20256DD2-5721-4DED-9F7A-F47C22F1F3C5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2D8C3115-317A-4C70-8BB3-2C37739DB9C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96C26963-B30A-43C7-9C92-6C3DC98CD66C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13E6E2E5-D45D-4EAE-80CE-F74042492D31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D9FCD1F5-2DC3-4E59-8FB9-DF9458682FCA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1014E2DD-6C95-469A-8569-DDEB019BDFF5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20ED2207-E026-4ABC-A479-19D2736FBDB5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73E04C52-F88C-4640-98D7-9CDB1F3C6A81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03D2EE98-6363-410B-A3F0-A9A955D31E5B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FE47254B-4FE2-4302-95F0-3D4DA8183835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DBE71564-FB3F-456C-A913-1FFC326A8315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059602E-B2C6-45A5-891F-6021F81AF9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2ADA566-80DA-4153-BDF5-850C92123354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2F8F3C8-2AB3-4DFC-B0DA-12F7717D594C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Lab6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6C10E0B-43E9-40E1-8460-325B2D757702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用户态与系统调用：打通 U-mode 到 S-mode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48843B0-26BD-4597-AC8F-0A8F28121153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运行一个内置用户程序，最小实现 write 与 exit，避免 ELF 和多进程复杂度。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92240705-300C-4D60-B4E5-8EAE6C846467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649FDE9F-68D6-4C16-9E6C-5FF39262158D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3714750" cy="3105150"/>
          </a:xfrm>
          <a:prstGeom prst="roundRect">
            <a:avLst>
              <a:gd name="adj" fmla="val 2454"/>
            </a:avLst>
          </a:prstGeom>
          <a:solidFill>
            <a:srgbClr val="102033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9584C95-7620-42C2-83FC-8719E72A3C40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57150" cy="310515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7CBC1E9-DA41-4E45-B7CC-329D90321250}"/>
              </a:ext>
            </a:extLst>
          </p:cNvPr>
          <p:cNvSpPr>
            <a:spLocks noGrp="1"/>
          </p:cNvSpPr>
          <p:nvPr/>
        </p:nvSpPr>
        <p:spPr>
          <a:xfrm>
            <a:off x="933450" y="2362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22C55E"/>
                </a:solidFill>
              </a:defRPr>
            </a:pPr>
            <a:r>
              <a:rPr sz="2025" b="1">
                <a:solidFill>
                  <a:srgbClr val="22C55E"/>
                </a:solidFill>
              </a:rPr>
              <a:t>实验设计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E5EB25D-F838-413E-8949-13872CD33915}"/>
              </a:ext>
            </a:extLst>
          </p:cNvPr>
          <p:cNvSpPr>
            <a:spLocks noGrp="1"/>
          </p:cNvSpPr>
          <p:nvPr/>
        </p:nvSpPr>
        <p:spPr>
          <a:xfrm>
            <a:off x="990600" y="2895600"/>
            <a:ext cx="285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UserContext 设置 sepc、用户栈和 sstatus。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通过 sret 进入 U-mode。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ecall 读取 a7 与 a0..a5，分发 syscall。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1612142-3276-4489-9AD5-53C23410268D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8D38E5B-6C5D-4A90-9BF7-05FB02A50515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user.rs / syscall.rs / trap.rs；不实现 ELF 加载、多进程和复杂用户指针校验。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93C3A410-AD87-4CE7-AA66-4811D081AF51}"/>
              </a:ext>
            </a:extLst>
          </p:cNvPr>
          <p:cNvSpPr>
            <a:spLocks noGrp="1"/>
          </p:cNvSpPr>
          <p:nvPr/>
        </p:nvSpPr>
        <p:spPr>
          <a:xfrm>
            <a:off x="4857750" y="2114550"/>
            <a:ext cx="6381750" cy="3105150"/>
          </a:xfrm>
          <a:prstGeom prst="roundRect">
            <a:avLst>
              <a:gd name="adj" fmla="val 2454"/>
            </a:avLst>
          </a:prstGeom>
          <a:solidFill>
            <a:srgbClr val="0A192B"/>
          </a:solidFill>
          <a:ln w="9525">
            <a:solidFill>
              <a:srgbClr val="24425F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1750810-9B93-4113-89C6-F3821B34F3E3}"/>
              </a:ext>
            </a:extLst>
          </p:cNvPr>
          <p:cNvSpPr>
            <a:spLocks noGrp="1"/>
          </p:cNvSpPr>
          <p:nvPr/>
        </p:nvSpPr>
        <p:spPr>
          <a:xfrm>
            <a:off x="5143500" y="23622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D9A3DB24-BBF6-42AC-B207-3A4158AB61DB}"/>
              </a:ext>
            </a:extLst>
          </p:cNvPr>
          <p:cNvSpPr>
            <a:spLocks noGrp="1"/>
          </p:cNvSpPr>
          <p:nvPr/>
        </p:nvSpPr>
        <p:spPr>
          <a:xfrm>
            <a:off x="5143500" y="2952750"/>
            <a:ext cx="342900" cy="342900"/>
          </a:xfrm>
          <a:prstGeom prst="ellipse">
            <a:avLst/>
          </a:prstGeom>
          <a:solidFill>
            <a:srgbClr val="39D5FF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12FE595A-0C71-4D2D-919B-A7BEFA16E79D}"/>
              </a:ext>
            </a:extLst>
          </p:cNvPr>
          <p:cNvSpPr>
            <a:spLocks noGrp="1"/>
          </p:cNvSpPr>
          <p:nvPr/>
        </p:nvSpPr>
        <p:spPr>
          <a:xfrm>
            <a:off x="5143500" y="30194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9AC7174-9945-4F14-9149-30B22FD6A28E}"/>
              </a:ext>
            </a:extLst>
          </p:cNvPr>
          <p:cNvSpPr>
            <a:spLocks noGrp="1"/>
          </p:cNvSpPr>
          <p:nvPr/>
        </p:nvSpPr>
        <p:spPr>
          <a:xfrm>
            <a:off x="5638800" y="28575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用户上下文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4E7F71FE-B700-48BC-B794-04EBF5116F4A}"/>
              </a:ext>
            </a:extLst>
          </p:cNvPr>
          <p:cNvSpPr>
            <a:spLocks noGrp="1"/>
          </p:cNvSpPr>
          <p:nvPr/>
        </p:nvSpPr>
        <p:spPr>
          <a:xfrm>
            <a:off x="5638800" y="31527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准备入口地址、用户栈和 sstatus.SPP/SPIE。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A3CD8561-6BCD-415E-935C-06D130BA32FF}"/>
              </a:ext>
            </a:extLst>
          </p:cNvPr>
          <p:cNvSpPr>
            <a:spLocks noGrp="1"/>
          </p:cNvSpPr>
          <p:nvPr/>
        </p:nvSpPr>
        <p:spPr>
          <a:xfrm>
            <a:off x="5143500" y="3771900"/>
            <a:ext cx="342900" cy="342900"/>
          </a:xfrm>
          <a:prstGeom prst="ellipse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2D185456-E43B-485F-9D07-2B5B98F6B5D1}"/>
              </a:ext>
            </a:extLst>
          </p:cNvPr>
          <p:cNvSpPr>
            <a:spLocks noGrp="1"/>
          </p:cNvSpPr>
          <p:nvPr/>
        </p:nvSpPr>
        <p:spPr>
          <a:xfrm>
            <a:off x="5143500" y="38385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85F53DD-602A-42FC-AD3E-10D4D0AE0268}"/>
              </a:ext>
            </a:extLst>
          </p:cNvPr>
          <p:cNvSpPr>
            <a:spLocks noGrp="1"/>
          </p:cNvSpPr>
          <p:nvPr/>
        </p:nvSpPr>
        <p:spPr>
          <a:xfrm>
            <a:off x="5638800" y="36766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系统调用 ABI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3B958D77-AA60-42D9-AA45-B5CF29F0C750}"/>
              </a:ext>
            </a:extLst>
          </p:cNvPr>
          <p:cNvSpPr>
            <a:spLocks noGrp="1"/>
          </p:cNvSpPr>
          <p:nvPr/>
        </p:nvSpPr>
        <p:spPr>
          <a:xfrm>
            <a:off x="5638800" y="397192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定义 write/yield/exit 编号、参数和返回值约定。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41A95F64-7DB0-4D75-839B-4CA8EB080064}"/>
              </a:ext>
            </a:extLst>
          </p:cNvPr>
          <p:cNvSpPr>
            <a:spLocks noGrp="1"/>
          </p:cNvSpPr>
          <p:nvPr/>
        </p:nvSpPr>
        <p:spPr>
          <a:xfrm>
            <a:off x="5143500" y="4591050"/>
            <a:ext cx="342900" cy="342900"/>
          </a:xfrm>
          <a:prstGeom prst="ellipse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A0D18C5-931D-4CEC-A048-9F3C664AF941}"/>
              </a:ext>
            </a:extLst>
          </p:cNvPr>
          <p:cNvSpPr>
            <a:spLocks noGrp="1"/>
          </p:cNvSpPr>
          <p:nvPr/>
        </p:nvSpPr>
        <p:spPr>
          <a:xfrm>
            <a:off x="5143500" y="46577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9D65D1FE-0703-4B75-B392-25FB3EE6445D}"/>
              </a:ext>
            </a:extLst>
          </p:cNvPr>
          <p:cNvSpPr>
            <a:spLocks noGrp="1"/>
          </p:cNvSpPr>
          <p:nvPr/>
        </p:nvSpPr>
        <p:spPr>
          <a:xfrm>
            <a:off x="5638800" y="44958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用户程序验收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96130737-A895-4051-859C-30D08E92A4E6}"/>
              </a:ext>
            </a:extLst>
          </p:cNvPr>
          <p:cNvSpPr>
            <a:spLocks noGrp="1"/>
          </p:cNvSpPr>
          <p:nvPr/>
        </p:nvSpPr>
        <p:spPr>
          <a:xfrm>
            <a:off x="5638800" y="47910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用户程序触发 write 和 exit，内核处理后返回结果。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CA3681BB-15F6-4DBF-80F7-50EEE2169AD4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9620250" cy="952500"/>
          </a:xfrm>
          <a:prstGeom prst="roundRect">
            <a:avLst>
              <a:gd name="adj" fmla="val 8000"/>
            </a:avLst>
          </a:prstGeom>
          <a:solidFill>
            <a:srgbClr val="081827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8A4854D-31F2-4F10-9C50-E393E7CCCE10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57150" cy="952500"/>
          </a:xfrm>
          <a:prstGeom prst="rect">
            <a:avLst/>
          </a:prstGeom>
          <a:solidFill>
            <a:srgbClr val="22C55E"/>
          </a:solidFill>
          <a:ln w="0">
            <a:noFill/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2F67052-4AF7-4ADD-B340-D097FEB08B7C}"/>
              </a:ext>
            </a:extLst>
          </p:cNvPr>
          <p:cNvSpPr>
            <a:spLocks noGrp="1"/>
          </p:cNvSpPr>
          <p:nvPr/>
        </p:nvSpPr>
        <p:spPr>
          <a:xfrm>
            <a:off x="1381125" y="5372100"/>
            <a:ext cx="923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22C55E"/>
                </a:solidFill>
              </a:defRPr>
            </a:pPr>
            <a:r>
              <a:rPr sz="1425" b="1">
                <a:solidFill>
                  <a:srgbClr val="22C55E"/>
                </a:solidFill>
              </a:rPr>
              <a:t>验收输出与亮点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EC53769D-B7DA-44C6-832E-7447B8336BD9}"/>
              </a:ext>
            </a:extLst>
          </p:cNvPr>
          <p:cNvSpPr>
            <a:spLocks noGrp="1"/>
          </p:cNvSpPr>
          <p:nvPr/>
        </p:nvSpPr>
        <p:spPr>
          <a:xfrm>
            <a:off x="1400175" y="5657850"/>
            <a:ext cx="920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关键输出：`user program: hello`、`syscall write handled`、`syscall exit handled`、`[Lab6] PASS`。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亮点：用最小路径让学生理解用户态不是黑盒。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73FC44E8-F511-497C-9FEA-E14B5FDF8EF1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333025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>
            <a:extLst>
              <a:ext uri="{FF2B5EF4-FFF2-40B4-BE49-F238E27FC236}">
                <a16:creationId xmlns:a16="http://schemas.microsoft.com/office/drawing/2014/main" id="{4D755C6F-1DE8-4B4A-9B78-205E8BEAE4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直接连接符 1">
            <a:extLst>
              <a:ext uri="{FF2B5EF4-FFF2-40B4-BE49-F238E27FC236}">
                <a16:creationId xmlns:a16="http://schemas.microsoft.com/office/drawing/2014/main" id="{61953C1F-4882-459D-9019-C5CA355D0D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23AB690D-BEDF-4317-B493-CA357A510B33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D9E4E96E-6663-4860-9286-DEBB181B8514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DB17DBB-D726-41AC-A8C1-446EC19770EC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21906CDE-2C47-443B-9EF7-45D9EEB83EE0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6A3BF428-54AE-4D49-B7C5-308F29BC7B2D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194441E9-746F-41B7-92A5-5A16EA5FE7CC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75568F82-44D6-4F5C-A102-D1B2C922BB5A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58F070F9-16AA-4044-81A9-9F273FBB5783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3F0BBC68-35E5-4926-A18F-F9FB2B15E927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052C886B-6497-44A6-8D05-5EFFA2B5B599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F1972006-9E5B-4686-AAD0-AA241E47587C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5EC6F742-C0BF-42CB-914B-EBE5559C6162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34FE2680-C37C-420B-96F2-B7CD2DE9C566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47C08323-F20D-49E7-93AB-81D000C021B9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D7C6FD9C-49D0-4EA9-A7B3-EEFE5D8EDD4A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510CF7A7-0DDF-4E9F-A394-59DBAA814981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0" cy="685800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FF1DCE52-B00F-43A3-A3DD-2C471025E0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1F4B6D7E-44B0-4E82-873D-F9A559880032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BD345FD2-C8E6-424C-BCD9-0442CCDBFCD1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63F49A07-512F-493B-9D65-9A9B1DE511E8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CC093A49-1840-487D-BBF2-8CBED3543586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2ADF1358-69BB-4B57-B102-E03F99BED1E4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5" name="直接连接符 24">
            <a:extLst>
              <a:ext uri="{FF2B5EF4-FFF2-40B4-BE49-F238E27FC236}">
                <a16:creationId xmlns:a16="http://schemas.microsoft.com/office/drawing/2014/main" id="{C9277F39-442B-454E-B888-2077FE05A7A6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D924FC46-56B1-4956-9F50-65461F83406C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19BEE892-2700-40C4-AB8A-19F3B956E6CB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8" name="直接连接符 27">
            <a:extLst>
              <a:ext uri="{FF2B5EF4-FFF2-40B4-BE49-F238E27FC236}">
                <a16:creationId xmlns:a16="http://schemas.microsoft.com/office/drawing/2014/main" id="{A0B83455-8B71-42AA-B868-6BE2DD6F2C48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0"/>
          </a:xfrm>
          <a:prstGeom prst="line">
            <a:avLst/>
          </a:prstGeom>
          <a:noFill/>
          <a:ln w="9525">
            <a:solidFill>
              <a:srgbClr val="0E2135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BC6FD74-0840-4E1D-B8D7-18C73E66493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97316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8B2C1D4-D1B5-4D39-851E-3B388BD212D7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9D5FF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C28E882-89D2-4BED-874A-735D253F5741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39D5FF"/>
                </a:solidFill>
              </a:defRPr>
            </a:pPr>
            <a:r>
              <a:rPr sz="1125" b="1">
                <a:solidFill>
                  <a:srgbClr val="39D5FF"/>
                </a:solidFill>
              </a:rPr>
              <a:t>Lab7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4AB3D49-FB75-41E9-8CF7-2F85926FD1E8}"/>
              </a:ext>
            </a:extLst>
          </p:cNvPr>
          <p:cNvSpPr>
            <a:spLocks noGrp="1"/>
          </p:cNvSpPr>
          <p:nvPr/>
        </p:nvSpPr>
        <p:spPr>
          <a:xfrm>
            <a:off x="514350" y="742950"/>
            <a:ext cx="10287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设备与简化文件系统：形成最小 OS 服务闭环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B09E227-AD24-4165-9B89-DF5087555A69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057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>
                <a:solidFill>
                  <a:srgbClr val="A9BAD0"/>
                </a:solidFill>
              </a:defRPr>
            </a:pPr>
            <a:r>
              <a:rPr sz="1425" b="0">
                <a:solidFill>
                  <a:srgbClr val="A9BAD0"/>
                </a:solidFill>
              </a:rPr>
              <a:t>以 RAM 字节设备和 SimpleFs 讲清文件描述符、偏移和 read/write 调用链。</a:t>
            </a:r>
          </a:p>
        </p:txBody>
      </p:sp>
      <p:sp>
        <p:nvSpPr>
          <p:cNvPr id="34" name="直接连接符 33">
            <a:extLst>
              <a:ext uri="{FF2B5EF4-FFF2-40B4-BE49-F238E27FC236}">
                <a16:creationId xmlns:a16="http://schemas.microsoft.com/office/drawing/2014/main" id="{9F02EC99-CB8D-4682-B837-BAC06161851D}"/>
              </a:ext>
            </a:extLst>
          </p:cNvPr>
          <p:cNvSpPr>
            <a:spLocks noGrp="1"/>
          </p:cNvSpPr>
          <p:nvPr/>
        </p:nvSpPr>
        <p:spPr>
          <a:xfrm>
            <a:off x="514350" y="1857375"/>
            <a:ext cx="11163300" cy="0"/>
          </a:xfrm>
          <a:prstGeom prst="line">
            <a:avLst/>
          </a:prstGeom>
          <a:noFill/>
          <a:ln w="9525">
            <a:solidFill>
              <a:srgbClr val="24425F"/>
            </a:solidFill>
            <a:prstDash val="solid"/>
          </a:ln>
        </p:spPr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7F981B27-3663-4C3C-95E5-4D9F0B5D5CFE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3714750" cy="3105150"/>
          </a:xfrm>
          <a:prstGeom prst="roundRect">
            <a:avLst>
              <a:gd name="adj" fmla="val 2454"/>
            </a:avLst>
          </a:prstGeom>
          <a:solidFill>
            <a:srgbClr val="102033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9FEA8B80-A586-46AC-B8A5-CC1B644DA1A8}"/>
              </a:ext>
            </a:extLst>
          </p:cNvPr>
          <p:cNvSpPr>
            <a:spLocks noGrp="1"/>
          </p:cNvSpPr>
          <p:nvPr/>
        </p:nvSpPr>
        <p:spPr>
          <a:xfrm>
            <a:off x="647700" y="2114550"/>
            <a:ext cx="57150" cy="310515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6533EAF9-CE93-483E-9589-DC1E0C3230F1}"/>
              </a:ext>
            </a:extLst>
          </p:cNvPr>
          <p:cNvSpPr>
            <a:spLocks noGrp="1"/>
          </p:cNvSpPr>
          <p:nvPr/>
        </p:nvSpPr>
        <p:spPr>
          <a:xfrm>
            <a:off x="933450" y="2362200"/>
            <a:ext cx="209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DBA74"/>
                </a:solidFill>
              </a:defRPr>
            </a:pPr>
            <a:r>
              <a:rPr sz="2025" b="1">
                <a:solidFill>
                  <a:srgbClr val="FDBA74"/>
                </a:solidFill>
              </a:rPr>
              <a:t>实验设计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BADF96D-AF2F-45EA-80AA-B18C67F6A6EE}"/>
              </a:ext>
            </a:extLst>
          </p:cNvPr>
          <p:cNvSpPr>
            <a:spLocks noGrp="1"/>
          </p:cNvSpPr>
          <p:nvPr/>
        </p:nvSpPr>
        <p:spPr>
          <a:xfrm>
            <a:off x="990600" y="2895600"/>
            <a:ext cx="2857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RamDevice 提供 read_at/write_at。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SimpleFs 管理固定容量文件表和 fd 表。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用户程序通过 open/read/write/close 完成文件 I/O。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859B0B3-A6DE-4C13-B722-D5A5B9E92CA4}"/>
              </a:ext>
            </a:extLst>
          </p:cNvPr>
          <p:cNvSpPr>
            <a:spLocks noGrp="1"/>
          </p:cNvSpPr>
          <p:nvPr/>
        </p:nvSpPr>
        <p:spPr>
          <a:xfrm>
            <a:off x="990600" y="41719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8FAFC"/>
                </a:solidFill>
              </a:defRPr>
            </a:pPr>
            <a:r>
              <a:rPr sz="1350" b="1">
                <a:solidFill>
                  <a:srgbClr val="F8FAFC"/>
                </a:solidFill>
              </a:rPr>
              <a:t>学生修改边界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53EBE82-17C4-41BF-8129-0BABB33CBBB7}"/>
              </a:ext>
            </a:extLst>
          </p:cNvPr>
          <p:cNvSpPr>
            <a:spLocks noGrp="1"/>
          </p:cNvSpPr>
          <p:nvPr/>
        </p:nvSpPr>
        <p:spPr>
          <a:xfrm>
            <a:off x="990600" y="4438650"/>
            <a:ext cx="2857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drivers/mod.rs、fs/mod.rs、syscall.rs；不实现真实磁盘、复杂路径和 virtio-block。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E31AFA8-466A-47A7-B4FE-FE89350BCFCB}"/>
              </a:ext>
            </a:extLst>
          </p:cNvPr>
          <p:cNvSpPr>
            <a:spLocks noGrp="1"/>
          </p:cNvSpPr>
          <p:nvPr/>
        </p:nvSpPr>
        <p:spPr>
          <a:xfrm>
            <a:off x="4857750" y="2114550"/>
            <a:ext cx="6381750" cy="3105150"/>
          </a:xfrm>
          <a:prstGeom prst="roundRect">
            <a:avLst>
              <a:gd name="adj" fmla="val 2454"/>
            </a:avLst>
          </a:prstGeom>
          <a:solidFill>
            <a:srgbClr val="0A192B"/>
          </a:solidFill>
          <a:ln w="9525">
            <a:solidFill>
              <a:srgbClr val="24425F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8F8C819-1D60-4C9C-A89E-EA60A9A41BD0}"/>
              </a:ext>
            </a:extLst>
          </p:cNvPr>
          <p:cNvSpPr>
            <a:spLocks noGrp="1"/>
          </p:cNvSpPr>
          <p:nvPr/>
        </p:nvSpPr>
        <p:spPr>
          <a:xfrm>
            <a:off x="5143500" y="236220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F8FAFC"/>
                </a:solidFill>
              </a:defRPr>
            </a:pPr>
            <a:r>
              <a:rPr sz="2025" b="1">
                <a:solidFill>
                  <a:srgbClr val="F8FAFC"/>
                </a:solidFill>
              </a:rPr>
              <a:t>三段式任务路线</a:t>
            </a: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9483EBBE-4673-48EC-B752-A1471AC2B42C}"/>
              </a:ext>
            </a:extLst>
          </p:cNvPr>
          <p:cNvSpPr>
            <a:spLocks noGrp="1"/>
          </p:cNvSpPr>
          <p:nvPr/>
        </p:nvSpPr>
        <p:spPr>
          <a:xfrm>
            <a:off x="5143500" y="2952750"/>
            <a:ext cx="342900" cy="342900"/>
          </a:xfrm>
          <a:prstGeom prst="ellipse">
            <a:avLst/>
          </a:prstGeom>
          <a:solidFill>
            <a:srgbClr val="39D5FF"/>
          </a:solidFill>
          <a:ln w="9525">
            <a:solidFill>
              <a:srgbClr val="39D5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2F552523-D62A-437A-AD8A-7C323A3BB279}"/>
              </a:ext>
            </a:extLst>
          </p:cNvPr>
          <p:cNvSpPr>
            <a:spLocks noGrp="1"/>
          </p:cNvSpPr>
          <p:nvPr/>
        </p:nvSpPr>
        <p:spPr>
          <a:xfrm>
            <a:off x="5143500" y="30194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1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2DB2464-BAA8-4696-BC09-8922D6C01309}"/>
              </a:ext>
            </a:extLst>
          </p:cNvPr>
          <p:cNvSpPr>
            <a:spLocks noGrp="1"/>
          </p:cNvSpPr>
          <p:nvPr/>
        </p:nvSpPr>
        <p:spPr>
          <a:xfrm>
            <a:off x="5638800" y="28575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39D5FF"/>
                </a:solidFill>
              </a:defRPr>
            </a:pPr>
            <a:r>
              <a:rPr sz="1500" b="1">
                <a:solidFill>
                  <a:srgbClr val="39D5FF"/>
                </a:solidFill>
              </a:rPr>
              <a:t>RAM 字节设备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88CE99B-B6FB-44E1-B596-C23251A71A9B}"/>
              </a:ext>
            </a:extLst>
          </p:cNvPr>
          <p:cNvSpPr>
            <a:spLocks noGrp="1"/>
          </p:cNvSpPr>
          <p:nvPr/>
        </p:nvSpPr>
        <p:spPr>
          <a:xfrm>
            <a:off x="5638800" y="31527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实现读写和越界检查。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FC88B13-2EE1-4CF9-8D26-A22BA2E9D7E5}"/>
              </a:ext>
            </a:extLst>
          </p:cNvPr>
          <p:cNvSpPr>
            <a:spLocks noGrp="1"/>
          </p:cNvSpPr>
          <p:nvPr/>
        </p:nvSpPr>
        <p:spPr>
          <a:xfrm>
            <a:off x="5143500" y="3771900"/>
            <a:ext cx="342900" cy="342900"/>
          </a:xfrm>
          <a:prstGeom prst="ellipse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07E1826-8EC9-49B3-87AB-AE5CBEA47D95}"/>
              </a:ext>
            </a:extLst>
          </p:cNvPr>
          <p:cNvSpPr>
            <a:spLocks noGrp="1"/>
          </p:cNvSpPr>
          <p:nvPr/>
        </p:nvSpPr>
        <p:spPr>
          <a:xfrm>
            <a:off x="5143500" y="383857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2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825A11B-0C67-4EE6-8017-E7E5E5255EB5}"/>
              </a:ext>
            </a:extLst>
          </p:cNvPr>
          <p:cNvSpPr>
            <a:spLocks noGrp="1"/>
          </p:cNvSpPr>
          <p:nvPr/>
        </p:nvSpPr>
        <p:spPr>
          <a:xfrm>
            <a:off x="5638800" y="36766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22C55E"/>
                </a:solidFill>
              </a:defRPr>
            </a:pPr>
            <a:r>
              <a:rPr sz="1500" b="1">
                <a:solidFill>
                  <a:srgbClr val="22C55E"/>
                </a:solidFill>
              </a:rPr>
              <a:t>SimpleFs 与 fd 表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FBC8F49-1572-4F7F-927E-1BA9F3D5C001}"/>
              </a:ext>
            </a:extLst>
          </p:cNvPr>
          <p:cNvSpPr>
            <a:spLocks noGrp="1"/>
          </p:cNvSpPr>
          <p:nvPr/>
        </p:nvSpPr>
        <p:spPr>
          <a:xfrm>
            <a:off x="5638800" y="397192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实现 open/read/write/close、偏移更新和错误 fd。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1984215-DA69-4B8A-BDDF-59CBF3F63C2E}"/>
              </a:ext>
            </a:extLst>
          </p:cNvPr>
          <p:cNvSpPr>
            <a:spLocks noGrp="1"/>
          </p:cNvSpPr>
          <p:nvPr/>
        </p:nvSpPr>
        <p:spPr>
          <a:xfrm>
            <a:off x="5143500" y="4591050"/>
            <a:ext cx="342900" cy="342900"/>
          </a:xfrm>
          <a:prstGeom prst="ellipse">
            <a:avLst/>
          </a:prstGeom>
          <a:solidFill>
            <a:srgbClr val="F97316"/>
          </a:solidFill>
          <a:ln w="9525">
            <a:solidFill>
              <a:srgbClr val="F97316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AFAA46F-4739-495E-BCCB-7FFF5586907B}"/>
              </a:ext>
            </a:extLst>
          </p:cNvPr>
          <p:cNvSpPr>
            <a:spLocks noGrp="1"/>
          </p:cNvSpPr>
          <p:nvPr/>
        </p:nvSpPr>
        <p:spPr>
          <a:xfrm>
            <a:off x="5143500" y="4657725"/>
            <a:ext cx="342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07111F"/>
                </a:solidFill>
              </a:defRPr>
            </a:pPr>
            <a:r>
              <a:rPr sz="1200" b="1">
                <a:solidFill>
                  <a:srgbClr val="07111F"/>
                </a:solidFill>
              </a:rPr>
              <a:t>3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B01EA5D5-B448-44DD-95FA-36ECC91DA399}"/>
              </a:ext>
            </a:extLst>
          </p:cNvPr>
          <p:cNvSpPr>
            <a:spLocks noGrp="1"/>
          </p:cNvSpPr>
          <p:nvPr/>
        </p:nvSpPr>
        <p:spPr>
          <a:xfrm>
            <a:off x="5638800" y="449580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用户态文件 I/O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0ED6C388-45DD-44EC-B03B-2DEE4C6AD972}"/>
              </a:ext>
            </a:extLst>
          </p:cNvPr>
          <p:cNvSpPr>
            <a:spLocks noGrp="1"/>
          </p:cNvSpPr>
          <p:nvPr/>
        </p:nvSpPr>
        <p:spPr>
          <a:xfrm>
            <a:off x="5638800" y="4791075"/>
            <a:ext cx="276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A9BAD0"/>
                </a:solidFill>
              </a:defRPr>
            </a:pPr>
            <a:r>
              <a:rPr sz="1050" b="0">
                <a:solidFill>
                  <a:srgbClr val="A9BAD0"/>
                </a:solidFill>
              </a:rPr>
              <a:t>扩展 syscall，用户程序完成写入和读取验证。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69C5C8D-2AA5-459E-97AE-153C36688115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9620250" cy="952500"/>
          </a:xfrm>
          <a:prstGeom prst="roundRect">
            <a:avLst>
              <a:gd name="adj" fmla="val 8000"/>
            </a:avLst>
          </a:prstGeom>
          <a:solidFill>
            <a:srgbClr val="081827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24F41DA-F02D-4FF8-A785-0562276CFE4F}"/>
              </a:ext>
            </a:extLst>
          </p:cNvPr>
          <p:cNvSpPr>
            <a:spLocks noGrp="1"/>
          </p:cNvSpPr>
          <p:nvPr/>
        </p:nvSpPr>
        <p:spPr>
          <a:xfrm>
            <a:off x="1190625" y="5257800"/>
            <a:ext cx="57150" cy="952500"/>
          </a:xfrm>
          <a:prstGeom prst="rect">
            <a:avLst/>
          </a:prstGeom>
          <a:solidFill>
            <a:srgbClr val="FDBA74"/>
          </a:solidFill>
          <a:ln w="0">
            <a:noFill/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C0779EF-0308-42CB-B8A6-6A8318008D9B}"/>
              </a:ext>
            </a:extLst>
          </p:cNvPr>
          <p:cNvSpPr>
            <a:spLocks noGrp="1"/>
          </p:cNvSpPr>
          <p:nvPr/>
        </p:nvSpPr>
        <p:spPr>
          <a:xfrm>
            <a:off x="1381125" y="5372100"/>
            <a:ext cx="923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FDBA74"/>
                </a:solidFill>
              </a:defRPr>
            </a:pPr>
            <a:r>
              <a:rPr sz="1425" b="1">
                <a:solidFill>
                  <a:srgbClr val="FDBA74"/>
                </a:solidFill>
              </a:rPr>
              <a:t>验收输出与亮点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62A87EC-9887-4CBB-BB53-EC8342F25205}"/>
              </a:ext>
            </a:extLst>
          </p:cNvPr>
          <p:cNvSpPr>
            <a:spLocks noGrp="1"/>
          </p:cNvSpPr>
          <p:nvPr/>
        </p:nvSpPr>
        <p:spPr>
          <a:xfrm>
            <a:off x="1400175" y="5657850"/>
            <a:ext cx="9201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关键输出：`[Lab7] file opened`、`[Lab7] write/read verified`、`[Lab7] PASS`。</a:t>
            </a:r>
          </a:p>
          <a:p>
            <a:pPr algn="l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• 亮点：用最小设备抽象讲清从用户调用到设备读写的闭环。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56451F1-C87C-4970-8B5B-EC18D5C7F38D}"/>
              </a:ext>
            </a:extLst>
          </p:cNvPr>
          <p:cNvSpPr>
            <a:spLocks noGrp="1"/>
          </p:cNvSpPr>
          <p:nvPr/>
        </p:nvSpPr>
        <p:spPr>
          <a:xfrm>
            <a:off x="11049000" y="6305550"/>
            <a:ext cx="666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0">
                <a:solidFill>
                  <a:srgbClr val="A9BAD0"/>
                </a:solidFill>
              </a:defRPr>
            </a:pPr>
            <a:r>
              <a:rPr sz="1125" b="0">
                <a:solidFill>
                  <a:srgbClr val="A9BAD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02705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矩形 58">
            <a:extLst>
              <a:ext uri="{FF2B5EF4-FFF2-40B4-BE49-F238E27FC236}">
                <a16:creationId xmlns:a16="http://schemas.microsoft.com/office/drawing/2014/main" id="{C7200959-B079-4B50-91D0-32EEE9FB88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1E3CE29-6276-4145-A244-59350C824D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AA93AE1-A02C-424D-8653-8DF38310CD9F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ED13B4-89C2-4364-AE8A-2FFE69C4D4E0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E5A3545-A7B5-4460-892E-3FABC6911BF6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77C6BBF-9505-43CF-9B13-39DDD5A402BA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4411F3-29FF-4B7A-9EC7-DD7D4B72E485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436072-D59B-44E4-9139-B9BCB47A2F8F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501299D-5017-42CC-92C4-7FA5881EF550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11B3D5C-42A6-4EE4-BF74-BFC94B78E90F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3B588A-4F99-49B6-ADC2-3442ADB66538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E89545-50DC-40AD-8F9D-72C056907AB2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D01B661-A23D-4D8B-AEF7-5BCDD0FC8245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7A400DB-3D0D-4EE2-8893-832C792461A6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72FEF08-98D5-47ED-B6F1-ED25647626FC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6C2C57F-477C-45C2-9177-130E7A0A52F4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A998CE7-F111-4DD2-BEC4-DC1DE96C5DD4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E4F8848-4C07-43B3-B0F7-0126B579A3F0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9B797E-4342-4B71-884D-A72A3AD236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17456FC-1F4F-4415-8987-757382DC4763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91BA989-768B-4BC8-861C-D41953F71129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CDBD8D9-9A23-457D-B097-41E474A51A65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C1D3151-67DA-4F8D-B65E-84322B4AA211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A623D9A-03C0-4F2E-8B3D-69BBA89942EE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607ACBB-CEF0-43F9-B7A8-E7DAE2D9E338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E499B2A-FE97-470D-9B2A-F7DF01F85585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949D7AF-2D56-44B2-9068-21C6DC8DE149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34B73BA-97E4-4264-9C99-A31AF16AAAF5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BF96E94-AE59-4CF1-8D7F-9BE27190AD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F4D1B86-1C02-4AFA-9191-EA9708F805DF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DFD327C-6BA3-4BC1-B4E2-F37D5FD12B5C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可视化整体架构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B748253-929B-4D36-AA97-EED148228F86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真实内核事件从串口进入浏览器，页面不伪造运行状态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7770B67-1A59-4DD2-A3FD-69B0233DDD61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043F998-5563-4E09-ADF7-ECBEB017326A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15</a:t>
            </a:r>
          </a:p>
        </p:txBody>
      </p:sp>
      <p:pic>
        <p:nvPicPr>
          <p:cNvPr id="95" name="图片 9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4350" y="2241537"/>
            <a:ext cx="5810250" cy="3270275"/>
          </a:xfrm>
          <a:prstGeom prst="roundRect">
            <a:avLst>
              <a:gd name="adj" fmla="val 3077"/>
            </a:avLst>
          </a:prstGeom>
        </p:spPr>
      </p:pic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39D90167-831F-43DB-81E5-510E28C3B476}"/>
              </a:ext>
            </a:extLst>
          </p:cNvPr>
          <p:cNvSpPr>
            <a:spLocks noGrp="1"/>
          </p:cNvSpPr>
          <p:nvPr/>
        </p:nvSpPr>
        <p:spPr>
          <a:xfrm>
            <a:off x="514350" y="2019300"/>
            <a:ext cx="5810250" cy="3714750"/>
          </a:xfrm>
          <a:prstGeom prst="roundRect">
            <a:avLst>
              <a:gd name="adj" fmla="val 3077"/>
            </a:avLst>
          </a:prstGeom>
          <a:noFill/>
          <a:ln w="9525">
            <a:solidFill>
              <a:srgbClr val="35C8F4"/>
            </a:solidFill>
            <a:prstDash val="solid"/>
          </a:ln>
        </p:spPr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172650CF-65B6-418A-9383-C9530415E13F}"/>
              </a:ext>
            </a:extLst>
          </p:cNvPr>
          <p:cNvSpPr>
            <a:spLocks noGrp="1"/>
          </p:cNvSpPr>
          <p:nvPr/>
        </p:nvSpPr>
        <p:spPr>
          <a:xfrm>
            <a:off x="6762750" y="2476500"/>
            <a:ext cx="819150" cy="819150"/>
          </a:xfrm>
          <a:prstGeom prst="roundRect">
            <a:avLst>
              <a:gd name="adj" fmla="val 13953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98151C3-5267-45B0-83DD-1C44FD450937}"/>
              </a:ext>
            </a:extLst>
          </p:cNvPr>
          <p:cNvSpPr>
            <a:spLocks noGrp="1"/>
          </p:cNvSpPr>
          <p:nvPr/>
        </p:nvSpPr>
        <p:spPr>
          <a:xfrm>
            <a:off x="6829425" y="2686050"/>
            <a:ext cx="685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7FAFC"/>
                </a:solidFill>
              </a:defRPr>
            </a:pPr>
            <a:r>
              <a:rPr sz="825" b="1">
                <a:solidFill>
                  <a:srgbClr val="F7FAFC"/>
                </a:solidFill>
              </a:rPr>
              <a:t>内核事件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AA40BF5-AF90-460C-BA0A-50859FF946F3}"/>
              </a:ext>
            </a:extLst>
          </p:cNvPr>
          <p:cNvSpPr>
            <a:spLocks noGrp="1"/>
          </p:cNvSpPr>
          <p:nvPr/>
        </p:nvSpPr>
        <p:spPr>
          <a:xfrm>
            <a:off x="7581900" y="268605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A9B8C9"/>
                </a:solidFill>
              </a:defRPr>
            </a:pPr>
            <a:r>
              <a:rPr sz="16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6CA21294-9716-4B59-975C-D55DC55A8B20}"/>
              </a:ext>
            </a:extLst>
          </p:cNvPr>
          <p:cNvSpPr>
            <a:spLocks noGrp="1"/>
          </p:cNvSpPr>
          <p:nvPr/>
        </p:nvSpPr>
        <p:spPr>
          <a:xfrm>
            <a:off x="7810500" y="2476500"/>
            <a:ext cx="819150" cy="819150"/>
          </a:xfrm>
          <a:prstGeom prst="roundRect">
            <a:avLst>
              <a:gd name="adj" fmla="val 13953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A456990-C673-4688-89B0-9908F08DF5B3}"/>
              </a:ext>
            </a:extLst>
          </p:cNvPr>
          <p:cNvSpPr>
            <a:spLocks noGrp="1"/>
          </p:cNvSpPr>
          <p:nvPr/>
        </p:nvSpPr>
        <p:spPr>
          <a:xfrm>
            <a:off x="7877175" y="2686050"/>
            <a:ext cx="685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7FAFC"/>
                </a:solidFill>
              </a:defRPr>
            </a:pPr>
            <a:r>
              <a:rPr sz="825" b="1">
                <a:solidFill>
                  <a:srgbClr val="F7FAFC"/>
                </a:solidFill>
              </a:rPr>
              <a:t>QEMU 串口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99A7119-B6DE-4327-B790-F05346F463FC}"/>
              </a:ext>
            </a:extLst>
          </p:cNvPr>
          <p:cNvSpPr>
            <a:spLocks noGrp="1"/>
          </p:cNvSpPr>
          <p:nvPr/>
        </p:nvSpPr>
        <p:spPr>
          <a:xfrm>
            <a:off x="8629650" y="268605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A9B8C9"/>
                </a:solidFill>
              </a:defRPr>
            </a:pPr>
            <a:r>
              <a:rPr sz="16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E831039-2C56-4197-B426-4CE63DDFD099}"/>
              </a:ext>
            </a:extLst>
          </p:cNvPr>
          <p:cNvSpPr>
            <a:spLocks noGrp="1"/>
          </p:cNvSpPr>
          <p:nvPr/>
        </p:nvSpPr>
        <p:spPr>
          <a:xfrm>
            <a:off x="8858250" y="2476500"/>
            <a:ext cx="819150" cy="819150"/>
          </a:xfrm>
          <a:prstGeom prst="roundRect">
            <a:avLst>
              <a:gd name="adj" fmla="val 13953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C681CA89-3853-4AED-81CD-5235C53E171C}"/>
              </a:ext>
            </a:extLst>
          </p:cNvPr>
          <p:cNvSpPr>
            <a:spLocks noGrp="1"/>
          </p:cNvSpPr>
          <p:nvPr/>
        </p:nvSpPr>
        <p:spPr>
          <a:xfrm>
            <a:off x="8924925" y="2686050"/>
            <a:ext cx="685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7FAFC"/>
                </a:solidFill>
              </a:defRPr>
            </a:pPr>
            <a:r>
              <a:rPr sz="825" b="1">
                <a:solidFill>
                  <a:srgbClr val="F7FAFC"/>
                </a:solidFill>
              </a:rPr>
              <a:t>本地桥接器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AFAC537-303E-4905-996E-000D25694C41}"/>
              </a:ext>
            </a:extLst>
          </p:cNvPr>
          <p:cNvSpPr>
            <a:spLocks noGrp="1"/>
          </p:cNvSpPr>
          <p:nvPr/>
        </p:nvSpPr>
        <p:spPr>
          <a:xfrm>
            <a:off x="9677400" y="268605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A9B8C9"/>
                </a:solidFill>
              </a:defRPr>
            </a:pPr>
            <a:r>
              <a:rPr sz="16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C7277471-0842-4CD4-A58D-4B7A14232C16}"/>
              </a:ext>
            </a:extLst>
          </p:cNvPr>
          <p:cNvSpPr>
            <a:spLocks noGrp="1"/>
          </p:cNvSpPr>
          <p:nvPr/>
        </p:nvSpPr>
        <p:spPr>
          <a:xfrm>
            <a:off x="9906000" y="2476500"/>
            <a:ext cx="819150" cy="819150"/>
          </a:xfrm>
          <a:prstGeom prst="roundRect">
            <a:avLst>
              <a:gd name="adj" fmla="val 13953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417F6D4-0B51-46A3-BF40-2FF879ACEF35}"/>
              </a:ext>
            </a:extLst>
          </p:cNvPr>
          <p:cNvSpPr>
            <a:spLocks noGrp="1"/>
          </p:cNvSpPr>
          <p:nvPr/>
        </p:nvSpPr>
        <p:spPr>
          <a:xfrm>
            <a:off x="9972675" y="2686050"/>
            <a:ext cx="685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7FAFC"/>
                </a:solidFill>
              </a:defRPr>
            </a:pPr>
            <a:r>
              <a:rPr sz="825" b="1">
                <a:solidFill>
                  <a:srgbClr val="F7FAFC"/>
                </a:solidFill>
              </a:rPr>
              <a:t>WebSocket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C53534B-60F1-4510-9BA3-29B560F4A561}"/>
              </a:ext>
            </a:extLst>
          </p:cNvPr>
          <p:cNvSpPr>
            <a:spLocks noGrp="1"/>
          </p:cNvSpPr>
          <p:nvPr/>
        </p:nvSpPr>
        <p:spPr>
          <a:xfrm>
            <a:off x="10725150" y="2686050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A9B8C9"/>
                </a:solidFill>
              </a:defRPr>
            </a:pPr>
            <a:r>
              <a:rPr sz="16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91113303-96A6-4A4F-B325-FBE377DBA9A9}"/>
              </a:ext>
            </a:extLst>
          </p:cNvPr>
          <p:cNvSpPr>
            <a:spLocks noGrp="1"/>
          </p:cNvSpPr>
          <p:nvPr/>
        </p:nvSpPr>
        <p:spPr>
          <a:xfrm>
            <a:off x="10953750" y="2476500"/>
            <a:ext cx="819150" cy="819150"/>
          </a:xfrm>
          <a:prstGeom prst="roundRect">
            <a:avLst>
              <a:gd name="adj" fmla="val 13953"/>
            </a:avLst>
          </a:prstGeom>
          <a:solidFill>
            <a:srgbClr val="10283D"/>
          </a:solidFill>
          <a:ln w="9525">
            <a:solidFill>
              <a:srgbClr val="FF7A1A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A65B07AE-8AD6-4AF0-A0B1-08BD559EE763}"/>
              </a:ext>
            </a:extLst>
          </p:cNvPr>
          <p:cNvSpPr>
            <a:spLocks noGrp="1"/>
          </p:cNvSpPr>
          <p:nvPr/>
        </p:nvSpPr>
        <p:spPr>
          <a:xfrm>
            <a:off x="11020425" y="2686050"/>
            <a:ext cx="685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825" b="1">
                <a:solidFill>
                  <a:srgbClr val="FF7A1A"/>
                </a:solidFill>
              </a:defRPr>
            </a:pPr>
            <a:r>
              <a:rPr sz="825" b="1">
                <a:solidFill>
                  <a:srgbClr val="FF7A1A"/>
                </a:solidFill>
              </a:rPr>
              <a:t>浏览器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6851F978-FB35-4B71-9BE1-050683378337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5010150" cy="933450"/>
          </a:xfrm>
          <a:prstGeom prst="roundRect">
            <a:avLst>
              <a:gd name="adj" fmla="val 12245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BB3FC23D-9113-4AC2-BCDF-4A7865A87D72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57150" cy="9334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BA28DCA-5A80-4764-9EF9-510472C4BB7E}"/>
              </a:ext>
            </a:extLst>
          </p:cNvPr>
          <p:cNvSpPr>
            <a:spLocks noGrp="1"/>
          </p:cNvSpPr>
          <p:nvPr/>
        </p:nvSpPr>
        <p:spPr>
          <a:xfrm>
            <a:off x="6991350" y="3886200"/>
            <a:ext cx="4610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结构化证据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E03C981-1A7C-402B-B390-904897BF8832}"/>
              </a:ext>
            </a:extLst>
          </p:cNvPr>
          <p:cNvSpPr>
            <a:spLocks noGrp="1"/>
          </p:cNvSpPr>
          <p:nvPr/>
        </p:nvSpPr>
        <p:spPr>
          <a:xfrm>
            <a:off x="6991350" y="4305300"/>
            <a:ext cx="461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os-demo.event/v1 只描述已观测事件；无证据就保持“未知”。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C0D6897D-E59D-4D41-8E9B-B2A7F15B5829}"/>
              </a:ext>
            </a:extLst>
          </p:cNvPr>
          <p:cNvSpPr>
            <a:spLocks noGrp="1"/>
          </p:cNvSpPr>
          <p:nvPr/>
        </p:nvSpPr>
        <p:spPr>
          <a:xfrm>
            <a:off x="6762750" y="4838700"/>
            <a:ext cx="5010150" cy="895350"/>
          </a:xfrm>
          <a:prstGeom prst="roundRect">
            <a:avLst>
              <a:gd name="adj" fmla="val 1276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14C063A2-8777-4A3E-B486-92D9B393355B}"/>
              </a:ext>
            </a:extLst>
          </p:cNvPr>
          <p:cNvSpPr>
            <a:spLocks noGrp="1"/>
          </p:cNvSpPr>
          <p:nvPr/>
        </p:nvSpPr>
        <p:spPr>
          <a:xfrm>
            <a:off x="6762750" y="4838700"/>
            <a:ext cx="57150" cy="89535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126D613-3E24-4F87-A9AB-2DBCCDC92086}"/>
              </a:ext>
            </a:extLst>
          </p:cNvPr>
          <p:cNvSpPr>
            <a:spLocks noGrp="1"/>
          </p:cNvSpPr>
          <p:nvPr/>
        </p:nvSpPr>
        <p:spPr>
          <a:xfrm>
            <a:off x="6991350" y="5010150"/>
            <a:ext cx="4610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安全边界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014AF82-C894-485A-AF4E-A832587C5C6A}"/>
              </a:ext>
            </a:extLst>
          </p:cNvPr>
          <p:cNvSpPr>
            <a:spLocks noGrp="1"/>
          </p:cNvSpPr>
          <p:nvPr/>
        </p:nvSpPr>
        <p:spPr>
          <a:xfrm>
            <a:off x="6991350" y="5429250"/>
            <a:ext cx="4610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演示模式不会自动运行 QEMU，也不会切换 Git 分支。</a:t>
            </a:r>
          </a:p>
        </p:txBody>
      </p:sp>
    </p:spTree>
    <p:extLst>
      <p:ext uri="{BB962C8B-B14F-4D97-AF65-F5344CB8AC3E}">
        <p14:creationId xmlns:p14="http://schemas.microsoft.com/office/powerpoint/2010/main" val="16319410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 62">
            <a:extLst>
              <a:ext uri="{FF2B5EF4-FFF2-40B4-BE49-F238E27FC236}">
                <a16:creationId xmlns:a16="http://schemas.microsoft.com/office/drawing/2014/main" id="{FC7556BE-A040-4C05-B4F1-04BD9CF820A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84C009-3796-4CC0-86AC-ADCB361BAB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5BC7BE-5E2E-436C-AAE5-8D5C33D93529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1FE77D-58B8-4B44-8416-2A85A6D3FAA1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7386DFD-7ADB-44D3-8E16-0748CCF03781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C644B13-7298-4A2C-AC0F-40983D86E9D5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5B520E6-BD05-4CEB-BAAF-BC853B3178F1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FE87B0-11E0-4BFC-AE60-A0D715DF3B5C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90178A-5DA5-4499-9F99-A10A30B842FF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9C49C65-BE97-4149-8866-0225A931A5FE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75AAFD-F357-48E3-ACAA-6857844135F4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185E36-0914-488A-8B79-CAFA19E4B085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77FB4F3-AB87-41C9-85F3-2F63DC148232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6371502-A463-44C3-A587-902F76AC7462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3F65E69-4F0E-43D2-807E-E8E58E4BC4E7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417C84F-71BD-4DE1-BAE1-1640F490398F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EB1D4E4-7819-4889-BC7F-84D84AF58BF7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4B3D09E-EF33-4367-8CBA-EF05DFF96D66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2B165E1-1A73-4D48-8F69-D0B870631B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67A8F97-B18B-4727-90A2-DB637E818FE0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F037660-CA79-4EFB-9475-AA317E138900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FA77F4D-4541-495C-9C11-84B2125FE1A2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C4955E6-8C0E-45D9-89FA-8F2F2DCC10EA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E01905F-88CF-49C4-870F-8EBD9A682D41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AA3E01C-C372-4319-A5C8-88681525D79A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EF1F21A-4A93-4B52-B348-3CEEB66C7452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3299F57-BD02-416F-A7F8-4EFD51B58678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A0F52B4-A896-4042-932F-DBBB0C2AEBA3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09A155F-C590-415D-A818-DFDEFB2DA4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995069D-92AE-491B-995F-EC6C8A05825C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E70FC93-EBCF-4405-AECF-92BCEB2D6062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从预测到解释的学习闭环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772CA2C-4352-48F5-93E3-C38FEC34A07C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运行结果不是终点：要能回放、比较并解释证据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49DDD6A-3C46-402C-9847-8F739F7AADDB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ED8EBD6-7E2A-4DA1-B501-92ED752CC150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16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35A3C086-FE22-41FF-A302-4E722F32E503}"/>
              </a:ext>
            </a:extLst>
          </p:cNvPr>
          <p:cNvSpPr>
            <a:spLocks noGrp="1"/>
          </p:cNvSpPr>
          <p:nvPr/>
        </p:nvSpPr>
        <p:spPr>
          <a:xfrm>
            <a:off x="552450" y="2266950"/>
            <a:ext cx="1952625" cy="2381250"/>
          </a:xfrm>
          <a:prstGeom prst="roundRect">
            <a:avLst>
              <a:gd name="adj" fmla="val 5854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B591099-EE71-404F-9C6B-31594F960B65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35C8F4"/>
                </a:solidFill>
              </a:defRPr>
            </a:pPr>
            <a:r>
              <a:rPr sz="2250" b="1">
                <a:solidFill>
                  <a:srgbClr val="35C8F4"/>
                </a:solidFill>
              </a:rPr>
              <a:t>1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0D27C07-DB0F-43C1-88BC-DD1D753FF66C}"/>
              </a:ext>
            </a:extLst>
          </p:cNvPr>
          <p:cNvSpPr>
            <a:spLocks noGrp="1"/>
          </p:cNvSpPr>
          <p:nvPr/>
        </p:nvSpPr>
        <p:spPr>
          <a:xfrm>
            <a:off x="1238250" y="2457450"/>
            <a:ext cx="1009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预测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277576F-05E7-4DE6-9285-88C57CA2D402}"/>
              </a:ext>
            </a:extLst>
          </p:cNvPr>
          <p:cNvSpPr>
            <a:spLocks noGrp="1"/>
          </p:cNvSpPr>
          <p:nvPr/>
        </p:nvSpPr>
        <p:spPr>
          <a:xfrm>
            <a:off x="762000" y="3143250"/>
            <a:ext cx="1543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填写构建、运行、PASS 与关键事件预期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0479C5E-F80B-458B-AA50-E272BDC6F9C1}"/>
              </a:ext>
            </a:extLst>
          </p:cNvPr>
          <p:cNvSpPr>
            <a:spLocks noGrp="1"/>
          </p:cNvSpPr>
          <p:nvPr/>
        </p:nvSpPr>
        <p:spPr>
          <a:xfrm>
            <a:off x="2524125" y="3181350"/>
            <a:ext cx="333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A9B8C9"/>
                </a:solidFill>
              </a:defRPr>
            </a:pPr>
            <a:r>
              <a:rPr sz="210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84CBA431-94B8-4D57-90ED-199733F7C912}"/>
              </a:ext>
            </a:extLst>
          </p:cNvPr>
          <p:cNvSpPr>
            <a:spLocks noGrp="1"/>
          </p:cNvSpPr>
          <p:nvPr/>
        </p:nvSpPr>
        <p:spPr>
          <a:xfrm>
            <a:off x="2857500" y="2266950"/>
            <a:ext cx="1952625" cy="2381250"/>
          </a:xfrm>
          <a:prstGeom prst="roundRect">
            <a:avLst>
              <a:gd name="adj" fmla="val 5854"/>
            </a:avLst>
          </a:prstGeom>
          <a:solidFill>
            <a:srgbClr val="0D2033"/>
          </a:solidFill>
          <a:ln w="9525">
            <a:solidFill>
              <a:srgbClr val="FF7A1A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6EAE769-840D-424A-B496-DEE205D85FD0}"/>
              </a:ext>
            </a:extLst>
          </p:cNvPr>
          <p:cNvSpPr>
            <a:spLocks noGrp="1"/>
          </p:cNvSpPr>
          <p:nvPr/>
        </p:nvSpPr>
        <p:spPr>
          <a:xfrm>
            <a:off x="3028950" y="24384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FF7A1A"/>
                </a:solidFill>
              </a:defRPr>
            </a:pPr>
            <a:r>
              <a:rPr sz="2250" b="1">
                <a:solidFill>
                  <a:srgbClr val="FF7A1A"/>
                </a:solidFill>
              </a:rPr>
              <a:t>2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B09751F-CC15-4875-AC97-68A8C8B79D03}"/>
              </a:ext>
            </a:extLst>
          </p:cNvPr>
          <p:cNvSpPr>
            <a:spLocks noGrp="1"/>
          </p:cNvSpPr>
          <p:nvPr/>
        </p:nvSpPr>
        <p:spPr>
          <a:xfrm>
            <a:off x="3543300" y="2457450"/>
            <a:ext cx="1009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运行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1B95354-3519-409B-BB5A-77EA3FCF3036}"/>
              </a:ext>
            </a:extLst>
          </p:cNvPr>
          <p:cNvSpPr>
            <a:spLocks noGrp="1"/>
          </p:cNvSpPr>
          <p:nvPr/>
        </p:nvSpPr>
        <p:spPr>
          <a:xfrm>
            <a:off x="3067050" y="3143250"/>
            <a:ext cx="1543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真实交叉构建并启动 QEMU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F966B72-549C-4B3A-B452-9DBFFF9FDC93}"/>
              </a:ext>
            </a:extLst>
          </p:cNvPr>
          <p:cNvSpPr>
            <a:spLocks noGrp="1"/>
          </p:cNvSpPr>
          <p:nvPr/>
        </p:nvSpPr>
        <p:spPr>
          <a:xfrm>
            <a:off x="4829175" y="3181350"/>
            <a:ext cx="333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A9B8C9"/>
                </a:solidFill>
              </a:defRPr>
            </a:pPr>
            <a:r>
              <a:rPr sz="210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1E556985-640C-4106-A09A-CC86C5209171}"/>
              </a:ext>
            </a:extLst>
          </p:cNvPr>
          <p:cNvSpPr>
            <a:spLocks noGrp="1"/>
          </p:cNvSpPr>
          <p:nvPr/>
        </p:nvSpPr>
        <p:spPr>
          <a:xfrm>
            <a:off x="5162550" y="2266950"/>
            <a:ext cx="1952625" cy="2381250"/>
          </a:xfrm>
          <a:prstGeom prst="roundRect">
            <a:avLst>
              <a:gd name="adj" fmla="val 5854"/>
            </a:avLst>
          </a:prstGeom>
          <a:solidFill>
            <a:srgbClr val="0D2033"/>
          </a:solidFill>
          <a:ln w="9525">
            <a:solidFill>
              <a:srgbClr val="30C980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0B24BFE-9976-4A59-8E94-5611A998B54F}"/>
              </a:ext>
            </a:extLst>
          </p:cNvPr>
          <p:cNvSpPr>
            <a:spLocks noGrp="1"/>
          </p:cNvSpPr>
          <p:nvPr/>
        </p:nvSpPr>
        <p:spPr>
          <a:xfrm>
            <a:off x="5334000" y="24384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30C980"/>
                </a:solidFill>
              </a:defRPr>
            </a:pPr>
            <a:r>
              <a:rPr sz="2250" b="1">
                <a:solidFill>
                  <a:srgbClr val="30C980"/>
                </a:solidFill>
              </a:rPr>
              <a:t>3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16CEBF8-8CE1-458D-98FF-4C6766888D08}"/>
              </a:ext>
            </a:extLst>
          </p:cNvPr>
          <p:cNvSpPr>
            <a:spLocks noGrp="1"/>
          </p:cNvSpPr>
          <p:nvPr/>
        </p:nvSpPr>
        <p:spPr>
          <a:xfrm>
            <a:off x="5848350" y="2457450"/>
            <a:ext cx="1009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回放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AA84D25-1843-455E-AC48-5C1ACBC20299}"/>
              </a:ext>
            </a:extLst>
          </p:cNvPr>
          <p:cNvSpPr>
            <a:spLocks noGrp="1"/>
          </p:cNvSpPr>
          <p:nvPr/>
        </p:nvSpPr>
        <p:spPr>
          <a:xfrm>
            <a:off x="5372100" y="3143250"/>
            <a:ext cx="1543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按事件时间线筛选、单步与倍速播放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045C9C0-FEEC-4D2D-81DA-49B33353B923}"/>
              </a:ext>
            </a:extLst>
          </p:cNvPr>
          <p:cNvSpPr>
            <a:spLocks noGrp="1"/>
          </p:cNvSpPr>
          <p:nvPr/>
        </p:nvSpPr>
        <p:spPr>
          <a:xfrm>
            <a:off x="7134225" y="3181350"/>
            <a:ext cx="333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A9B8C9"/>
                </a:solidFill>
              </a:defRPr>
            </a:pPr>
            <a:r>
              <a:rPr sz="210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F97A2AD1-1B18-46AA-82F1-799465AF07C9}"/>
              </a:ext>
            </a:extLst>
          </p:cNvPr>
          <p:cNvSpPr>
            <a:spLocks noGrp="1"/>
          </p:cNvSpPr>
          <p:nvPr/>
        </p:nvSpPr>
        <p:spPr>
          <a:xfrm>
            <a:off x="7467600" y="2266950"/>
            <a:ext cx="1952625" cy="2381250"/>
          </a:xfrm>
          <a:prstGeom prst="roundRect">
            <a:avLst>
              <a:gd name="adj" fmla="val 5854"/>
            </a:avLst>
          </a:prstGeom>
          <a:solidFill>
            <a:srgbClr val="0D2033"/>
          </a:solidFill>
          <a:ln w="9525">
            <a:solidFill>
              <a:srgbClr val="F3B562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AEA3383-2C6D-4D15-BBD7-C09C919AAA7F}"/>
              </a:ext>
            </a:extLst>
          </p:cNvPr>
          <p:cNvSpPr>
            <a:spLocks noGrp="1"/>
          </p:cNvSpPr>
          <p:nvPr/>
        </p:nvSpPr>
        <p:spPr>
          <a:xfrm>
            <a:off x="7639050" y="24384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F3B562"/>
                </a:solidFill>
              </a:defRPr>
            </a:pPr>
            <a:r>
              <a:rPr sz="2250" b="1">
                <a:solidFill>
                  <a:srgbClr val="F3B562"/>
                </a:solidFill>
              </a:rPr>
              <a:t>4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3C12FF0-954D-45D3-8340-E88906583CF7}"/>
              </a:ext>
            </a:extLst>
          </p:cNvPr>
          <p:cNvSpPr>
            <a:spLocks noGrp="1"/>
          </p:cNvSpPr>
          <p:nvPr/>
        </p:nvSpPr>
        <p:spPr>
          <a:xfrm>
            <a:off x="8153400" y="2457450"/>
            <a:ext cx="1009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差异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C34BF28-6BEC-4E94-92BE-7F287B3D5CC0}"/>
              </a:ext>
            </a:extLst>
          </p:cNvPr>
          <p:cNvSpPr>
            <a:spLocks noGrp="1"/>
          </p:cNvSpPr>
          <p:nvPr/>
        </p:nvSpPr>
        <p:spPr>
          <a:xfrm>
            <a:off x="7677150" y="3143250"/>
            <a:ext cx="1543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比较 starter / solution 的事件与最终状态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D03BB6F3-0FC7-4DCE-8390-CB9B498CCABE}"/>
              </a:ext>
            </a:extLst>
          </p:cNvPr>
          <p:cNvSpPr>
            <a:spLocks noGrp="1"/>
          </p:cNvSpPr>
          <p:nvPr/>
        </p:nvSpPr>
        <p:spPr>
          <a:xfrm>
            <a:off x="9439275" y="3181350"/>
            <a:ext cx="33337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A9B8C9"/>
                </a:solidFill>
              </a:defRPr>
            </a:pPr>
            <a:r>
              <a:rPr sz="210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995EE32B-DF42-4574-81CD-61E59BDF2A47}"/>
              </a:ext>
            </a:extLst>
          </p:cNvPr>
          <p:cNvSpPr>
            <a:spLocks noGrp="1"/>
          </p:cNvSpPr>
          <p:nvPr/>
        </p:nvSpPr>
        <p:spPr>
          <a:xfrm>
            <a:off x="9772650" y="2266950"/>
            <a:ext cx="1952625" cy="2381250"/>
          </a:xfrm>
          <a:prstGeom prst="roundRect">
            <a:avLst>
              <a:gd name="adj" fmla="val 5854"/>
            </a:avLst>
          </a:prstGeom>
          <a:solidFill>
            <a:srgbClr val="0D2033"/>
          </a:solidFill>
          <a:ln w="9525">
            <a:solidFill>
              <a:srgbClr val="FF6B6B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6745FDDD-5C74-47BA-9160-CF376ED96266}"/>
              </a:ext>
            </a:extLst>
          </p:cNvPr>
          <p:cNvSpPr>
            <a:spLocks noGrp="1"/>
          </p:cNvSpPr>
          <p:nvPr/>
        </p:nvSpPr>
        <p:spPr>
          <a:xfrm>
            <a:off x="9944100" y="2438400"/>
            <a:ext cx="438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FF6B6B"/>
                </a:solidFill>
              </a:defRPr>
            </a:pPr>
            <a:r>
              <a:rPr sz="2250" b="1">
                <a:solidFill>
                  <a:srgbClr val="FF6B6B"/>
                </a:solidFill>
              </a:rPr>
              <a:t>5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0659720F-0A42-4796-8EED-60F275F07239}"/>
              </a:ext>
            </a:extLst>
          </p:cNvPr>
          <p:cNvSpPr>
            <a:spLocks noGrp="1"/>
          </p:cNvSpPr>
          <p:nvPr/>
        </p:nvSpPr>
        <p:spPr>
          <a:xfrm>
            <a:off x="10458450" y="2457450"/>
            <a:ext cx="1009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>
                <a:solidFill>
                  <a:srgbClr val="F7FAFC"/>
                </a:solidFill>
              </a:defRPr>
            </a:pPr>
            <a:r>
              <a:rPr sz="1875" b="1">
                <a:solidFill>
                  <a:srgbClr val="F7FAFC"/>
                </a:solidFill>
              </a:rPr>
              <a:t>诊断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3E82B0C8-6C0E-4DF1-8BC0-B0062DD04444}"/>
              </a:ext>
            </a:extLst>
          </p:cNvPr>
          <p:cNvSpPr>
            <a:spLocks noGrp="1"/>
          </p:cNvSpPr>
          <p:nvPr/>
        </p:nvSpPr>
        <p:spPr>
          <a:xfrm>
            <a:off x="9982200" y="3143250"/>
            <a:ext cx="15430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A9B8C9"/>
                </a:solidFill>
              </a:defRPr>
            </a:pPr>
            <a:r>
              <a:rPr sz="1200" b="0">
                <a:solidFill>
                  <a:srgbClr val="A9B8C9"/>
                </a:solidFill>
              </a:rPr>
              <a:t>按确定性证据规则定位可能原因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F8A011AC-81CF-4C22-AEBD-4F068BAB88D5}"/>
              </a:ext>
            </a:extLst>
          </p:cNvPr>
          <p:cNvSpPr>
            <a:spLocks noGrp="1"/>
          </p:cNvSpPr>
          <p:nvPr/>
        </p:nvSpPr>
        <p:spPr>
          <a:xfrm>
            <a:off x="1619250" y="4857750"/>
            <a:ext cx="8953500" cy="1143000"/>
          </a:xfrm>
          <a:prstGeom prst="roundRect">
            <a:avLst>
              <a:gd name="adj" fmla="val 10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9EF29A06-E50A-4681-841D-6134EB1C494F}"/>
              </a:ext>
            </a:extLst>
          </p:cNvPr>
          <p:cNvSpPr>
            <a:spLocks noGrp="1"/>
          </p:cNvSpPr>
          <p:nvPr/>
        </p:nvSpPr>
        <p:spPr>
          <a:xfrm>
            <a:off x="1619250" y="4857750"/>
            <a:ext cx="57150" cy="114300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40F9728F-003C-43E7-9930-0A9AE91B67B2}"/>
              </a:ext>
            </a:extLst>
          </p:cNvPr>
          <p:cNvSpPr>
            <a:spLocks noGrp="1"/>
          </p:cNvSpPr>
          <p:nvPr/>
        </p:nvSpPr>
        <p:spPr>
          <a:xfrm>
            <a:off x="1847850" y="5029200"/>
            <a:ext cx="855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诊断边界</a:t>
            </a: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188EB5E6-DFDF-4CD8-949B-BBCBF275298E}"/>
              </a:ext>
            </a:extLst>
          </p:cNvPr>
          <p:cNvSpPr>
            <a:spLocks noGrp="1"/>
          </p:cNvSpPr>
          <p:nvPr/>
        </p:nvSpPr>
        <p:spPr>
          <a:xfrm>
            <a:off x="1847850" y="5448300"/>
            <a:ext cx="85534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诊断是本地、确定性的证据规则，不等同于 AI 根因分析；证据不足时只提示可能原因。快捷键支持空格、←/→、Home/End、F、D、/ 与 Esc。</a:t>
            </a:r>
          </a:p>
        </p:txBody>
      </p:sp>
    </p:spTree>
    <p:extLst>
      <p:ext uri="{BB962C8B-B14F-4D97-AF65-F5344CB8AC3E}">
        <p14:creationId xmlns:p14="http://schemas.microsoft.com/office/powerpoint/2010/main" val="15436321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2624871A-83D9-4FA5-8566-9E4B237C79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9CBA33-BA0B-45AB-BDE2-9222B2D54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2247D1D-105A-4E11-8F9E-2E562B427B6E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93001B-CF92-49BE-8080-AACE9282A81A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A662E3-6772-41DF-9C12-5662CDDBD0D3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A72ACB4-0DD8-4249-A39C-75FE3BC5853D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6156EE-15B4-4BD8-A7B4-F16B4F128EDE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1571B60-9EDA-482C-B790-91624A72DFC5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64212A0-94F4-4AC8-B584-1BD26E8E96A8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39FEB3B-0187-4D77-9F4C-2C428607FC05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4044EC2-08CD-4616-9C42-E396EFF2F44F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A3ABD74-661A-418D-B586-48C03B61DDF4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E4E5E99-9584-462D-9D3F-9C1871B24551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BA723EF-37DF-41EF-89C8-35E6B6A3E658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6C7865-7D60-4900-8A65-4A46A9EC9FE5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4EAD5E7-08EC-4405-A8F8-545A09FF659D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A5A69B4-5C88-489F-9C27-321B15D7D284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5B9C188-BE46-43A1-ADB7-9061FEE53363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04D10E7-C2BD-404B-A21B-B740A45ACE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190810-E7D9-46B5-A91E-24456216DD75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9CD2EBD-17AF-47F1-9AE2-CAF27FB3D21A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7FA5803-130D-44E2-AE9C-1CF1FAEEDA97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BA149EE-3BC3-44F8-A6FD-6DBBE16B3B07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273D3B2-9918-4295-838A-ACB2B1322733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93BCD42-5B9D-4DC6-8274-F154E94F664B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3841B5A-8C2D-4BC9-BE48-CF6C12D20E15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3151C93-8FFF-46B6-B887-F5EFB2CAEAF0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CE167FB-7AEB-4741-81DF-7AF290B5D9EC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D816160-A1E9-47B9-B4C0-91654E8A4D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4DCA142-6CBF-48A8-8C74-88B51B616D64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176C509-E974-4043-8CEE-4839FD245E77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教学智能体：证据约束，而不是答案生成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3920F60-E7DE-4E62-83F0-BC4CB46682D7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学生 → 本地 /api/agent → 受限循环 ↔ 火山方舟；权限由服务端白名单控制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256151F-3538-45FD-83A6-409139959D7C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4181DAF-5016-4AF2-A82F-1FB52B8C2E4B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17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47DA909B-BA3A-4794-A494-4941302464F3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1381125"/>
          </a:xfrm>
          <a:prstGeom prst="roundRect">
            <a:avLst>
              <a:gd name="adj" fmla="val 827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3CB0636-F222-4CAC-A43A-49AAC10B95A4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57150" cy="1381125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460F223-4C65-4D1C-B1AD-EDD569BD0915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先观察再解释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EC3FE86-20F6-4AE0-AB72-E441643B2136}"/>
              </a:ext>
            </a:extLst>
          </p:cNvPr>
          <p:cNvSpPr>
            <a:spLocks noGrp="1"/>
          </p:cNvSpPr>
          <p:nvPr/>
        </p:nvSpPr>
        <p:spPr>
          <a:xfrm>
            <a:off x="952500" y="2781300"/>
            <a:ext cx="43624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固定教学引导：观察证据、解释机制、定位代码、预测结果，最后验证。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0EB276E6-9482-4BC7-A930-EDE9CD63D2BE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4762500" cy="1381125"/>
          </a:xfrm>
          <a:prstGeom prst="roundRect">
            <a:avLst>
              <a:gd name="adj" fmla="val 827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47CEED3-E314-4701-9F88-384C1DF0A20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57150" cy="1381125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E175191-BFB8-4462-9CBB-E0B77EF6F115}"/>
              </a:ext>
            </a:extLst>
          </p:cNvPr>
          <p:cNvSpPr>
            <a:spLocks noGrp="1"/>
          </p:cNvSpPr>
          <p:nvPr/>
        </p:nvSpPr>
        <p:spPr>
          <a:xfrm>
            <a:off x="6934200" y="23622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六个白名单工具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AE650F9-5D9B-4C83-80B9-BFDBA29D7145}"/>
              </a:ext>
            </a:extLst>
          </p:cNvPr>
          <p:cNvSpPr>
            <a:spLocks noGrp="1"/>
          </p:cNvSpPr>
          <p:nvPr/>
        </p:nvSpPr>
        <p:spPr>
          <a:xfrm>
            <a:off x="6934200" y="2781300"/>
            <a:ext cx="43624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上下文、源码片段、事件、结果、差异、批准测试；拒绝任意命令和教师答案。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CE417B1F-23F9-4793-9020-BAB4C14BA4CA}"/>
              </a:ext>
            </a:extLst>
          </p:cNvPr>
          <p:cNvSpPr>
            <a:spLocks noGrp="1"/>
          </p:cNvSpPr>
          <p:nvPr/>
        </p:nvSpPr>
        <p:spPr>
          <a:xfrm>
            <a:off x="723900" y="4019550"/>
            <a:ext cx="4762500" cy="1381125"/>
          </a:xfrm>
          <a:prstGeom prst="roundRect">
            <a:avLst>
              <a:gd name="adj" fmla="val 827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405B5A5-763B-44BD-AE6D-80A82C108E5D}"/>
              </a:ext>
            </a:extLst>
          </p:cNvPr>
          <p:cNvSpPr>
            <a:spLocks noGrp="1"/>
          </p:cNvSpPr>
          <p:nvPr/>
        </p:nvSpPr>
        <p:spPr>
          <a:xfrm>
            <a:off x="723900" y="4019550"/>
            <a:ext cx="57150" cy="1381125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B037C57-46FA-4BC0-907E-D3DAA8C42054}"/>
              </a:ext>
            </a:extLst>
          </p:cNvPr>
          <p:cNvSpPr>
            <a:spLocks noGrp="1"/>
          </p:cNvSpPr>
          <p:nvPr/>
        </p:nvSpPr>
        <p:spPr>
          <a:xfrm>
            <a:off x="952500" y="41910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上下文与任务锁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C2E78FD-9689-481D-85E2-06F4F163E11B}"/>
              </a:ext>
            </a:extLst>
          </p:cNvPr>
          <p:cNvSpPr>
            <a:spLocks noGrp="1"/>
          </p:cNvSpPr>
          <p:nvPr/>
        </p:nvSpPr>
        <p:spPr>
          <a:xfrm>
            <a:off x="952500" y="4610100"/>
            <a:ext cx="43624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分支或提交变化即 context_changed；交互运行与智能体测试共享一个任务锁。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0B60C34F-3962-4D4F-B9FD-4285F8B9D106}"/>
              </a:ext>
            </a:extLst>
          </p:cNvPr>
          <p:cNvSpPr>
            <a:spLocks noGrp="1"/>
          </p:cNvSpPr>
          <p:nvPr/>
        </p:nvSpPr>
        <p:spPr>
          <a:xfrm>
            <a:off x="6705600" y="4019550"/>
            <a:ext cx="4762500" cy="1381125"/>
          </a:xfrm>
          <a:prstGeom prst="roundRect">
            <a:avLst>
              <a:gd name="adj" fmla="val 827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60B7F5E-8702-427F-95D7-A4B37DEC010F}"/>
              </a:ext>
            </a:extLst>
          </p:cNvPr>
          <p:cNvSpPr>
            <a:spLocks noGrp="1"/>
          </p:cNvSpPr>
          <p:nvPr/>
        </p:nvSpPr>
        <p:spPr>
          <a:xfrm>
            <a:off x="6705600" y="4019550"/>
            <a:ext cx="57150" cy="1381125"/>
          </a:xfrm>
          <a:prstGeom prst="rect">
            <a:avLst/>
          </a:prstGeom>
          <a:solidFill>
            <a:srgbClr val="F3B562"/>
          </a:solidFill>
          <a:ln w="0">
            <a:noFill/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3DFC848-A0CD-4A14-A255-960C8F315839}"/>
              </a:ext>
            </a:extLst>
          </p:cNvPr>
          <p:cNvSpPr>
            <a:spLocks noGrp="1"/>
          </p:cNvSpPr>
          <p:nvPr/>
        </p:nvSpPr>
        <p:spPr>
          <a:xfrm>
            <a:off x="6934200" y="41910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3B562"/>
                </a:solidFill>
              </a:defRPr>
            </a:pPr>
            <a:r>
              <a:rPr sz="1575" b="1">
                <a:solidFill>
                  <a:srgbClr val="F3B562"/>
                </a:solidFill>
              </a:rPr>
              <a:t>稳定版本协议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51D3D9B-D882-4F4B-A51A-87DFC909E54C}"/>
              </a:ext>
            </a:extLst>
          </p:cNvPr>
          <p:cNvSpPr>
            <a:spLocks noGrp="1"/>
          </p:cNvSpPr>
          <p:nvPr/>
        </p:nvSpPr>
        <p:spPr>
          <a:xfrm>
            <a:off x="6934200" y="4610100"/>
            <a:ext cx="43624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os-tutor.agent/v1 与 tool/v1；每次提问独立，回答按纯文本显示。</a:t>
            </a:r>
          </a:p>
        </p:txBody>
      </p:sp>
    </p:spTree>
    <p:extLst>
      <p:ext uri="{BB962C8B-B14F-4D97-AF65-F5344CB8AC3E}">
        <p14:creationId xmlns:p14="http://schemas.microsoft.com/office/powerpoint/2010/main" val="9240227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91671906-9FF4-4A67-9662-B3948F858D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248404E-BF83-406D-BA15-F7715CD0CF2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1DE2954-849B-4118-A553-B1DB452BAE0E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6ED01EC-DA70-4137-BFD6-BDCBCFB12F4E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2C620F0-4734-4324-A02E-EFDB39FEA7A6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EB6F065-6D53-42D1-945B-DAC568B7D194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4A2B656-8749-4A38-A280-C70F1F8F642E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C63EC2A-3C29-4B6A-87BA-91D4B4627D0B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7786BB-4A91-4FF1-8D02-AF8E0FB1227D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7EC310D-1D29-45BE-A7B6-48ADEEE9E95C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2A1E871-98D1-4A30-8B44-80320A253983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AA202A0-4387-4A61-AFCE-3592769C8FDE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3B80356-F1F3-4C25-BD70-0C6D10C78956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1E67F30-8E2F-4D1D-A452-341B76A07994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ABCA83E-F83C-47E6-AE22-452D6A1E3BFE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D6696FD-C70A-4FAC-A498-A7E9A8678CA6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ECD0F9-B645-411D-B2B8-0686A0429B2F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690E80C-3C2C-4860-8A79-BF7D4907B99A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F1B15C3-948D-4725-A06E-0F7D69FEE4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50311C7-9E9E-4D3D-8BD4-A7AA8BA35B63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1DE0097-6C41-41D6-8302-150F489B217A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22962D3-21C1-481C-BF56-C197760D186C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89F4FC9-3FC8-4351-816F-CF66C89C31C3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AAA54FB-78ED-4736-8866-C57E0E9EC859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5F88C1C-3B73-43FC-B540-B2EF693A47BF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1528F98-4DBA-4F39-8E2F-9AF4926861B1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1E54381-B8F8-4197-A5E4-FF33B13C4AF7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1507303-6833-4E2D-ABAF-8074445324C2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DE1B268-96DB-4659-9068-A45C7CDEFA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5104690-3A01-4B35-9A00-B6A51CC3CDAD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FCF3E9F-1316-4BDB-A1F9-A6E0C2B6B061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四层数据边界：联网与否由功能决定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7FC42F6-5908-488D-B3C7-9F41993196AA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不再用“完全本地”概括整个系统；每条链路分别告知、限制和验收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F30290B-7D85-44C6-8A0E-F4B15ECFE9C0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7B4113A-C0BF-40EA-B470-A3DAAD0FBB4A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18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75B35A18-CB20-4337-9C69-F8B0BCBAF3A9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0672890-AF1C-4D07-8AC9-A86C6C27ECAF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57150" cy="14287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E1356EB-1E3D-48E8-9344-6E23638908C2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本地确定性能力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00BE1FD-F905-4CC1-98EA-B7EF790662BB}"/>
              </a:ext>
            </a:extLst>
          </p:cNvPr>
          <p:cNvSpPr>
            <a:spLocks noGrp="1"/>
          </p:cNvSpPr>
          <p:nvPr/>
        </p:nvSpPr>
        <p:spPr>
          <a:xfrm>
            <a:off x="952500" y="2781300"/>
            <a:ext cx="4362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预测、回放、分支比较和规则诊断不调用模型。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1CAC53B5-360F-4E37-8D8F-D3A7DA9E26B8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476250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E84E5B2-C343-4AED-BD2B-AFC09058FFDF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57150" cy="1428750"/>
          </a:xfrm>
          <a:prstGeom prst="rect">
            <a:avLst/>
          </a:prstGeom>
          <a:solidFill>
            <a:srgbClr val="FF6B6B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10E22AD-9895-4022-A17E-916586DBBF58}"/>
              </a:ext>
            </a:extLst>
          </p:cNvPr>
          <p:cNvSpPr>
            <a:spLocks noGrp="1"/>
          </p:cNvSpPr>
          <p:nvPr/>
        </p:nvSpPr>
        <p:spPr>
          <a:xfrm>
            <a:off x="6934200" y="23622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6B6B"/>
                </a:solidFill>
              </a:defRPr>
            </a:pPr>
            <a:r>
              <a:rPr sz="1575" b="1">
                <a:solidFill>
                  <a:srgbClr val="FF6B6B"/>
                </a:solidFill>
              </a:rPr>
              <a:t>主动远程反馈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C16A57E-34DB-4CA2-94BF-0B236EC4D832}"/>
              </a:ext>
            </a:extLst>
          </p:cNvPr>
          <p:cNvSpPr>
            <a:spLocks noGrp="1"/>
          </p:cNvSpPr>
          <p:nvPr/>
        </p:nvSpPr>
        <p:spPr>
          <a:xfrm>
            <a:off x="6934200" y="2781300"/>
            <a:ext cx="4362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预览并同意后，经 HTTPS / 8890 写入负责人本机 JSONL。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65017C2B-190A-4207-9B7F-C3C2D1C92606}"/>
              </a:ext>
            </a:extLst>
          </p:cNvPr>
          <p:cNvSpPr>
            <a:spLocks noGrp="1"/>
          </p:cNvSpPr>
          <p:nvPr/>
        </p:nvSpPr>
        <p:spPr>
          <a:xfrm>
            <a:off x="723900" y="4095750"/>
            <a:ext cx="476250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04B67DC-46C7-4476-9AE4-29DCEAAD25C4}"/>
              </a:ext>
            </a:extLst>
          </p:cNvPr>
          <p:cNvSpPr>
            <a:spLocks noGrp="1"/>
          </p:cNvSpPr>
          <p:nvPr/>
        </p:nvSpPr>
        <p:spPr>
          <a:xfrm>
            <a:off x="723900" y="4095750"/>
            <a:ext cx="57150" cy="14287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29B5369-598B-4613-A764-08F76A1FD17C}"/>
              </a:ext>
            </a:extLst>
          </p:cNvPr>
          <p:cNvSpPr>
            <a:spLocks noGrp="1"/>
          </p:cNvSpPr>
          <p:nvPr/>
        </p:nvSpPr>
        <p:spPr>
          <a:xfrm>
            <a:off x="952500" y="42672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方舟教学智能体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D6A5C7A-93BA-4396-B973-0CFC101BA2FA}"/>
              </a:ext>
            </a:extLst>
          </p:cNvPr>
          <p:cNvSpPr>
            <a:spLocks noGrp="1"/>
          </p:cNvSpPr>
          <p:nvPr/>
        </p:nvSpPr>
        <p:spPr>
          <a:xfrm>
            <a:off x="952500" y="4686300"/>
            <a:ext cx="4362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问题与按需受限证据发送云端；Key 仅在服务端；store: true 用于工具续接。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DD1E9821-2554-40FF-9253-40180279053E}"/>
              </a:ext>
            </a:extLst>
          </p:cNvPr>
          <p:cNvSpPr>
            <a:spLocks noGrp="1"/>
          </p:cNvSpPr>
          <p:nvPr/>
        </p:nvSpPr>
        <p:spPr>
          <a:xfrm>
            <a:off x="6705600" y="4095750"/>
            <a:ext cx="476250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A3DEB7-04BA-4A6D-80D4-CF10EE9F338C}"/>
              </a:ext>
            </a:extLst>
          </p:cNvPr>
          <p:cNvSpPr>
            <a:spLocks noGrp="1"/>
          </p:cNvSpPr>
          <p:nvPr/>
        </p:nvSpPr>
        <p:spPr>
          <a:xfrm>
            <a:off x="6705600" y="4095750"/>
            <a:ext cx="57150" cy="142875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4C64608-21EA-4B47-99C9-2F5932CEECE9}"/>
              </a:ext>
            </a:extLst>
          </p:cNvPr>
          <p:cNvSpPr>
            <a:spLocks noGrp="1"/>
          </p:cNvSpPr>
          <p:nvPr/>
        </p:nvSpPr>
        <p:spPr>
          <a:xfrm>
            <a:off x="6934200" y="42672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本地教师评分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631D967-406E-4E76-97F4-EC5C99D4689B}"/>
              </a:ext>
            </a:extLst>
          </p:cNvPr>
          <p:cNvSpPr>
            <a:spLocks noGrp="1"/>
          </p:cNvSpPr>
          <p:nvPr/>
        </p:nvSpPr>
        <p:spPr>
          <a:xfrm>
            <a:off x="6934200" y="4686300"/>
            <a:ext cx="4362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不自动上传成绩；运行证据和智能体回答都不自动加分。</a:t>
            </a:r>
          </a:p>
        </p:txBody>
      </p:sp>
    </p:spTree>
    <p:extLst>
      <p:ext uri="{BB962C8B-B14F-4D97-AF65-F5344CB8AC3E}">
        <p14:creationId xmlns:p14="http://schemas.microsoft.com/office/powerpoint/2010/main" val="21251305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 52">
            <a:extLst>
              <a:ext uri="{FF2B5EF4-FFF2-40B4-BE49-F238E27FC236}">
                <a16:creationId xmlns:a16="http://schemas.microsoft.com/office/drawing/2014/main" id="{2765A5AA-0366-497F-8C0F-815403C598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9883E6B-35FA-4A32-9BBB-87568FEBF0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0C0076-9AF3-4FD3-B885-8C9B22121720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0B8E2CD-1276-4950-AA46-D103012C6C7B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EF1416-1979-48A0-BA17-8DAB7AFBC56F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E501689-76AB-4D9C-BBE1-93094207D1FE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98230F-2341-4DB9-AC59-085B3C91F710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DC79BE-B6A5-4DF4-898E-64D9780728B8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A4191D1-2D38-419B-824D-B4ADC97AF87E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26BD0E-6553-4356-A1DE-F796FF8149DB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41444FA-3AE3-4398-9DCC-51FA0447529C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F8F7D9-5D4D-405E-A036-615BDA2F4E01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27ED6FF-1041-4D12-AE04-B05132E42334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0C02851-55C4-4605-BA0E-A2B7A82FB50F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D03176-830C-40DA-9785-6A1C6EA008DC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0182D3E-C515-44DA-9FB7-3231265AF727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F048BD8-D1E6-4FC0-8DC9-2A13569FDEF7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BDF8358-8CB4-4B94-870D-AF1FB23B9135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2C4CB3F-2D7D-4A4F-ACAF-47B14A7CF6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2B1257E-1B7F-4236-ADAC-1D1BFC66B8A1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1235A5-859E-45A7-973B-58F25F0E958A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200B4B0-0770-4CF3-A4AF-69D4F765DC65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CE9A298-42A7-4AA1-8D1A-F59DF92CB99C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5C0207F-0ADD-4912-B7FF-46E4427D8C67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5212054-4D93-4BA1-A169-4CAB8D6FBF7D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18961F6-9A75-4DD5-8E56-2E2BBC702F6B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2A6ED15-BBB5-45A4-B295-F860C65C31AD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103934D-3373-4AB4-8F8A-A9AF1B695CC5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AF279DE-824F-40A9-8ED6-E189A69353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FAF2C76-4F1A-4343-B78E-C953A66A9143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33DD1F1-813D-4D40-95DE-AD342D711EBE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自愿反馈：先预览、再同意、再提交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9E67C39-725C-4168-9A75-39A3A7329863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教学评价与脱敏运行记录使用独立协议：8890 接收，8891 本机管理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01C3EC1-ED9A-45EB-BA3D-B33F40BECEE7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C93E873-3FF0-49C7-9074-FFD6FFB5B65F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19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4350" y="2131718"/>
            <a:ext cx="4000500" cy="2251665"/>
          </a:xfrm>
          <a:prstGeom prst="roundRect">
            <a:avLst>
              <a:gd name="adj" fmla="val 4839"/>
            </a:avLst>
          </a:prstGeom>
        </p:spPr>
      </p:pic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D5E0DE1-89B7-45DD-995C-47766A4D2045}"/>
              </a:ext>
            </a:extLst>
          </p:cNvPr>
          <p:cNvSpPr>
            <a:spLocks noGrp="1"/>
          </p:cNvSpPr>
          <p:nvPr/>
        </p:nvSpPr>
        <p:spPr>
          <a:xfrm>
            <a:off x="514350" y="2076450"/>
            <a:ext cx="4000500" cy="2362200"/>
          </a:xfrm>
          <a:prstGeom prst="roundRect">
            <a:avLst>
              <a:gd name="adj" fmla="val 4839"/>
            </a:avLst>
          </a:prstGeom>
          <a:noFill/>
          <a:ln w="9525">
            <a:solidFill>
              <a:srgbClr val="35C8F4"/>
            </a:solidFill>
            <a:prstDash val="solid"/>
          </a:ln>
        </p:spPr>
      </p:sp>
      <p:pic>
        <p:nvPicPr>
          <p:cNvPr id="92" name="图片 9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677150" y="2131718"/>
            <a:ext cx="4000500" cy="2251665"/>
          </a:xfrm>
          <a:prstGeom prst="roundRect">
            <a:avLst>
              <a:gd name="adj" fmla="val 4839"/>
            </a:avLst>
          </a:prstGeom>
        </p:spPr>
      </p:pic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E84282D-1E74-4534-AFA8-53F54522233D}"/>
              </a:ext>
            </a:extLst>
          </p:cNvPr>
          <p:cNvSpPr>
            <a:spLocks noGrp="1"/>
          </p:cNvSpPr>
          <p:nvPr/>
        </p:nvSpPr>
        <p:spPr>
          <a:xfrm>
            <a:off x="7677150" y="2076450"/>
            <a:ext cx="4000500" cy="2362200"/>
          </a:xfrm>
          <a:prstGeom prst="roundRect">
            <a:avLst>
              <a:gd name="adj" fmla="val 4839"/>
            </a:avLst>
          </a:prstGeom>
          <a:noFill/>
          <a:ln w="9525">
            <a:solidFill>
              <a:srgbClr val="35C8F4"/>
            </a:solidFill>
            <a:prstDash val="solid"/>
          </a:ln>
        </p:spPr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5AA4B56-69B1-4A5E-A7CC-BE6F75609EC7}"/>
              </a:ext>
            </a:extLst>
          </p:cNvPr>
          <p:cNvSpPr>
            <a:spLocks noGrp="1"/>
          </p:cNvSpPr>
          <p:nvPr/>
        </p:nvSpPr>
        <p:spPr>
          <a:xfrm>
            <a:off x="514350" y="4667250"/>
            <a:ext cx="4000500" cy="1200150"/>
          </a:xfrm>
          <a:prstGeom prst="roundRect">
            <a:avLst>
              <a:gd name="adj" fmla="val 9524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983441B-65E2-472A-9D49-C5BB3486C7F5}"/>
              </a:ext>
            </a:extLst>
          </p:cNvPr>
          <p:cNvSpPr>
            <a:spLocks noGrp="1"/>
          </p:cNvSpPr>
          <p:nvPr/>
        </p:nvSpPr>
        <p:spPr>
          <a:xfrm>
            <a:off x="514350" y="4667250"/>
            <a:ext cx="57150" cy="12001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C59CF35-55AC-4A00-90B8-2812A7C21B04}"/>
              </a:ext>
            </a:extLst>
          </p:cNvPr>
          <p:cNvSpPr>
            <a:spLocks noGrp="1"/>
          </p:cNvSpPr>
          <p:nvPr/>
        </p:nvSpPr>
        <p:spPr>
          <a:xfrm>
            <a:off x="742950" y="4838700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学生主动提交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B394891-08D3-4615-929D-CF520D1FA208}"/>
              </a:ext>
            </a:extLst>
          </p:cNvPr>
          <p:cNvSpPr>
            <a:spLocks noGrp="1"/>
          </p:cNvSpPr>
          <p:nvPr/>
        </p:nvSpPr>
        <p:spPr>
          <a:xfrm>
            <a:off x="742950" y="5257800"/>
            <a:ext cx="3600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页面列出发送和排除字段；取消、只回放或关闭页面都不会产生提交请求。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CA819CF2-0B73-4652-82A0-CD5E0E02E1F5}"/>
              </a:ext>
            </a:extLst>
          </p:cNvPr>
          <p:cNvSpPr>
            <a:spLocks noGrp="1"/>
          </p:cNvSpPr>
          <p:nvPr/>
        </p:nvSpPr>
        <p:spPr>
          <a:xfrm>
            <a:off x="7677150" y="4667250"/>
            <a:ext cx="4000500" cy="1200150"/>
          </a:xfrm>
          <a:prstGeom prst="roundRect">
            <a:avLst>
              <a:gd name="adj" fmla="val 9524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18063E9-AA2E-4CAB-9E88-28C5D89AA1BE}"/>
              </a:ext>
            </a:extLst>
          </p:cNvPr>
          <p:cNvSpPr>
            <a:spLocks noGrp="1"/>
          </p:cNvSpPr>
          <p:nvPr/>
        </p:nvSpPr>
        <p:spPr>
          <a:xfrm>
            <a:off x="7677150" y="4667250"/>
            <a:ext cx="57150" cy="12001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BE7C068-94F8-4E74-BE2A-409E698C0C50}"/>
              </a:ext>
            </a:extLst>
          </p:cNvPr>
          <p:cNvSpPr>
            <a:spLocks noGrp="1"/>
          </p:cNvSpPr>
          <p:nvPr/>
        </p:nvSpPr>
        <p:spPr>
          <a:xfrm>
            <a:off x="7905750" y="4838700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负责人本机管理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2347D77-CD61-4C92-9A90-6862F859BB4D}"/>
              </a:ext>
            </a:extLst>
          </p:cNvPr>
          <p:cNvSpPr>
            <a:spLocks noGrp="1"/>
          </p:cNvSpPr>
          <p:nvPr/>
        </p:nvSpPr>
        <p:spPr>
          <a:xfrm>
            <a:off x="7905750" y="5257800"/>
            <a:ext cx="3600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反馈与运行记录分开写入 JSONL；筛选、导出、备份与公开脱敏由负责人完成。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50C56718-1761-4EB5-B373-DB42FB0618A0}"/>
              </a:ext>
            </a:extLst>
          </p:cNvPr>
          <p:cNvSpPr>
            <a:spLocks noGrp="1"/>
          </p:cNvSpPr>
          <p:nvPr/>
        </p:nvSpPr>
        <p:spPr>
          <a:xfrm>
            <a:off x="5048250" y="2476500"/>
            <a:ext cx="2095500" cy="2857500"/>
          </a:xfrm>
          <a:prstGeom prst="roundRect">
            <a:avLst>
              <a:gd name="adj" fmla="val 5455"/>
            </a:avLst>
          </a:prstGeom>
          <a:solidFill>
            <a:srgbClr val="10283D"/>
          </a:solidFill>
          <a:ln w="9525">
            <a:solidFill>
              <a:srgbClr val="FF7A1A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118AFCFB-1902-44B6-9C5D-3FD1DC850C42}"/>
              </a:ext>
            </a:extLst>
          </p:cNvPr>
          <p:cNvSpPr>
            <a:spLocks noGrp="1"/>
          </p:cNvSpPr>
          <p:nvPr/>
        </p:nvSpPr>
        <p:spPr>
          <a:xfrm>
            <a:off x="5219700" y="2800350"/>
            <a:ext cx="1752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7A1A"/>
                </a:solidFill>
              </a:defRPr>
            </a:pPr>
            <a:r>
              <a:rPr sz="1425" b="1">
                <a:solidFill>
                  <a:srgbClr val="FF7A1A"/>
                </a:solidFill>
              </a:rPr>
              <a:t>os-demo.feedback.</a:t>
            </a:r>
          </a:p>
          <a:p>
            <a:pPr algn="ctr">
              <a:buNone/>
              <a:defRPr sz="1425" b="1">
                <a:solidFill>
                  <a:srgbClr val="FF7A1A"/>
                </a:solidFill>
              </a:defRPr>
            </a:pPr>
            <a:r>
              <a:rPr sz="1425" b="1">
                <a:solidFill>
                  <a:srgbClr val="FF7A1A"/>
                </a:solidFill>
              </a:rPr>
              <a:t>submit/v1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0ACA49C-D834-4B81-8E76-3267E5E4B0B4}"/>
              </a:ext>
            </a:extLst>
          </p:cNvPr>
          <p:cNvSpPr>
            <a:spLocks noGrp="1"/>
          </p:cNvSpPr>
          <p:nvPr/>
        </p:nvSpPr>
        <p:spPr>
          <a:xfrm>
            <a:off x="5219700" y="32575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7FAFC"/>
                </a:solidFill>
              </a:defRPr>
            </a:pPr>
            <a:r>
              <a:rPr sz="1275" b="1">
                <a:solidFill>
                  <a:srgbClr val="F7FAFC"/>
                </a:solidFill>
              </a:rPr>
              <a:t>预览并同意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975263C-B338-4242-826F-D63C561D5117}"/>
              </a:ext>
            </a:extLst>
          </p:cNvPr>
          <p:cNvSpPr>
            <a:spLocks noGrp="1"/>
          </p:cNvSpPr>
          <p:nvPr/>
        </p:nvSpPr>
        <p:spPr>
          <a:xfrm>
            <a:off x="5219700" y="36766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1">
                <a:solidFill>
                  <a:srgbClr val="A9B8C9"/>
                </a:solidFill>
              </a:defRPr>
            </a:pPr>
            <a:r>
              <a:rPr sz="19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7FE092C-7869-473B-8257-EBCC91AF5CF2}"/>
              </a:ext>
            </a:extLst>
          </p:cNvPr>
          <p:cNvSpPr>
            <a:spLocks noGrp="1"/>
          </p:cNvSpPr>
          <p:nvPr/>
        </p:nvSpPr>
        <p:spPr>
          <a:xfrm>
            <a:off x="5219700" y="41148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7FAFC"/>
                </a:solidFill>
              </a:defRPr>
            </a:pPr>
            <a:r>
              <a:rPr sz="1275" b="1">
                <a:solidFill>
                  <a:srgbClr val="F7FAFC"/>
                </a:solidFill>
              </a:rPr>
              <a:t>HTTPS / 8890 → JSONL / 8891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1F7B70CB-05AA-4D04-B148-8BB4D34DDE87}"/>
              </a:ext>
            </a:extLst>
          </p:cNvPr>
          <p:cNvSpPr>
            <a:spLocks noGrp="1"/>
          </p:cNvSpPr>
          <p:nvPr/>
        </p:nvSpPr>
        <p:spPr>
          <a:xfrm>
            <a:off x="5162550" y="4629150"/>
            <a:ext cx="1866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30C980"/>
                </a:solidFill>
              </a:defRPr>
            </a:pPr>
            <a:r>
              <a:rPr sz="1200" b="1">
                <a:solidFill>
                  <a:srgbClr val="30C980"/>
                </a:solidFill>
              </a:rPr>
              <a:t>不等同于评分</a:t>
            </a:r>
          </a:p>
        </p:txBody>
      </p:sp>
    </p:spTree>
    <p:extLst>
      <p:ext uri="{BB962C8B-B14F-4D97-AF65-F5344CB8AC3E}">
        <p14:creationId xmlns:p14="http://schemas.microsoft.com/office/powerpoint/2010/main" val="290219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矩形 52">
            <a:extLst>
              <a:ext uri="{FF2B5EF4-FFF2-40B4-BE49-F238E27FC236}">
                <a16:creationId xmlns:a16="http://schemas.microsoft.com/office/drawing/2014/main" id="{2765A5AA-0366-497F-8C0F-815403C598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9883E6B-35FA-4A32-9BBB-87568FEBF0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0C0076-9AF3-4FD3-B885-8C9B22121720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0B8E2CD-1276-4950-AA46-D103012C6C7B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EF1416-1979-48A0-BA17-8DAB7AFBC56F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E501689-76AB-4D9C-BBE1-93094207D1FE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98230F-2341-4DB9-AC59-085B3C91F710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CDC79BE-B6A5-4DF4-898E-64D9780728B8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A4191D1-2D38-419B-824D-B4ADC97AF87E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26BD0E-6553-4356-A1DE-F796FF8149DB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41444FA-3AE3-4398-9DCC-51FA0447529C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F8F7D9-5D4D-405E-A036-615BDA2F4E01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27ED6FF-1041-4D12-AE04-B05132E42334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0C02851-55C4-4605-BA0E-A2B7A82FB50F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D03176-830C-40DA-9785-6A1C6EA008DC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0182D3E-C515-44DA-9FB7-3231265AF727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F048BD8-D1E6-4FC0-8DC9-2A13569FDEF7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BDF8358-8CB4-4B94-870D-AF1FB23B9135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2C4CB3F-2D7D-4A4F-ACAF-47B14A7CF6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2B1257E-1B7F-4236-ADAC-1D1BFC66B8A1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1235A5-859E-45A7-973B-58F25F0E958A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200B4B0-0770-4CF3-A4AF-69D4F765DC65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CE9A298-42A7-4AA1-8D1A-F59DF92CB99C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5C0207F-0ADD-4912-B7FF-46E4427D8C67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5212054-4D93-4BA1-A169-4CAB8D6FBF7D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18961F6-9A75-4DD5-8E56-2E2BBC702F6B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2A6ED15-BBB5-45A4-B295-F860C65C31AD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103934D-3373-4AB4-8F8A-A9AF1B695CC5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AF279DE-824F-40A9-8ED6-E189A69353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FAF2C76-4F1A-4343-B78E-C953A66A9143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33DD1F1-813D-4D40-95DE-AD342D711EBE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教师评分：自动证据只建议客观状态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9E67C39-725C-4168-9A75-39A3A7329863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七套 100 分量表最终由代码审查、口试、实验报告和教师人工确认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01C3EC1-ED9A-45EB-BA3D-B33F40BECEE7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C93E873-3FF0-49C7-9074-FFD6FFB5B65F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20</a:t>
            </a: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4350" y="2131718"/>
            <a:ext cx="4000500" cy="2251665"/>
          </a:xfrm>
          <a:prstGeom prst="roundRect">
            <a:avLst>
              <a:gd name="adj" fmla="val 4839"/>
            </a:avLst>
          </a:prstGeom>
        </p:spPr>
      </p:pic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D5E0DE1-89B7-45DD-995C-47766A4D2045}"/>
              </a:ext>
            </a:extLst>
          </p:cNvPr>
          <p:cNvSpPr>
            <a:spLocks noGrp="1"/>
          </p:cNvSpPr>
          <p:nvPr/>
        </p:nvSpPr>
        <p:spPr>
          <a:xfrm>
            <a:off x="514350" y="2076450"/>
            <a:ext cx="4000500" cy="2362200"/>
          </a:xfrm>
          <a:prstGeom prst="roundRect">
            <a:avLst>
              <a:gd name="adj" fmla="val 4839"/>
            </a:avLst>
          </a:prstGeom>
          <a:noFill/>
          <a:ln w="9525">
            <a:solidFill>
              <a:srgbClr val="35C8F4"/>
            </a:solidFill>
            <a:prstDash val="solid"/>
          </a:ln>
        </p:spPr>
      </p:sp>
      <p:pic>
        <p:nvPicPr>
          <p:cNvPr id="92" name="图片 9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677150" y="2131718"/>
            <a:ext cx="4000500" cy="2251665"/>
          </a:xfrm>
          <a:prstGeom prst="roundRect">
            <a:avLst>
              <a:gd name="adj" fmla="val 4839"/>
            </a:avLst>
          </a:prstGeom>
        </p:spPr>
      </p:pic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E84282D-1E74-4534-AFA8-53F54522233D}"/>
              </a:ext>
            </a:extLst>
          </p:cNvPr>
          <p:cNvSpPr>
            <a:spLocks noGrp="1"/>
          </p:cNvSpPr>
          <p:nvPr/>
        </p:nvSpPr>
        <p:spPr>
          <a:xfrm>
            <a:off x="7677150" y="2076450"/>
            <a:ext cx="4000500" cy="2362200"/>
          </a:xfrm>
          <a:prstGeom prst="roundRect">
            <a:avLst>
              <a:gd name="adj" fmla="val 4839"/>
            </a:avLst>
          </a:prstGeom>
          <a:noFill/>
          <a:ln w="9525">
            <a:solidFill>
              <a:srgbClr val="35C8F4"/>
            </a:solidFill>
            <a:prstDash val="solid"/>
          </a:ln>
        </p:spPr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5AA4B56-69B1-4A5E-A7CC-BE6F75609EC7}"/>
              </a:ext>
            </a:extLst>
          </p:cNvPr>
          <p:cNvSpPr>
            <a:spLocks noGrp="1"/>
          </p:cNvSpPr>
          <p:nvPr/>
        </p:nvSpPr>
        <p:spPr>
          <a:xfrm>
            <a:off x="514350" y="4667250"/>
            <a:ext cx="4000500" cy="1200150"/>
          </a:xfrm>
          <a:prstGeom prst="roundRect">
            <a:avLst>
              <a:gd name="adj" fmla="val 9524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983441B-65E2-472A-9D49-C5BB3486C7F5}"/>
              </a:ext>
            </a:extLst>
          </p:cNvPr>
          <p:cNvSpPr>
            <a:spLocks noGrp="1"/>
          </p:cNvSpPr>
          <p:nvPr/>
        </p:nvSpPr>
        <p:spPr>
          <a:xfrm>
            <a:off x="514350" y="4667250"/>
            <a:ext cx="57150" cy="12001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C59CF35-55AC-4A00-90B8-2812A7C21B04}"/>
              </a:ext>
            </a:extLst>
          </p:cNvPr>
          <p:cNvSpPr>
            <a:spLocks noGrp="1"/>
          </p:cNvSpPr>
          <p:nvPr/>
        </p:nvSpPr>
        <p:spPr>
          <a:xfrm>
            <a:off x="742950" y="4838700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运行证据导入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6B394891-08D3-4615-929D-CF520D1FA208}"/>
              </a:ext>
            </a:extLst>
          </p:cNvPr>
          <p:cNvSpPr>
            <a:spLocks noGrp="1"/>
          </p:cNvSpPr>
          <p:nvPr/>
        </p:nvSpPr>
        <p:spPr>
          <a:xfrm>
            <a:off x="742950" y="5257800"/>
            <a:ext cx="3600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os-demo.run/v1 只建议 build / QEMU 状态；损坏、超限或错误 Lab 文件安全拒绝。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CA819CF2-0B73-4652-82A0-CD5E0E02E1F5}"/>
              </a:ext>
            </a:extLst>
          </p:cNvPr>
          <p:cNvSpPr>
            <a:spLocks noGrp="1"/>
          </p:cNvSpPr>
          <p:nvPr/>
        </p:nvSpPr>
        <p:spPr>
          <a:xfrm>
            <a:off x="7677150" y="4667250"/>
            <a:ext cx="4000500" cy="1200150"/>
          </a:xfrm>
          <a:prstGeom prst="roundRect">
            <a:avLst>
              <a:gd name="adj" fmla="val 9524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A18063E9-AA2E-4CAB-9E88-28C5D89AA1BE}"/>
              </a:ext>
            </a:extLst>
          </p:cNvPr>
          <p:cNvSpPr>
            <a:spLocks noGrp="1"/>
          </p:cNvSpPr>
          <p:nvPr/>
        </p:nvSpPr>
        <p:spPr>
          <a:xfrm>
            <a:off x="7677150" y="4667250"/>
            <a:ext cx="57150" cy="12001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BE7C068-94F8-4E74-BE2A-409E698C0C50}"/>
              </a:ext>
            </a:extLst>
          </p:cNvPr>
          <p:cNvSpPr>
            <a:spLocks noGrp="1"/>
          </p:cNvSpPr>
          <p:nvPr/>
        </p:nvSpPr>
        <p:spPr>
          <a:xfrm>
            <a:off x="7905750" y="4838700"/>
            <a:ext cx="3600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人工确认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2347D77-CD61-4C92-9A90-6862F859BB4D}"/>
              </a:ext>
            </a:extLst>
          </p:cNvPr>
          <p:cNvSpPr>
            <a:spLocks noGrp="1"/>
          </p:cNvSpPr>
          <p:nvPr/>
        </p:nvSpPr>
        <p:spPr>
          <a:xfrm>
            <a:off x="7905750" y="5257800"/>
            <a:ext cx="36004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智能体回答不计分；教师复核实现、防硬编码、口试与报告，分享前人工脱敏。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50C56718-1761-4EB5-B373-DB42FB0618A0}"/>
              </a:ext>
            </a:extLst>
          </p:cNvPr>
          <p:cNvSpPr>
            <a:spLocks noGrp="1"/>
          </p:cNvSpPr>
          <p:nvPr/>
        </p:nvSpPr>
        <p:spPr>
          <a:xfrm>
            <a:off x="5048250" y="2476500"/>
            <a:ext cx="2095500" cy="2857500"/>
          </a:xfrm>
          <a:prstGeom prst="roundRect">
            <a:avLst>
              <a:gd name="adj" fmla="val 5455"/>
            </a:avLst>
          </a:prstGeom>
          <a:solidFill>
            <a:srgbClr val="10283D"/>
          </a:solidFill>
          <a:ln w="9525">
            <a:solidFill>
              <a:srgbClr val="FF7A1A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118AFCFB-1902-44B6-9C5D-3FD1DC850C42}"/>
              </a:ext>
            </a:extLst>
          </p:cNvPr>
          <p:cNvSpPr>
            <a:spLocks noGrp="1"/>
          </p:cNvSpPr>
          <p:nvPr/>
        </p:nvSpPr>
        <p:spPr>
          <a:xfrm>
            <a:off x="5219700" y="2800350"/>
            <a:ext cx="1752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1">
                <a:solidFill>
                  <a:srgbClr val="FF7A1A"/>
                </a:solidFill>
              </a:defRPr>
            </a:pPr>
            <a:r>
              <a:rPr sz="1425" b="1">
                <a:solidFill>
                  <a:srgbClr val="FF7A1A"/>
                </a:solidFill>
              </a:rPr>
              <a:t>os-demo.run/v1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0ACA49C-D834-4B81-8E76-3267E5E4B0B4}"/>
              </a:ext>
            </a:extLst>
          </p:cNvPr>
          <p:cNvSpPr>
            <a:spLocks noGrp="1"/>
          </p:cNvSpPr>
          <p:nvPr/>
        </p:nvSpPr>
        <p:spPr>
          <a:xfrm>
            <a:off x="5219700" y="325755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7FAFC"/>
                </a:solidFill>
              </a:defRPr>
            </a:pPr>
            <a:r>
              <a:rPr sz="1275" b="1">
                <a:solidFill>
                  <a:srgbClr val="F7FAFC"/>
                </a:solidFill>
              </a:rPr>
              <a:t>客观状态建议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975263C-B338-4242-826F-D63C561D5117}"/>
              </a:ext>
            </a:extLst>
          </p:cNvPr>
          <p:cNvSpPr>
            <a:spLocks noGrp="1"/>
          </p:cNvSpPr>
          <p:nvPr/>
        </p:nvSpPr>
        <p:spPr>
          <a:xfrm>
            <a:off x="5219700" y="3676650"/>
            <a:ext cx="1752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1">
                <a:solidFill>
                  <a:srgbClr val="A9B8C9"/>
                </a:solidFill>
              </a:defRPr>
            </a:pPr>
            <a:r>
              <a:rPr sz="1950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C7FE092C-7869-473B-8257-EBCC91AF5CF2}"/>
              </a:ext>
            </a:extLst>
          </p:cNvPr>
          <p:cNvSpPr>
            <a:spLocks noGrp="1"/>
          </p:cNvSpPr>
          <p:nvPr/>
        </p:nvSpPr>
        <p:spPr>
          <a:xfrm>
            <a:off x="5219700" y="41148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F7FAFC"/>
                </a:solidFill>
              </a:defRPr>
            </a:pPr>
            <a:r>
              <a:rPr sz="1275" b="1">
                <a:solidFill>
                  <a:srgbClr val="F7FAFC"/>
                </a:solidFill>
              </a:rPr>
              <a:t>代码 / 口试 / 报告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1F7B70CB-05AA-4D04-B148-8BB4D34DDE87}"/>
              </a:ext>
            </a:extLst>
          </p:cNvPr>
          <p:cNvSpPr>
            <a:spLocks noGrp="1"/>
          </p:cNvSpPr>
          <p:nvPr/>
        </p:nvSpPr>
        <p:spPr>
          <a:xfrm>
            <a:off x="5162550" y="4629150"/>
            <a:ext cx="18669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30C980"/>
                </a:solidFill>
              </a:defRPr>
            </a:pPr>
            <a:r>
              <a:rPr sz="1200" b="1">
                <a:solidFill>
                  <a:srgbClr val="30C980"/>
                </a:solidFill>
              </a:rPr>
              <a:t>os-teacher-grading/v1</a:t>
            </a:r>
          </a:p>
        </p:txBody>
      </p:sp>
    </p:spTree>
    <p:extLst>
      <p:ext uri="{BB962C8B-B14F-4D97-AF65-F5344CB8AC3E}">
        <p14:creationId xmlns:p14="http://schemas.microsoft.com/office/powerpoint/2010/main" val="2902196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2624871A-83D9-4FA5-8566-9E4B237C794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79CBA33-BA0B-45AB-BDE2-9222B2D54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2247D1D-105A-4E11-8F9E-2E562B427B6E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93001B-CF92-49BE-8080-AACE9282A81A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A662E3-6772-41DF-9C12-5662CDDBD0D3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A72ACB4-0DD8-4249-A39C-75FE3BC5853D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86156EE-15B4-4BD8-A7B4-F16B4F128EDE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1571B60-9EDA-482C-B790-91624A72DFC5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64212A0-94F4-4AC8-B584-1BD26E8E96A8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39FEB3B-0187-4D77-9F4C-2C428607FC05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4044EC2-08CD-4616-9C42-E396EFF2F44F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A3ABD74-661A-418D-B586-48C03B61DDF4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E4E5E99-9584-462D-9D3F-9C1871B24551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BA723EF-37DF-41EF-89C8-35E6B6A3E658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36C7865-7D60-4900-8A65-4A46A9EC9FE5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4EAD5E7-08EC-4405-A8F8-545A09FF659D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A5A69B4-5C88-489F-9C27-321B15D7D284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5B9C188-BE46-43A1-ADB7-9061FEE53363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04D10E7-C2BD-404B-A21B-B740A45ACE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F190810-E7D9-46B5-A91E-24456216DD75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9CD2EBD-17AF-47F1-9AE2-CAF27FB3D21A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7FA5803-130D-44E2-AE9C-1CF1FAEEDA97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BA149EE-3BC3-44F8-A6FD-6DBBE16B3B07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273D3B2-9918-4295-838A-ACB2B1322733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93BCD42-5B9D-4DC6-8274-F154E94F664B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3841B5A-8C2D-4BC9-BE48-CF6C12D20E15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3151C93-8FFF-46B6-B887-F5EFB2CAEAF0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CE167FB-7AEB-4741-81DF-7AF290B5D9EC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D816160-A1E9-47B9-B4C0-91654E8A4D7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4DCA142-6CBF-48A8-8C74-88B51B616D64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176C509-E974-4043-8CEE-4839FD245E77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创新性：真实内核运行形成可解释教学闭环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3920F60-E7DE-4E62-83F0-BC4CB46682D7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实验设计、事件证据、受限智能体、主动反馈和人工评分彼此约束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256151F-3538-45FD-83A6-409139959D7C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4181DAF-5016-4AF2-A82F-1FB52B8C2E4B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21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47DA909B-BA3A-4794-A494-4941302464F3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4762500" cy="1381125"/>
          </a:xfrm>
          <a:prstGeom prst="roundRect">
            <a:avLst>
              <a:gd name="adj" fmla="val 827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3CB0636-F222-4CAC-A43A-49AAC10B95A4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57150" cy="1381125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460F223-4C65-4D1C-B1AD-EDD569BD0915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递进式 OS 教学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EC3FE86-20F6-4AE0-AB72-E441643B2136}"/>
              </a:ext>
            </a:extLst>
          </p:cNvPr>
          <p:cNvSpPr>
            <a:spLocks noGrp="1"/>
          </p:cNvSpPr>
          <p:nvPr/>
        </p:nvSpPr>
        <p:spPr>
          <a:xfrm>
            <a:off x="952500" y="2781300"/>
            <a:ext cx="43624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P0 + 7 个 Lab；Stage 1/2/3 把大任务拆成可解释、可验证的小步。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0EB276E6-9482-4BC7-A930-EDE9CD63D2BE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4762500" cy="1381125"/>
          </a:xfrm>
          <a:prstGeom prst="roundRect">
            <a:avLst>
              <a:gd name="adj" fmla="val 827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47CEED3-E314-4701-9F88-384C1DF0A20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57150" cy="1381125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E175191-BFB8-4462-9CBB-E0B77EF6F115}"/>
              </a:ext>
            </a:extLst>
          </p:cNvPr>
          <p:cNvSpPr>
            <a:spLocks noGrp="1"/>
          </p:cNvSpPr>
          <p:nvPr/>
        </p:nvSpPr>
        <p:spPr>
          <a:xfrm>
            <a:off x="6934200" y="23622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真实事件可视化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AE650F9-5D9B-4C83-80B9-BFDBA29D7145}"/>
              </a:ext>
            </a:extLst>
          </p:cNvPr>
          <p:cNvSpPr>
            <a:spLocks noGrp="1"/>
          </p:cNvSpPr>
          <p:nvPr/>
        </p:nvSpPr>
        <p:spPr>
          <a:xfrm>
            <a:off x="6934200" y="2781300"/>
            <a:ext cx="43624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结构化串口事件连接源码、知识目录、时间线和最终系统状态。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CE417B1F-23F9-4793-9020-BAB4C14BA4CA}"/>
              </a:ext>
            </a:extLst>
          </p:cNvPr>
          <p:cNvSpPr>
            <a:spLocks noGrp="1"/>
          </p:cNvSpPr>
          <p:nvPr/>
        </p:nvSpPr>
        <p:spPr>
          <a:xfrm>
            <a:off x="723900" y="4019550"/>
            <a:ext cx="4762500" cy="1381125"/>
          </a:xfrm>
          <a:prstGeom prst="roundRect">
            <a:avLst>
              <a:gd name="adj" fmla="val 827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405B5A5-763B-44BD-AE6D-80A82C108E5D}"/>
              </a:ext>
            </a:extLst>
          </p:cNvPr>
          <p:cNvSpPr>
            <a:spLocks noGrp="1"/>
          </p:cNvSpPr>
          <p:nvPr/>
        </p:nvSpPr>
        <p:spPr>
          <a:xfrm>
            <a:off x="723900" y="4019550"/>
            <a:ext cx="57150" cy="1381125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B037C57-46FA-4BC0-907E-D3DAA8C42054}"/>
              </a:ext>
            </a:extLst>
          </p:cNvPr>
          <p:cNvSpPr>
            <a:spLocks noGrp="1"/>
          </p:cNvSpPr>
          <p:nvPr/>
        </p:nvSpPr>
        <p:spPr>
          <a:xfrm>
            <a:off x="952500" y="41910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证据约束智能体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C2E78FD-9689-481D-85E2-06F4F163E11B}"/>
              </a:ext>
            </a:extLst>
          </p:cNvPr>
          <p:cNvSpPr>
            <a:spLocks noGrp="1"/>
          </p:cNvSpPr>
          <p:nvPr/>
        </p:nvSpPr>
        <p:spPr>
          <a:xfrm>
            <a:off x="952500" y="4610100"/>
            <a:ext cx="43624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模型只能经白名单工具取得有限证据，不能读取答案、任意文件或评分。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0B60C34F-3962-4D4F-B9FD-4285F8B9D106}"/>
              </a:ext>
            </a:extLst>
          </p:cNvPr>
          <p:cNvSpPr>
            <a:spLocks noGrp="1"/>
          </p:cNvSpPr>
          <p:nvPr/>
        </p:nvSpPr>
        <p:spPr>
          <a:xfrm>
            <a:off x="6705600" y="4019550"/>
            <a:ext cx="4762500" cy="1381125"/>
          </a:xfrm>
          <a:prstGeom prst="roundRect">
            <a:avLst>
              <a:gd name="adj" fmla="val 8276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60B7F5E-8702-427F-95D7-A4B37DEC010F}"/>
              </a:ext>
            </a:extLst>
          </p:cNvPr>
          <p:cNvSpPr>
            <a:spLocks noGrp="1"/>
          </p:cNvSpPr>
          <p:nvPr/>
        </p:nvSpPr>
        <p:spPr>
          <a:xfrm>
            <a:off x="6705600" y="4019550"/>
            <a:ext cx="57150" cy="1381125"/>
          </a:xfrm>
          <a:prstGeom prst="rect">
            <a:avLst/>
          </a:prstGeom>
          <a:solidFill>
            <a:srgbClr val="F3B562"/>
          </a:solidFill>
          <a:ln w="0">
            <a:noFill/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3DFC848-A0CD-4A14-A255-960C8F315839}"/>
              </a:ext>
            </a:extLst>
          </p:cNvPr>
          <p:cNvSpPr>
            <a:spLocks noGrp="1"/>
          </p:cNvSpPr>
          <p:nvPr/>
        </p:nvSpPr>
        <p:spPr>
          <a:xfrm>
            <a:off x="6934200" y="41910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3B562"/>
                </a:solidFill>
              </a:defRPr>
            </a:pPr>
            <a:r>
              <a:rPr sz="1575" b="1">
                <a:solidFill>
                  <a:srgbClr val="F3B562"/>
                </a:solidFill>
              </a:rPr>
              <a:t>反馈与评分分层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851D3D9B-D882-4F4B-A51A-87DFC909E54C}"/>
              </a:ext>
            </a:extLst>
          </p:cNvPr>
          <p:cNvSpPr>
            <a:spLocks noGrp="1"/>
          </p:cNvSpPr>
          <p:nvPr/>
        </p:nvSpPr>
        <p:spPr>
          <a:xfrm>
            <a:off x="6934200" y="4610100"/>
            <a:ext cx="436245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学习体验、运行记录和正式评分使用独立协议与数据边界。</a:t>
            </a:r>
          </a:p>
        </p:txBody>
      </p:sp>
    </p:spTree>
    <p:extLst>
      <p:ext uri="{BB962C8B-B14F-4D97-AF65-F5344CB8AC3E}">
        <p14:creationId xmlns:p14="http://schemas.microsoft.com/office/powerpoint/2010/main" val="9240227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>
            <a:extLst>
              <a:ext uri="{FF2B5EF4-FFF2-40B4-BE49-F238E27FC236}">
                <a16:creationId xmlns:a16="http://schemas.microsoft.com/office/drawing/2014/main" id="{6B0C7FA8-99D6-4E6A-BABF-8F5207B79D8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C2691A3-7FFE-480B-ACC8-E0158E55DC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BD8FA0-643A-4325-A90D-B140F63612A6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96D9131-1B9F-4F22-82E9-E016FEFEA554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9A78070-0B0A-4789-A9EB-457400481134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EF956D0-5828-4BBA-83CF-32F08115A42C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DD86DFA-4200-41E1-921F-BB3CAD88E64B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2A5C010-AB71-4E89-B62B-D71915529DE6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276AC49-3F03-4080-BF24-2910D7F4D691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4A783B5-AF47-4C80-94E8-E32E9A6A110A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4A24B17-72CA-4726-9588-4511B689A626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91FDB7-5702-498C-B5DC-5D522A533BE7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12B027-2CAB-46D6-A819-8D7CBB2C5C7E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E519DFC-AD76-4F4C-ADC6-53DB0BCEE526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5D3B24A-351A-4D05-8D49-10021A2EC5F5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B59C738-08A0-42C9-B213-6FF38E23F220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83194C8-DA7F-4E83-9D1C-6F44ECD475B3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45F59F1-BEDC-48B5-87ED-3CBCC8103558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162C40-85BD-4F23-BCE8-BC50A8FB5E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7C785EE-C627-44F0-8992-8B92D023381D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454F1CB-8409-4648-BE50-2C6FD90C9077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285561D-75D5-4317-A076-855F84930954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E5F520F-D8EC-42AD-8A6B-C4A482FE0DBC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EB3C7A8-70CB-4565-87C1-DE95D51CC559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494634-B47B-4709-9F95-54F84D96E00C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136BECD-2E82-49CA-A980-4F4A514CEE27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376B003-D35F-42BB-B2A1-5D3EB43441FE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2194E65-DC37-4BF7-9F65-64FE7ABD4B99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3CBC9F-6F7E-4ACD-88BC-1E1DD91C45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9421242-A443-46C4-BB8E-96E2B7E13457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1ADC7BC-7720-45F0-8A79-F091820AE20D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可重复测试证据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697C6AE-1FFD-4131-B7B3-0539B2FC14EB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本地构建、QEMU、分支与视觉均已复验；在线和远程项明确标注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8379FC0-0314-4DDF-BF82-C3A8B9B1675A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38CF1B3-1752-44FF-83DE-308527B8F90B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22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07E60706-CA4C-4939-93A7-C023BBC8A307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228600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799C49B-382A-4E07-AF94-09B895A2C0ED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57150" cy="14287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DBC166B-294C-4A3B-8FBA-25735B1679F6}"/>
              </a:ext>
            </a:extLst>
          </p:cNvPr>
          <p:cNvSpPr>
            <a:spLocks noGrp="1"/>
          </p:cNvSpPr>
          <p:nvPr/>
        </p:nvSpPr>
        <p:spPr>
          <a:xfrm>
            <a:off x="857250" y="240030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30C980"/>
                </a:solidFill>
              </a:defRPr>
            </a:pPr>
            <a:r>
              <a:rPr lang="en-US" altLang="zh-CN" sz="3150" b="1">
                <a:solidFill>
                  <a:srgbClr val="30C980"/>
                </a:solidFill>
              </a:rPr>
              <a:t>580 / 586</a:t>
            </a:r>
            <a:endParaRPr sz="3150" b="1">
              <a:solidFill>
                <a:srgbClr val="30C980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5448E96-2274-43C1-BAF0-8439EE5394D8}"/>
              </a:ext>
            </a:extLst>
          </p:cNvPr>
          <p:cNvSpPr>
            <a:spLocks noGrp="1"/>
          </p:cNvSpPr>
          <p:nvPr/>
        </p:nvSpPr>
        <p:spPr>
          <a:xfrm>
            <a:off x="857250" y="3028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最终 Node 全量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3821A60-C343-4296-A8A7-F2E2443A4222}"/>
              </a:ext>
            </a:extLst>
          </p:cNvPr>
          <p:cNvSpPr>
            <a:spLocks noGrp="1"/>
          </p:cNvSpPr>
          <p:nvPr/>
        </p:nvSpPr>
        <p:spPr>
          <a:xfrm>
            <a:off x="3238500" y="2190750"/>
            <a:ext cx="228600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E9AF944-3529-46EB-9A8E-58A0400567CD}"/>
              </a:ext>
            </a:extLst>
          </p:cNvPr>
          <p:cNvSpPr>
            <a:spLocks noGrp="1"/>
          </p:cNvSpPr>
          <p:nvPr/>
        </p:nvSpPr>
        <p:spPr>
          <a:xfrm>
            <a:off x="3238500" y="2190750"/>
            <a:ext cx="57150" cy="14287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159025F-8809-42DD-BBF5-47E9685C8886}"/>
              </a:ext>
            </a:extLst>
          </p:cNvPr>
          <p:cNvSpPr>
            <a:spLocks noGrp="1"/>
          </p:cNvSpPr>
          <p:nvPr/>
        </p:nvSpPr>
        <p:spPr>
          <a:xfrm>
            <a:off x="3409950" y="240030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30C980"/>
                </a:solidFill>
              </a:defRPr>
            </a:pPr>
            <a:r>
              <a:rPr sz="3150" b="1">
                <a:solidFill>
                  <a:srgbClr val="30C980"/>
                </a:solidFill>
              </a:rPr>
              <a:t>80 / 80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FF8631-4CD2-4F4F-8F19-BDCFA13AC496}"/>
              </a:ext>
            </a:extLst>
          </p:cNvPr>
          <p:cNvSpPr>
            <a:spLocks noGrp="1"/>
          </p:cNvSpPr>
          <p:nvPr/>
        </p:nvSpPr>
        <p:spPr>
          <a:xfrm>
            <a:off x="3409950" y="3028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新增定向测试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5430100-C764-4B99-9B5F-984217E47755}"/>
              </a:ext>
            </a:extLst>
          </p:cNvPr>
          <p:cNvSpPr>
            <a:spLocks noGrp="1"/>
          </p:cNvSpPr>
          <p:nvPr/>
        </p:nvSpPr>
        <p:spPr>
          <a:xfrm>
            <a:off x="5791200" y="2190750"/>
            <a:ext cx="228600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F6DAEFB-8EE8-45C3-B305-082E20E45019}"/>
              </a:ext>
            </a:extLst>
          </p:cNvPr>
          <p:cNvSpPr>
            <a:spLocks noGrp="1"/>
          </p:cNvSpPr>
          <p:nvPr/>
        </p:nvSpPr>
        <p:spPr>
          <a:xfrm>
            <a:off x="5791200" y="2190750"/>
            <a:ext cx="57150" cy="14287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4676F43-C65A-41A0-8FF4-0A9D45195B4E}"/>
              </a:ext>
            </a:extLst>
          </p:cNvPr>
          <p:cNvSpPr>
            <a:spLocks noGrp="1"/>
          </p:cNvSpPr>
          <p:nvPr/>
        </p:nvSpPr>
        <p:spPr>
          <a:xfrm>
            <a:off x="5962650" y="240030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30C980"/>
                </a:solidFill>
              </a:defRPr>
            </a:pPr>
            <a:r>
              <a:rPr sz="3150" b="1">
                <a:solidFill>
                  <a:srgbClr val="30C980"/>
                </a:solidFill>
              </a:rPr>
              <a:t>0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6838AA4-0D1E-45EF-B616-B00BFCEDA11B}"/>
              </a:ext>
            </a:extLst>
          </p:cNvPr>
          <p:cNvSpPr>
            <a:spLocks noGrp="1"/>
          </p:cNvSpPr>
          <p:nvPr/>
        </p:nvSpPr>
        <p:spPr>
          <a:xfrm>
            <a:off x="5962650" y="3028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测试失败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55A3BD12-A296-4A4A-BC59-4F1E667FA05E}"/>
              </a:ext>
            </a:extLst>
          </p:cNvPr>
          <p:cNvSpPr>
            <a:spLocks noGrp="1"/>
          </p:cNvSpPr>
          <p:nvPr/>
        </p:nvSpPr>
        <p:spPr>
          <a:xfrm>
            <a:off x="8343900" y="2190750"/>
            <a:ext cx="2286000" cy="1428750"/>
          </a:xfrm>
          <a:prstGeom prst="roundRect">
            <a:avLst>
              <a:gd name="adj" fmla="val 8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174EE6E-94EA-4A22-9D0F-CB3F7ADA0A26}"/>
              </a:ext>
            </a:extLst>
          </p:cNvPr>
          <p:cNvSpPr>
            <a:spLocks noGrp="1"/>
          </p:cNvSpPr>
          <p:nvPr/>
        </p:nvSpPr>
        <p:spPr>
          <a:xfrm>
            <a:off x="8343900" y="2190750"/>
            <a:ext cx="57150" cy="142875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A06CF105-2BCA-4D22-A6D2-C0441DC0B6BF}"/>
              </a:ext>
            </a:extLst>
          </p:cNvPr>
          <p:cNvSpPr>
            <a:spLocks noGrp="1"/>
          </p:cNvSpPr>
          <p:nvPr/>
        </p:nvSpPr>
        <p:spPr>
          <a:xfrm>
            <a:off x="8515350" y="2400300"/>
            <a:ext cx="1943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150" b="1">
                <a:solidFill>
                  <a:srgbClr val="30C980"/>
                </a:solidFill>
              </a:defRPr>
            </a:pPr>
            <a:r>
              <a:rPr sz="3150" b="1">
                <a:solidFill>
                  <a:srgbClr val="30C980"/>
                </a:solidFill>
              </a:rPr>
              <a:t>未运行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61949BF-AE71-4C09-B292-16143C2B46AF}"/>
              </a:ext>
            </a:extLst>
          </p:cNvPr>
          <p:cNvSpPr>
            <a:spLocks noGrp="1"/>
          </p:cNvSpPr>
          <p:nvPr/>
        </p:nvSpPr>
        <p:spPr>
          <a:xfrm>
            <a:off x="8515350" y="3028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7FAFC"/>
                </a:solidFill>
              </a:defRPr>
            </a:pPr>
            <a:r>
              <a:rPr sz="1200" b="1">
                <a:solidFill>
                  <a:srgbClr val="F7FAFC"/>
                </a:solidFill>
              </a:rPr>
              <a:t>在线 Agent Plan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2A165E1-9444-4513-B4D3-6C5D238F1B27}"/>
              </a:ext>
            </a:extLst>
          </p:cNvPr>
          <p:cNvSpPr>
            <a:spLocks noGrp="1"/>
          </p:cNvSpPr>
          <p:nvPr/>
        </p:nvSpPr>
        <p:spPr>
          <a:xfrm>
            <a:off x="1524000" y="4171950"/>
            <a:ext cx="9144000" cy="1295400"/>
          </a:xfrm>
          <a:prstGeom prst="roundRect">
            <a:avLst>
              <a:gd name="adj" fmla="val 8824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  <p:txBody>
          <a:bodyPr/>
          <a:p/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373A14F2-9765-4229-A726-7509B5C4548C}"/>
              </a:ext>
            </a:extLst>
          </p:cNvPr>
          <p:cNvSpPr>
            <a:spLocks noGrp="1"/>
          </p:cNvSpPr>
          <p:nvPr/>
        </p:nvSpPr>
        <p:spPr>
          <a:xfrm>
            <a:off x="1524000" y="4171950"/>
            <a:ext cx="57150" cy="129540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22F6F7A-00CB-4CC3-B876-B79432FB7920}"/>
              </a:ext>
            </a:extLst>
          </p:cNvPr>
          <p:cNvSpPr>
            <a:spLocks noGrp="1"/>
          </p:cNvSpPr>
          <p:nvPr/>
        </p:nvSpPr>
        <p:spPr>
          <a:xfrm>
            <a:off x="1752600" y="4343400"/>
            <a:ext cx="8743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lang="en-US" altLang="zh-CN" sz="1575" b="1">
                <a:solidFill>
                  <a:srgbClr val="35C8F4"/>
                </a:solidFill>
              </a:rPr>
              <a:t>2026-08-16 </a:t>
            </a:r>
            <a:r>
              <a:rPr lang="zh-CN" altLang="en-US" sz="1575" b="1">
                <a:solidFill>
                  <a:srgbClr val="35C8F4"/>
                </a:solidFill>
              </a:rPr>
              <a:t>最终复核</a:t>
            </a:r>
            <a:endParaRPr sz="1575" b="1">
              <a:solidFill>
                <a:srgbClr val="35C8F4"/>
              </a:solidFill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520725D-2DCC-425E-A0C5-C6C40581E29E}"/>
              </a:ext>
            </a:extLst>
          </p:cNvPr>
          <p:cNvSpPr>
            <a:spLocks noGrp="1"/>
          </p:cNvSpPr>
          <p:nvPr/>
        </p:nvSpPr>
        <p:spPr>
          <a:xfrm>
            <a:off x="1752600" y="4762500"/>
            <a:ext cx="87439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/>
            <a:r>
              <a:rPr sz="1200" b="0">
                <a:solidFill>
                  <a:srgbClr val="F7FAFC"/>
                </a:solidFill>
              </a:rPr>
              <a:t>Rust 格式、RISC-V 构建、Clippy、9/9 事件 Crate、46/46 主机测试、main QEMU、14/14 教学分支与 21/21 既有分支导航通过；五项实验 PDF 30 页。在线 Agent Plan、远程 CI 未运行。</a:t>
            </a:r>
          </a:p>
        </p:txBody>
      </p:sp>
    </p:spTree>
    <p:extLst>
      <p:ext uri="{BB962C8B-B14F-4D97-AF65-F5344CB8AC3E}">
        <p14:creationId xmlns:p14="http://schemas.microsoft.com/office/powerpoint/2010/main" val="2371626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矩形 54">
            <a:extLst>
              <a:ext uri="{FF2B5EF4-FFF2-40B4-BE49-F238E27FC236}">
                <a16:creationId xmlns:a16="http://schemas.microsoft.com/office/drawing/2014/main" id="{B1FFB0E9-51C7-4C1D-92D2-E716F0907B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33330C-7F1C-4BF6-93DF-3A307B193A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4C12D6F-955D-4CCD-A193-3213D5FF0379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E906266-41B8-4227-ACB0-D6B9FC741A0D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6CD5B7-E426-4657-B2AD-949E40E05BAC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0BFD0D-014E-4461-9CD1-25CBFE82ABFD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7F6D7F9-2FD6-471F-A022-38B280C18BCE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2E6EFD8-835B-4D31-879C-02AC7657529C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F8537B-9ED7-43DF-B9AC-BDB03C2FF91F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CCFF3EF-E2FB-48F3-B207-123CC1E282F1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72145BE-FE67-46E6-870D-428DFFDED25B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AD2DAEF-2346-468B-BA56-93BF26631D93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288D13A-5DD7-41AF-BE67-7A7B9466245E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4B7C549-B519-4509-88F1-A4849FCB4160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2FC2D35-E852-4480-A45B-98EE7BDA8FAD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BE3E6C7-7BFF-43F0-9A06-9E47F2D6B052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D6974D1-8317-48B1-BA34-AA86472F5818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0D44E0C-A147-4C61-AF69-121EF70BF4EF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B22FFEA-16ED-4E9F-9101-59168788B0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0BACE11-78A5-48E0-AFA7-D63D3D8E4C31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A46688C-20DF-4B8C-B0D4-7DBC3A0A9256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FAA3E63-6AFD-484B-B1A7-036011054B77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2A5DCB5-210A-47B2-BFB6-B1FC77163321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EC60CB2-76B8-400D-A7B9-1933AE4BB8E7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260AF34-40A1-4E2E-8A20-7EB78E0B117D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F62FA9F-4330-490E-A7CF-D3DA67628AA6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2E084EF-86AA-4A82-BAE2-2E33F3C651F3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15C8FBD-7248-404C-BE2F-DD5226567C38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6A8D2FA-D011-4636-8F01-8D8F2EBB62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9CE4B02-C77B-47D8-B739-21314D186460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FEAA374-9BD8-4723-873C-88B87CF53450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能力边界必须由服务端和人工复核守住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CE16574-6F46-4552-8E36-3A7122C42A0F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密钥、工具、上下文、在线错误和评分各有独立失败路径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AF176FE-2946-47D6-8412-D61B0BD1DA91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9828717-A877-4566-A5C8-2CA793182FD0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23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A69EFEF-61DE-4D7E-AE30-F61961F4AF39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10382250" cy="571500"/>
          </a:xfrm>
          <a:prstGeom prst="roundRect">
            <a:avLst>
              <a:gd name="adj" fmla="val 20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654C60B-F9A6-4429-BDB5-6AF6EB42413A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57150" cy="5715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C325D16E-6CDE-4BD0-AB2D-BCB9856382B6}"/>
              </a:ext>
            </a:extLst>
          </p:cNvPr>
          <p:cNvSpPr>
            <a:spLocks noGrp="1"/>
          </p:cNvSpPr>
          <p:nvPr/>
        </p:nvSpPr>
        <p:spPr>
          <a:xfrm>
            <a:off x="1104900" y="2247900"/>
            <a:ext cx="998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密钥或上游泄露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26A1587-D6E5-48C1-AB88-3B8760B1E61E}"/>
              </a:ext>
            </a:extLst>
          </p:cNvPr>
          <p:cNvSpPr>
            <a:spLocks noGrp="1"/>
          </p:cNvSpPr>
          <p:nvPr/>
        </p:nvSpPr>
        <p:spPr>
          <a:xfrm>
            <a:off x="1104900" y="2533650"/>
            <a:ext cx="9982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Key 仅服务端；错误固定中文，不显示上游正文、路径或 Token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65058B71-B773-4C30-88F3-49714D3A73A0}"/>
              </a:ext>
            </a:extLst>
          </p:cNvPr>
          <p:cNvSpPr>
            <a:spLocks noGrp="1"/>
          </p:cNvSpPr>
          <p:nvPr/>
        </p:nvSpPr>
        <p:spPr>
          <a:xfrm>
            <a:off x="876300" y="2838450"/>
            <a:ext cx="10382250" cy="571500"/>
          </a:xfrm>
          <a:prstGeom prst="roundRect">
            <a:avLst>
              <a:gd name="adj" fmla="val 20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6E6210D9-D9BC-41C7-974F-AEAB7D9EB865}"/>
              </a:ext>
            </a:extLst>
          </p:cNvPr>
          <p:cNvSpPr>
            <a:spLocks noGrp="1"/>
          </p:cNvSpPr>
          <p:nvPr/>
        </p:nvSpPr>
        <p:spPr>
          <a:xfrm>
            <a:off x="876300" y="2838450"/>
            <a:ext cx="57150" cy="57150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15D9A07-96ED-48D9-BBA2-0A583AF4C353}"/>
              </a:ext>
            </a:extLst>
          </p:cNvPr>
          <p:cNvSpPr>
            <a:spLocks noGrp="1"/>
          </p:cNvSpPr>
          <p:nvPr/>
        </p:nvSpPr>
        <p:spPr>
          <a:xfrm>
            <a:off x="1104900" y="3009900"/>
            <a:ext cx="998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越权工具调用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4F27F2B-59BB-40F3-8BF9-F6EF8A51674D}"/>
              </a:ext>
            </a:extLst>
          </p:cNvPr>
          <p:cNvSpPr>
            <a:spLocks noGrp="1"/>
          </p:cNvSpPr>
          <p:nvPr/>
        </p:nvSpPr>
        <p:spPr>
          <a:xfrm>
            <a:off x="1104900" y="3295650"/>
            <a:ext cx="9982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六工具白名单与严格参数；拒绝答案、任意文件和任意命令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8B5D2324-C9E3-44F2-802E-1AB5F267A11C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10382250" cy="571500"/>
          </a:xfrm>
          <a:prstGeom prst="roundRect">
            <a:avLst>
              <a:gd name="adj" fmla="val 20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9BF6C9B-5B41-4069-BC0E-60C7CB8D0DD0}"/>
              </a:ext>
            </a:extLst>
          </p:cNvPr>
          <p:cNvSpPr>
            <a:spLocks noGrp="1"/>
          </p:cNvSpPr>
          <p:nvPr/>
        </p:nvSpPr>
        <p:spPr>
          <a:xfrm>
            <a:off x="876300" y="3600450"/>
            <a:ext cx="57150" cy="571500"/>
          </a:xfrm>
          <a:prstGeom prst="rect">
            <a:avLst/>
          </a:prstGeom>
          <a:solidFill>
            <a:srgbClr val="FF6B6B"/>
          </a:solidFill>
          <a:ln w="0">
            <a:noFill/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AD81D6C-725B-477B-A38A-9EA475EFC669}"/>
              </a:ext>
            </a:extLst>
          </p:cNvPr>
          <p:cNvSpPr>
            <a:spLocks noGrp="1"/>
          </p:cNvSpPr>
          <p:nvPr/>
        </p:nvSpPr>
        <p:spPr>
          <a:xfrm>
            <a:off x="1104900" y="3771900"/>
            <a:ext cx="998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6B6B"/>
                </a:solidFill>
              </a:defRPr>
            </a:pPr>
            <a:r>
              <a:rPr sz="1575" b="1">
                <a:solidFill>
                  <a:srgbClr val="FF6B6B"/>
                </a:solidFill>
              </a:rPr>
              <a:t>上下文与并发漂移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D2873BB-5437-4E58-9852-BDFE258A7BD2}"/>
              </a:ext>
            </a:extLst>
          </p:cNvPr>
          <p:cNvSpPr>
            <a:spLocks noGrp="1"/>
          </p:cNvSpPr>
          <p:nvPr/>
        </p:nvSpPr>
        <p:spPr>
          <a:xfrm>
            <a:off x="1104900" y="4057650"/>
            <a:ext cx="9982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提交变化返回 context_changed；交互与智能体共享任务锁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2FDD8D98-B25A-4EFD-B6B7-B9F19FADE51D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10382250" cy="571500"/>
          </a:xfrm>
          <a:prstGeom prst="roundRect">
            <a:avLst>
              <a:gd name="adj" fmla="val 20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0D21006-3663-4AE2-BB96-35F42A8A3919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57150" cy="571500"/>
          </a:xfrm>
          <a:prstGeom prst="rect">
            <a:avLst/>
          </a:prstGeom>
          <a:solidFill>
            <a:srgbClr val="30C980"/>
          </a:solidFill>
          <a:ln w="0">
            <a:noFill/>
            <a:prstDash val="solid"/>
          </a:ln>
        </p:spPr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170CA9D1-7364-41AE-883D-4E73A108BCA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998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模型过度承诺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422F5C4-BE98-4027-B7FD-E1A6B151F3B2}"/>
              </a:ext>
            </a:extLst>
          </p:cNvPr>
          <p:cNvSpPr>
            <a:spLocks noGrp="1"/>
          </p:cNvSpPr>
          <p:nvPr/>
        </p:nvSpPr>
        <p:spPr>
          <a:xfrm>
            <a:off x="1104900" y="4819650"/>
            <a:ext cx="9982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回答不是标准答案或根因判定，必须用代码和真实运行验证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AF0F8F14-FED2-421E-84EE-C481B7519403}"/>
              </a:ext>
            </a:extLst>
          </p:cNvPr>
          <p:cNvSpPr>
            <a:spLocks noGrp="1"/>
          </p:cNvSpPr>
          <p:nvPr/>
        </p:nvSpPr>
        <p:spPr>
          <a:xfrm>
            <a:off x="876300" y="5124450"/>
            <a:ext cx="10382250" cy="571500"/>
          </a:xfrm>
          <a:prstGeom prst="roundRect">
            <a:avLst>
              <a:gd name="adj" fmla="val 20000"/>
            </a:avLst>
          </a:prstGeom>
          <a:solidFill>
            <a:srgbClr val="0D2033"/>
          </a:solidFill>
          <a:ln w="9525">
            <a:solidFill>
              <a:srgbClr val="123047"/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16F64EA-0DB1-4BF1-954E-73A9E5C1D634}"/>
              </a:ext>
            </a:extLst>
          </p:cNvPr>
          <p:cNvSpPr>
            <a:spLocks noGrp="1"/>
          </p:cNvSpPr>
          <p:nvPr/>
        </p:nvSpPr>
        <p:spPr>
          <a:xfrm>
            <a:off x="876300" y="5124450"/>
            <a:ext cx="57150" cy="571500"/>
          </a:xfrm>
          <a:prstGeom prst="rect">
            <a:avLst/>
          </a:prstGeom>
          <a:solidFill>
            <a:srgbClr val="F3B562"/>
          </a:solidFill>
          <a:ln w="0">
            <a:noFill/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D2165E6-E232-44EB-A8BF-AE0D3669A8E2}"/>
              </a:ext>
            </a:extLst>
          </p:cNvPr>
          <p:cNvSpPr>
            <a:spLocks noGrp="1"/>
          </p:cNvSpPr>
          <p:nvPr/>
        </p:nvSpPr>
        <p:spPr>
          <a:xfrm>
            <a:off x="1104900" y="5295900"/>
            <a:ext cx="998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3B562"/>
                </a:solidFill>
              </a:defRPr>
            </a:pPr>
            <a:r>
              <a:rPr sz="1575" b="1">
                <a:solidFill>
                  <a:srgbClr val="F3B562"/>
                </a:solidFill>
              </a:rPr>
              <a:t>评分与隐私误用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BCBE7242-80EF-4736-B586-FB957F32430F}"/>
              </a:ext>
            </a:extLst>
          </p:cNvPr>
          <p:cNvSpPr>
            <a:spLocks noGrp="1"/>
          </p:cNvSpPr>
          <p:nvPr/>
        </p:nvSpPr>
        <p:spPr>
          <a:xfrm>
            <a:off x="1104900" y="5581650"/>
            <a:ext cx="99822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F7FAFC"/>
                </a:solidFill>
              </a:defRPr>
            </a:pPr>
            <a:r>
              <a:rPr sz="1200" b="0">
                <a:solidFill>
                  <a:srgbClr val="F7FAFC"/>
                </a:solidFill>
              </a:rPr>
              <a:t>不自动加分；姓名、成绩、反馈和导出公开前人工脱敏</a:t>
            </a:r>
          </a:p>
        </p:txBody>
      </p:sp>
    </p:spTree>
    <p:extLst>
      <p:ext uri="{BB962C8B-B14F-4D97-AF65-F5344CB8AC3E}">
        <p14:creationId xmlns:p14="http://schemas.microsoft.com/office/powerpoint/2010/main" val="1947181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>
            <a:extLst>
              <a:ext uri="{FF2B5EF4-FFF2-40B4-BE49-F238E27FC236}">
                <a16:creationId xmlns:a16="http://schemas.microsoft.com/office/drawing/2014/main" id="{2635AD39-2AFE-498B-BA6E-C7807E2AD0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11F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EC1907E-52EB-42B1-85CB-55212220759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2C2D7B-E519-44B5-8F76-1608DDB19B11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C4BEC8-5D85-493E-BE12-947869AF3A9E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10AF236-7216-41E0-9A1A-58FB79BA6DB8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5B4AF78-8136-4EA5-8D8A-DAF61E14B277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30282B5-8C71-4097-B55C-11B93EF6E18F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665E60-16C1-48BF-AFD7-9B57C3323594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6159169-E9F5-480D-959F-5982A2ECF1C2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041A592-04AF-4178-A5C7-117D217B84D5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65AFBF-3353-4E41-8BAE-35E815A96AA5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007D18-AFFA-41E0-9988-8FE03A09F363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0F35935-7980-4045-BC73-6F7393F5022D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FDE00D0-481C-4C0C-BED4-32F549199B49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585929-61F7-48BC-907A-B716E8B34E9E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CC6E95-2092-40A8-B2D3-AED0B24B262F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04AF4CC-9886-483C-B9DB-A2D28E6F24FC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FB933F4-E1EE-4DF2-A7BF-1B4AA2768C0C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B08BDE-B1FC-4637-B0D7-9D7107CE4E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B4CE006-0C83-41E3-B4D2-CADADE85404E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67A79BA-0AB2-41B4-B6BF-3AB2AA16ECF7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C694D87-C809-4AA5-A772-9C7310827DE1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D98E876-1D74-4786-8144-B6436081A91D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CD4DD4D-D315-448B-8471-FBCD2D3B5930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4B258B0-E1D8-4F81-B0BA-8EC7C0CC7637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9EB8E9F-CCF1-4B91-9140-10356CE75A56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9F29EE4-C97D-4C25-82AE-8C384F3067AB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84B4664-5B78-4250-A0E3-366CA080F562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123047"/>
          </a:solidFill>
          <a:ln w="0">
            <a:noFill/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E340FA1-4891-422A-895C-0E4478728B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FF7A1A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EA5E315-6FCC-46D5-8263-59319D50BE73}"/>
              </a:ext>
            </a:extLst>
          </p:cNvPr>
          <p:cNvSpPr>
            <a:spLocks noGrp="1"/>
          </p:cNvSpPr>
          <p:nvPr/>
        </p:nvSpPr>
        <p:spPr>
          <a:xfrm>
            <a:off x="0" y="76200"/>
            <a:ext cx="121920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81AD6C3-2042-4B72-B9D9-AC62A156631E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8191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AFC"/>
                </a:solidFill>
              </a:defRPr>
            </a:pPr>
            <a:r>
              <a:rPr sz="2700" b="1">
                <a:solidFill>
                  <a:srgbClr val="F7FAFC"/>
                </a:solidFill>
              </a:rPr>
              <a:t>现场演示路线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580564A-1309-44B4-A277-D0AD9A94D0DA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A9B8C9"/>
                </a:solidFill>
              </a:defRPr>
            </a:pPr>
            <a:r>
              <a:rPr sz="1350" b="0">
                <a:solidFill>
                  <a:srgbClr val="A9B8C9"/>
                </a:solidFill>
              </a:rPr>
              <a:t>从真实证据出发：预测 → QEMU → 规则诊断 → 教学智能体 → 反馈 → 人工复核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0B2B0C-AA97-46D7-954E-63EF6842747C}"/>
              </a:ext>
            </a:extLst>
          </p:cNvPr>
          <p:cNvSpPr>
            <a:spLocks noGrp="1"/>
          </p:cNvSpPr>
          <p:nvPr/>
        </p:nvSpPr>
        <p:spPr>
          <a:xfrm>
            <a:off x="514350" y="1695450"/>
            <a:ext cx="11163300" cy="19050"/>
          </a:xfrm>
          <a:prstGeom prst="rect">
            <a:avLst/>
          </a:prstGeom>
          <a:solidFill>
            <a:srgbClr val="35C8F4"/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B665F4-F65A-4FBD-8911-02B7FF596082}"/>
              </a:ext>
            </a:extLst>
          </p:cNvPr>
          <p:cNvSpPr>
            <a:spLocks noGrp="1"/>
          </p:cNvSpPr>
          <p:nvPr/>
        </p:nvSpPr>
        <p:spPr>
          <a:xfrm>
            <a:off x="11239500" y="63055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0">
                <a:solidFill>
                  <a:srgbClr val="A9B8C9"/>
                </a:solidFill>
              </a:defRPr>
            </a:pPr>
            <a:r>
              <a:rPr sz="1050" b="0">
                <a:solidFill>
                  <a:srgbClr val="A9B8C9"/>
                </a:solidFill>
              </a:rPr>
              <a:t>24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C9F32951-4B4A-4741-8EF4-904909402BD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2286000" cy="1066800"/>
          </a:xfrm>
          <a:prstGeom prst="roundRect">
            <a:avLst>
              <a:gd name="adj" fmla="val 10714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1C2D5AA-FE5B-46C5-96B9-C50C0CA44FB2}"/>
              </a:ext>
            </a:extLst>
          </p:cNvPr>
          <p:cNvSpPr>
            <a:spLocks noGrp="1"/>
          </p:cNvSpPr>
          <p:nvPr/>
        </p:nvSpPr>
        <p:spPr>
          <a:xfrm>
            <a:off x="895350" y="2362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01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808276C-028F-4F81-B3D9-2AE2FBFB64E6}"/>
              </a:ext>
            </a:extLst>
          </p:cNvPr>
          <p:cNvSpPr>
            <a:spLocks noGrp="1"/>
          </p:cNvSpPr>
          <p:nvPr/>
        </p:nvSpPr>
        <p:spPr>
          <a:xfrm>
            <a:off x="1314450" y="24574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识别分支 / Lab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AD0B706-71C1-4D07-9AB7-4BB99813CF93}"/>
              </a:ext>
            </a:extLst>
          </p:cNvPr>
          <p:cNvSpPr>
            <a:spLocks noGrp="1"/>
          </p:cNvSpPr>
          <p:nvPr/>
        </p:nvSpPr>
        <p:spPr>
          <a:xfrm>
            <a:off x="3028950" y="25146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10CB9916-A281-45A0-80AD-32E1C5338931}"/>
              </a:ext>
            </a:extLst>
          </p:cNvPr>
          <p:cNvSpPr>
            <a:spLocks noGrp="1"/>
          </p:cNvSpPr>
          <p:nvPr/>
        </p:nvSpPr>
        <p:spPr>
          <a:xfrm>
            <a:off x="3486150" y="2190750"/>
            <a:ext cx="2286000" cy="1066800"/>
          </a:xfrm>
          <a:prstGeom prst="roundRect">
            <a:avLst>
              <a:gd name="adj" fmla="val 10714"/>
            </a:avLst>
          </a:prstGeom>
          <a:solidFill>
            <a:srgbClr val="0D2033"/>
          </a:solidFill>
          <a:ln w="9525">
            <a:solidFill>
              <a:srgbClr val="FF7A1A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C0F1D62-D338-44BD-9199-0771C9512D7F}"/>
              </a:ext>
            </a:extLst>
          </p:cNvPr>
          <p:cNvSpPr>
            <a:spLocks noGrp="1"/>
          </p:cNvSpPr>
          <p:nvPr/>
        </p:nvSpPr>
        <p:spPr>
          <a:xfrm>
            <a:off x="3657600" y="2362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02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D64326A-D08C-4EDA-9D1A-F83D109F58D8}"/>
              </a:ext>
            </a:extLst>
          </p:cNvPr>
          <p:cNvSpPr>
            <a:spLocks noGrp="1"/>
          </p:cNvSpPr>
          <p:nvPr/>
        </p:nvSpPr>
        <p:spPr>
          <a:xfrm>
            <a:off x="4076700" y="24574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保存运行预测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6499AE0-3B92-4D15-B53C-89B87E0ECF00}"/>
              </a:ext>
            </a:extLst>
          </p:cNvPr>
          <p:cNvSpPr>
            <a:spLocks noGrp="1"/>
          </p:cNvSpPr>
          <p:nvPr/>
        </p:nvSpPr>
        <p:spPr>
          <a:xfrm>
            <a:off x="5791200" y="25146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62FD1310-67E3-42EC-81E9-E5C3E8626B63}"/>
              </a:ext>
            </a:extLst>
          </p:cNvPr>
          <p:cNvSpPr>
            <a:spLocks noGrp="1"/>
          </p:cNvSpPr>
          <p:nvPr/>
        </p:nvSpPr>
        <p:spPr>
          <a:xfrm>
            <a:off x="6248400" y="2190750"/>
            <a:ext cx="2286000" cy="1066800"/>
          </a:xfrm>
          <a:prstGeom prst="roundRect">
            <a:avLst>
              <a:gd name="adj" fmla="val 10714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BCF467C-CDD0-4E68-9D99-AB37489B7F48}"/>
              </a:ext>
            </a:extLst>
          </p:cNvPr>
          <p:cNvSpPr>
            <a:spLocks noGrp="1"/>
          </p:cNvSpPr>
          <p:nvPr/>
        </p:nvSpPr>
        <p:spPr>
          <a:xfrm>
            <a:off x="6419850" y="2362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03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CD8C341-E25C-4C33-92F1-16F4E7AF5835}"/>
              </a:ext>
            </a:extLst>
          </p:cNvPr>
          <p:cNvSpPr>
            <a:spLocks noGrp="1"/>
          </p:cNvSpPr>
          <p:nvPr/>
        </p:nvSpPr>
        <p:spPr>
          <a:xfrm>
            <a:off x="6838950" y="24574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真实构建 + QEMU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C4F3748-BBB6-42A9-89EE-3F7EBCE6FEB1}"/>
              </a:ext>
            </a:extLst>
          </p:cNvPr>
          <p:cNvSpPr>
            <a:spLocks noGrp="1"/>
          </p:cNvSpPr>
          <p:nvPr/>
        </p:nvSpPr>
        <p:spPr>
          <a:xfrm>
            <a:off x="8553450" y="251460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DD2002C1-19AD-4B39-98F6-0C1F4775E52B}"/>
              </a:ext>
            </a:extLst>
          </p:cNvPr>
          <p:cNvSpPr>
            <a:spLocks noGrp="1"/>
          </p:cNvSpPr>
          <p:nvPr/>
        </p:nvSpPr>
        <p:spPr>
          <a:xfrm>
            <a:off x="9010650" y="2190750"/>
            <a:ext cx="2286000" cy="1066800"/>
          </a:xfrm>
          <a:prstGeom prst="roundRect">
            <a:avLst>
              <a:gd name="adj" fmla="val 10714"/>
            </a:avLst>
          </a:prstGeom>
          <a:solidFill>
            <a:srgbClr val="0D2033"/>
          </a:solidFill>
          <a:ln w="9525">
            <a:solidFill>
              <a:srgbClr val="FF7A1A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4A328E98-8F0A-49E5-8A3D-842B2E44B304}"/>
              </a:ext>
            </a:extLst>
          </p:cNvPr>
          <p:cNvSpPr>
            <a:spLocks noGrp="1"/>
          </p:cNvSpPr>
          <p:nvPr/>
        </p:nvSpPr>
        <p:spPr>
          <a:xfrm>
            <a:off x="9182100" y="236220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04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57F2797-38EF-4F3B-9511-38FD428D4D74}"/>
              </a:ext>
            </a:extLst>
          </p:cNvPr>
          <p:cNvSpPr>
            <a:spLocks noGrp="1"/>
          </p:cNvSpPr>
          <p:nvPr/>
        </p:nvSpPr>
        <p:spPr>
          <a:xfrm>
            <a:off x="9601200" y="245745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本地规则诊断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5D869B6-92A7-4F62-ABFB-7C92035D8DE9}"/>
              </a:ext>
            </a:extLst>
          </p:cNvPr>
          <p:cNvSpPr>
            <a:spLocks noGrp="1"/>
          </p:cNvSpPr>
          <p:nvPr/>
        </p:nvSpPr>
        <p:spPr>
          <a:xfrm>
            <a:off x="723900" y="3810000"/>
            <a:ext cx="2286000" cy="1066800"/>
          </a:xfrm>
          <a:prstGeom prst="roundRect">
            <a:avLst>
              <a:gd name="adj" fmla="val 10714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BC5D09A4-E563-40FD-82E2-97C95E583AAB}"/>
              </a:ext>
            </a:extLst>
          </p:cNvPr>
          <p:cNvSpPr>
            <a:spLocks noGrp="1"/>
          </p:cNvSpPr>
          <p:nvPr/>
        </p:nvSpPr>
        <p:spPr>
          <a:xfrm>
            <a:off x="895350" y="39814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05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D1B5527-5616-41FE-94F1-F37FA3CCD426}"/>
              </a:ext>
            </a:extLst>
          </p:cNvPr>
          <p:cNvSpPr>
            <a:spLocks noGrp="1"/>
          </p:cNvSpPr>
          <p:nvPr/>
        </p:nvSpPr>
        <p:spPr>
          <a:xfrm>
            <a:off x="1314450" y="407670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手动教学智能体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54551FB-D0AC-40E7-B6C7-5D086746F31B}"/>
              </a:ext>
            </a:extLst>
          </p:cNvPr>
          <p:cNvSpPr>
            <a:spLocks noGrp="1"/>
          </p:cNvSpPr>
          <p:nvPr/>
        </p:nvSpPr>
        <p:spPr>
          <a:xfrm>
            <a:off x="3028950" y="41338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F30878BB-1F2E-43BF-BC61-FF841F9CB19A}"/>
              </a:ext>
            </a:extLst>
          </p:cNvPr>
          <p:cNvSpPr>
            <a:spLocks noGrp="1"/>
          </p:cNvSpPr>
          <p:nvPr/>
        </p:nvSpPr>
        <p:spPr>
          <a:xfrm>
            <a:off x="3486150" y="3810000"/>
            <a:ext cx="2286000" cy="1066800"/>
          </a:xfrm>
          <a:prstGeom prst="roundRect">
            <a:avLst>
              <a:gd name="adj" fmla="val 10714"/>
            </a:avLst>
          </a:prstGeom>
          <a:solidFill>
            <a:srgbClr val="0D2033"/>
          </a:solidFill>
          <a:ln w="9525">
            <a:solidFill>
              <a:srgbClr val="FF7A1A"/>
            </a:solidFill>
            <a:prstDash val="solid"/>
          </a:ln>
        </p:spPr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9F506ED-91BC-4F33-9228-BD2B9EE6FF54}"/>
              </a:ext>
            </a:extLst>
          </p:cNvPr>
          <p:cNvSpPr>
            <a:spLocks noGrp="1"/>
          </p:cNvSpPr>
          <p:nvPr/>
        </p:nvSpPr>
        <p:spPr>
          <a:xfrm>
            <a:off x="3657600" y="39814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F7A1A"/>
                </a:solidFill>
              </a:defRPr>
            </a:pPr>
            <a:r>
              <a:rPr sz="1575" b="1">
                <a:solidFill>
                  <a:srgbClr val="FF7A1A"/>
                </a:solidFill>
              </a:rPr>
              <a:t>06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C7487045-EC60-47A0-B18D-83A556481114}"/>
              </a:ext>
            </a:extLst>
          </p:cNvPr>
          <p:cNvSpPr>
            <a:spLocks noGrp="1"/>
          </p:cNvSpPr>
          <p:nvPr/>
        </p:nvSpPr>
        <p:spPr>
          <a:xfrm>
            <a:off x="4076700" y="407670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回放 / 分支差异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B8585F4-98F7-4051-9B41-3CD623CF0D03}"/>
              </a:ext>
            </a:extLst>
          </p:cNvPr>
          <p:cNvSpPr>
            <a:spLocks noGrp="1"/>
          </p:cNvSpPr>
          <p:nvPr/>
        </p:nvSpPr>
        <p:spPr>
          <a:xfrm>
            <a:off x="5791200" y="41338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9B589380-7CC1-47C7-BC50-B07766E04044}"/>
              </a:ext>
            </a:extLst>
          </p:cNvPr>
          <p:cNvSpPr>
            <a:spLocks noGrp="1"/>
          </p:cNvSpPr>
          <p:nvPr/>
        </p:nvSpPr>
        <p:spPr>
          <a:xfrm>
            <a:off x="6248400" y="3810000"/>
            <a:ext cx="2286000" cy="1066800"/>
          </a:xfrm>
          <a:prstGeom prst="roundRect">
            <a:avLst>
              <a:gd name="adj" fmla="val 10714"/>
            </a:avLst>
          </a:prstGeom>
          <a:solidFill>
            <a:srgbClr val="0D2033"/>
          </a:solidFill>
          <a:ln w="9525">
            <a:solidFill>
              <a:srgbClr val="35C8F4"/>
            </a:solidFill>
            <a:prstDash val="solid"/>
          </a:ln>
        </p:spPr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9BF7F8DB-9E65-4877-AA97-B218F9E82A90}"/>
              </a:ext>
            </a:extLst>
          </p:cNvPr>
          <p:cNvSpPr>
            <a:spLocks noGrp="1"/>
          </p:cNvSpPr>
          <p:nvPr/>
        </p:nvSpPr>
        <p:spPr>
          <a:xfrm>
            <a:off x="6419850" y="39814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5C8F4"/>
                </a:solidFill>
              </a:defRPr>
            </a:pPr>
            <a:r>
              <a:rPr sz="1575" b="1">
                <a:solidFill>
                  <a:srgbClr val="35C8F4"/>
                </a:solidFill>
              </a:rPr>
              <a:t>07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85417171-695B-46B6-8A49-B2F6DA25ED02}"/>
              </a:ext>
            </a:extLst>
          </p:cNvPr>
          <p:cNvSpPr>
            <a:spLocks noGrp="1"/>
          </p:cNvSpPr>
          <p:nvPr/>
        </p:nvSpPr>
        <p:spPr>
          <a:xfrm>
            <a:off x="6838950" y="407670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主动提交反馈 / 证据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88176043-D6EC-4AF7-BC5A-BC3EE28DBF2E}"/>
              </a:ext>
            </a:extLst>
          </p:cNvPr>
          <p:cNvSpPr>
            <a:spLocks noGrp="1"/>
          </p:cNvSpPr>
          <p:nvPr/>
        </p:nvSpPr>
        <p:spPr>
          <a:xfrm>
            <a:off x="8553450" y="4133850"/>
            <a:ext cx="4381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A9B8C9"/>
                </a:solidFill>
              </a:defRPr>
            </a:pPr>
            <a:r>
              <a:rPr sz="1875" b="1">
                <a:solidFill>
                  <a:srgbClr val="A9B8C9"/>
                </a:solidFill>
              </a:rPr>
              <a:t>→</a:t>
            </a: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F622874-2BA2-47EB-B1DE-0EDE4F8DDE4C}"/>
              </a:ext>
            </a:extLst>
          </p:cNvPr>
          <p:cNvSpPr>
            <a:spLocks noGrp="1"/>
          </p:cNvSpPr>
          <p:nvPr/>
        </p:nvSpPr>
        <p:spPr>
          <a:xfrm>
            <a:off x="9010650" y="3810000"/>
            <a:ext cx="2286000" cy="1066800"/>
          </a:xfrm>
          <a:prstGeom prst="roundRect">
            <a:avLst>
              <a:gd name="adj" fmla="val 10714"/>
            </a:avLst>
          </a:prstGeom>
          <a:solidFill>
            <a:srgbClr val="0D2033"/>
          </a:solidFill>
          <a:ln w="9525">
            <a:solidFill>
              <a:srgbClr val="30C980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B1594DA-8818-4547-B1E5-0C61FCEBDA48}"/>
              </a:ext>
            </a:extLst>
          </p:cNvPr>
          <p:cNvSpPr>
            <a:spLocks noGrp="1"/>
          </p:cNvSpPr>
          <p:nvPr/>
        </p:nvSpPr>
        <p:spPr>
          <a:xfrm>
            <a:off x="9182100" y="39814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30C980"/>
                </a:solidFill>
              </a:defRPr>
            </a:pPr>
            <a:r>
              <a:rPr sz="1575" b="1">
                <a:solidFill>
                  <a:srgbClr val="30C980"/>
                </a:solidFill>
              </a:rPr>
              <a:t>08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4539485A-C812-40B2-AE4E-A6958FDE52A2}"/>
              </a:ext>
            </a:extLst>
          </p:cNvPr>
          <p:cNvSpPr>
            <a:spLocks noGrp="1"/>
          </p:cNvSpPr>
          <p:nvPr/>
        </p:nvSpPr>
        <p:spPr>
          <a:xfrm>
            <a:off x="9601200" y="407670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AFC"/>
                </a:solidFill>
              </a:defRPr>
            </a:pPr>
            <a:r>
              <a:rPr sz="1350" b="1">
                <a:solidFill>
                  <a:srgbClr val="F7FAFC"/>
                </a:solidFill>
              </a:rPr>
              <a:t>教师人工复核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036440B-20B7-4537-ABA4-11647C10AB03}"/>
              </a:ext>
            </a:extLst>
          </p:cNvPr>
          <p:cNvSpPr>
            <a:spLocks noGrp="1"/>
          </p:cNvSpPr>
          <p:nvPr/>
        </p:nvSpPr>
        <p:spPr>
          <a:xfrm>
            <a:off x="1238250" y="5619750"/>
            <a:ext cx="9715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950" b="1">
                <a:solidFill>
                  <a:srgbClr val="FF7A1A"/>
                </a:solidFill>
              </a:defRPr>
            </a:pPr>
            <a:r>
              <a:rPr sz="1950" b="1">
                <a:solidFill>
                  <a:srgbClr val="FF7A1A"/>
                </a:solidFill>
              </a:rPr>
              <a:t>演示模式不自动提问；从真实证据出发，以人工确认收束</a:t>
            </a:r>
          </a:p>
        </p:txBody>
      </p:sp>
    </p:spTree>
    <p:extLst>
      <p:ext uri="{BB962C8B-B14F-4D97-AF65-F5344CB8AC3E}">
        <p14:creationId xmlns:p14="http://schemas.microsoft.com/office/powerpoint/2010/main" val="202054478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2177</Words>
  <Application>Microsoft Office PowerPoint</Application>
  <DocSecurity>0</DocSecurity>
  <PresentationFormat>宽屏</PresentationFormat>
  <Paragraphs>466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6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 m</cp:lastModifiedBy>
  <cp:revision>1</cp:revision>
  <dcterms:created xsi:type="dcterms:W3CDTF">2026-08-12T16:06:35Z</dcterms:created>
  <dcterms:modified xsi:type="dcterms:W3CDTF">2026-08-16T04:56:10Z</dcterms:modified>
</cp:coreProperties>
</file>