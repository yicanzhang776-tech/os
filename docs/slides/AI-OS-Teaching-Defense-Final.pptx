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3f59ca482f4321" /><Relationship Type="http://schemas.openxmlformats.org/officeDocument/2006/relationships/extended-properties" Target="/docProps/app.xml" Id="Ra0f68f98dfe44e71" /><Relationship Type="http://schemas.openxmlformats.org/officeDocument/2006/relationships/officeDocument" Target="/ppt/presentation.xml" Id="R7283369e0e994f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7ed7e67d9e47cf"/>
  </p:sldMasterIdLst>
  <p:notesMasterIdLst>
    <p:notesMasterId xmlns:r="http://schemas.openxmlformats.org/officeDocument/2006/relationships" r:id="R62cf202cdbb74dc7"/>
  </p:notesMasterIdLst>
  <p:sldIdLst>
    <p:sldId xmlns:r="http://schemas.openxmlformats.org/officeDocument/2006/relationships" id="256" r:id="R1d5169de1f8540ac"/>
    <p:sldId xmlns:r="http://schemas.openxmlformats.org/officeDocument/2006/relationships" id="257" r:id="Rb5f8e06e3ec54246"/>
    <p:sldId xmlns:r="http://schemas.openxmlformats.org/officeDocument/2006/relationships" id="258" r:id="Rb529b2d8fc634356"/>
    <p:sldId xmlns:r="http://schemas.openxmlformats.org/officeDocument/2006/relationships" id="259" r:id="R00c9ce8712a94aaa"/>
    <p:sldId xmlns:r="http://schemas.openxmlformats.org/officeDocument/2006/relationships" id="260" r:id="R267ee091b55d4c8b"/>
    <p:sldId xmlns:r="http://schemas.openxmlformats.org/officeDocument/2006/relationships" id="261" r:id="Rced16e0eeb404739"/>
    <p:sldId xmlns:r="http://schemas.openxmlformats.org/officeDocument/2006/relationships" id="262" r:id="Rd9d8e8a226a1428f"/>
    <p:sldId xmlns:r="http://schemas.openxmlformats.org/officeDocument/2006/relationships" id="263" r:id="R01105337db404166"/>
    <p:sldId xmlns:r="http://schemas.openxmlformats.org/officeDocument/2006/relationships" id="264" r:id="Ra2688a4af1874154"/>
    <p:sldId xmlns:r="http://schemas.openxmlformats.org/officeDocument/2006/relationships" id="265" r:id="Re5d1e8c5f290414e"/>
    <p:sldId xmlns:r="http://schemas.openxmlformats.org/officeDocument/2006/relationships" id="266" r:id="Rfd62c3d5894742ca"/>
    <p:sldId xmlns:r="http://schemas.openxmlformats.org/officeDocument/2006/relationships" id="267" r:id="R08e3fb1881124e29"/>
    <p:sldId xmlns:r="http://schemas.openxmlformats.org/officeDocument/2006/relationships" id="268" r:id="R0931fe546c284d6d"/>
    <p:sldId xmlns:r="http://schemas.openxmlformats.org/officeDocument/2006/relationships" id="269" r:id="R9d95a122c12b4efb"/>
    <p:sldId xmlns:r="http://schemas.openxmlformats.org/officeDocument/2006/relationships" id="270" r:id="Rbb29df121887459a"/>
    <p:sldId xmlns:r="http://schemas.openxmlformats.org/officeDocument/2006/relationships" id="271" r:id="R71b0c1781274465a"/>
    <p:sldId xmlns:r="http://schemas.openxmlformats.org/officeDocument/2006/relationships" id="272" r:id="Rcb9fc36414bc4eeb"/>
    <p:sldId xmlns:r="http://schemas.openxmlformats.org/officeDocument/2006/relationships" id="273" r:id="R886e5cdb4caa4613"/>
    <p:sldId xmlns:r="http://schemas.openxmlformats.org/officeDocument/2006/relationships" id="274" r:id="Rf115ae8bdc1842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748c361f47470e" /><Relationship Type="http://schemas.openxmlformats.org/officeDocument/2006/relationships/slideMaster" Target="/ppt/slideMasters/slideMaster1.xml" Id="R8b7ed7e67d9e47cf" /><Relationship Type="http://schemas.openxmlformats.org/officeDocument/2006/relationships/notesMaster" Target="/ppt/notesMasters/notesMaster1.xml" Id="R62cf202cdbb74dc7" /><Relationship Type="http://schemas.openxmlformats.org/officeDocument/2006/relationships/presProps" Target="/ppt/presProps.xml" Id="Ra4e0ee110f044d33" /><Relationship Type="http://schemas.openxmlformats.org/officeDocument/2006/relationships/tableStyles" Target="/ppt/tableStyles.xml" Id="R8ebd4222687a4acc" /><Relationship Type="http://schemas.openxmlformats.org/officeDocument/2006/relationships/slide" Target="/ppt/slides/slide1.xml" Id="R1d5169de1f8540ac" /><Relationship Type="http://schemas.openxmlformats.org/officeDocument/2006/relationships/slide" Target="/ppt/slides/slide2.xml" Id="Rb5f8e06e3ec54246" /><Relationship Type="http://schemas.openxmlformats.org/officeDocument/2006/relationships/slide" Target="/ppt/slides/slide3.xml" Id="Rb529b2d8fc634356" /><Relationship Type="http://schemas.openxmlformats.org/officeDocument/2006/relationships/slide" Target="/ppt/slides/slide4.xml" Id="R00c9ce8712a94aaa" /><Relationship Type="http://schemas.openxmlformats.org/officeDocument/2006/relationships/slide" Target="/ppt/slides/slide5.xml" Id="R267ee091b55d4c8b" /><Relationship Type="http://schemas.openxmlformats.org/officeDocument/2006/relationships/slide" Target="/ppt/slides/slide6.xml" Id="Rced16e0eeb404739" /><Relationship Type="http://schemas.openxmlformats.org/officeDocument/2006/relationships/slide" Target="/ppt/slides/slide7.xml" Id="Rd9d8e8a226a1428f" /><Relationship Type="http://schemas.openxmlformats.org/officeDocument/2006/relationships/slide" Target="/ppt/slides/slide8.xml" Id="R01105337db404166" /><Relationship Type="http://schemas.openxmlformats.org/officeDocument/2006/relationships/slide" Target="/ppt/slides/slide9.xml" Id="Ra2688a4af1874154" /><Relationship Type="http://schemas.openxmlformats.org/officeDocument/2006/relationships/slide" Target="/ppt/slides/slide10.xml" Id="Re5d1e8c5f290414e" /><Relationship Type="http://schemas.openxmlformats.org/officeDocument/2006/relationships/slide" Target="/ppt/slides/slide11.xml" Id="Rfd62c3d5894742ca" /><Relationship Type="http://schemas.openxmlformats.org/officeDocument/2006/relationships/slide" Target="/ppt/slides/slide12.xml" Id="R08e3fb1881124e29" /><Relationship Type="http://schemas.openxmlformats.org/officeDocument/2006/relationships/slide" Target="/ppt/slides/slide13.xml" Id="R0931fe546c284d6d" /><Relationship Type="http://schemas.openxmlformats.org/officeDocument/2006/relationships/slide" Target="/ppt/slides/slide14.xml" Id="R9d95a122c12b4efb" /><Relationship Type="http://schemas.openxmlformats.org/officeDocument/2006/relationships/slide" Target="/ppt/slides/slide15.xml" Id="Rbb29df121887459a" /><Relationship Type="http://schemas.openxmlformats.org/officeDocument/2006/relationships/slide" Target="/ppt/slides/slide16.xml" Id="R71b0c1781274465a" /><Relationship Type="http://schemas.openxmlformats.org/officeDocument/2006/relationships/slide" Target="/ppt/slides/slide17.xml" Id="Rcb9fc36414bc4eeb" /><Relationship Type="http://schemas.openxmlformats.org/officeDocument/2006/relationships/slide" Target="/ppt/slides/slide18.xml" Id="R886e5cdb4caa4613" /><Relationship Type="http://schemas.openxmlformats.org/officeDocument/2006/relationships/slide" Target="/ppt/slides/slide19.xml" Id="Rf115ae8bdc1842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319e7e95744a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374d31f4d48c4" /><Relationship Type="http://schemas.openxmlformats.org/officeDocument/2006/relationships/notesMaster" Target="/ppt/notesMasters/notesMaster1.xml" Id="R8a022d22d77b42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e71e099c0a4916" /><Relationship Type="http://schemas.openxmlformats.org/officeDocument/2006/relationships/notesMaster" Target="/ppt/notesMasters/notesMaster1.xml" Id="Rd9160495125c4b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47bca212894e76" /><Relationship Type="http://schemas.openxmlformats.org/officeDocument/2006/relationships/notesMaster" Target="/ppt/notesMasters/notesMaster1.xml" Id="Rc4407b6f478c46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0025404eab42ac" /><Relationship Type="http://schemas.openxmlformats.org/officeDocument/2006/relationships/notesMaster" Target="/ppt/notesMasters/notesMaster1.xml" Id="Rf295ec5206bc48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7ade4bc0264c73" /><Relationship Type="http://schemas.openxmlformats.org/officeDocument/2006/relationships/notesMaster" Target="/ppt/notesMasters/notesMaster1.xml" Id="Rb1f1af8df77748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b0ed9ed2c64651" /><Relationship Type="http://schemas.openxmlformats.org/officeDocument/2006/relationships/notesMaster" Target="/ppt/notesMasters/notesMaster1.xml" Id="R4a46ef2739b04d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e290d7bb9043a8" /><Relationship Type="http://schemas.openxmlformats.org/officeDocument/2006/relationships/notesMaster" Target="/ppt/notesMasters/notesMaster1.xml" Id="Rd9285bffdd6e42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6d78c6e4d34d8e" /><Relationship Type="http://schemas.openxmlformats.org/officeDocument/2006/relationships/notesMaster" Target="/ppt/notesMasters/notesMaster1.xml" Id="Re997f48e174848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35fff4c9c14646" /><Relationship Type="http://schemas.openxmlformats.org/officeDocument/2006/relationships/notesMaster" Target="/ppt/notesMasters/notesMaster1.xml" Id="R108b77c84c904d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756756036345fc" /><Relationship Type="http://schemas.openxmlformats.org/officeDocument/2006/relationships/notesMaster" Target="/ppt/notesMasters/notesMaster1.xml" Id="R94c9f5cd08824c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90eb2aa17c4bd7" /><Relationship Type="http://schemas.openxmlformats.org/officeDocument/2006/relationships/notesMaster" Target="/ppt/notesMasters/notesMaster1.xml" Id="R5c6b30d6c39948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2116050cfa47b9" /><Relationship Type="http://schemas.openxmlformats.org/officeDocument/2006/relationships/notesMaster" Target="/ppt/notesMasters/notesMaster1.xml" Id="R42951e98b5ea4d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ea2f8995444fe9" /><Relationship Type="http://schemas.openxmlformats.org/officeDocument/2006/relationships/notesMaster" Target="/ppt/notesMasters/notesMaster1.xml" Id="R168b9a6295704e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8fe9e698284a1a" /><Relationship Type="http://schemas.openxmlformats.org/officeDocument/2006/relationships/notesMaster" Target="/ppt/notesMasters/notesMaster1.xml" Id="R921423bf7ec746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31d8fe0c4e4e4f" /><Relationship Type="http://schemas.openxmlformats.org/officeDocument/2006/relationships/notesMaster" Target="/ppt/notesMasters/notesMaster1.xml" Id="R85ec8c04941742b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0bea8b98b94d8c" /><Relationship Type="http://schemas.openxmlformats.org/officeDocument/2006/relationships/notesMaster" Target="/ppt/notesMasters/notesMaster1.xml" Id="R4b2f8130d5094d0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201c112a704b80" /><Relationship Type="http://schemas.openxmlformats.org/officeDocument/2006/relationships/notesMaster" Target="/ppt/notesMasters/notesMaster1.xml" Id="R8f8f84cf4112404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31b8c9a7e934417" /><Relationship Type="http://schemas.openxmlformats.org/officeDocument/2006/relationships/notesMaster" Target="/ppt/notesMasters/notesMaster1.xml" Id="Rb60f53a45ee545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2e72472365a417c" /><Relationship Type="http://schemas.openxmlformats.org/officeDocument/2006/relationships/notesMaster" Target="/ppt/notesMasters/notesMaster1.xml" Id="Rf189e406497b42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1791906d554c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6da2dfe9694ccf" /><Relationship Type="http://schemas.openxmlformats.org/officeDocument/2006/relationships/slideLayout" Target="/ppt/slideLayouts/slideLayout1.xml" Id="R56f66157529344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f66157529344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e4164d80d4de8" /><Relationship Type="http://schemas.openxmlformats.org/officeDocument/2006/relationships/notesSlide" Target="/ppt/notesSlides/notesSlide1.xml" Id="Ra143b3a1f0aa4b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b595f982c4b1c" /><Relationship Type="http://schemas.openxmlformats.org/officeDocument/2006/relationships/notesSlide" Target="/ppt/notesSlides/notesSlide2.xml" Id="R2ac8320ecd724c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75c8816c4445c" /><Relationship Type="http://schemas.openxmlformats.org/officeDocument/2006/relationships/notesSlide" Target="/ppt/notesSlides/notesSlide3.xml" Id="R944d9abd6e524f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9976fd4ec47cd" /><Relationship Type="http://schemas.openxmlformats.org/officeDocument/2006/relationships/notesSlide" Target="/ppt/notesSlides/notesSlide4.xml" Id="Rfe1a28201bc443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3a731bf34429e" /><Relationship Type="http://schemas.openxmlformats.org/officeDocument/2006/relationships/notesSlide" Target="/ppt/notesSlides/notesSlide5.xml" Id="R600a290d31b243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19bd49da04a81" /><Relationship Type="http://schemas.openxmlformats.org/officeDocument/2006/relationships/notesSlide" Target="/ppt/notesSlides/notesSlide6.xml" Id="Rc0150251592441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31545196a4e24" /><Relationship Type="http://schemas.openxmlformats.org/officeDocument/2006/relationships/notesSlide" Target="/ppt/notesSlides/notesSlide7.xml" Id="Red211a3c33374c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3c599141b42df" /><Relationship Type="http://schemas.openxmlformats.org/officeDocument/2006/relationships/notesSlide" Target="/ppt/notesSlides/notesSlide8.xml" Id="R42463af12a6b41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602558f6f4912" /><Relationship Type="http://schemas.openxmlformats.org/officeDocument/2006/relationships/notesSlide" Target="/ppt/notesSlides/notesSlide9.xml" Id="R59c5394e256a4d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f97362c464f8b" /><Relationship Type="http://schemas.openxmlformats.org/officeDocument/2006/relationships/notesSlide" Target="/ppt/notesSlides/notesSlide10.xml" Id="R7525ed2c548a49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dd2c748894021" /><Relationship Type="http://schemas.openxmlformats.org/officeDocument/2006/relationships/notesSlide" Target="/ppt/notesSlides/notesSlide11.xml" Id="R8ed72166f74241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f4e9cd73c4b08" /><Relationship Type="http://schemas.openxmlformats.org/officeDocument/2006/relationships/notesSlide" Target="/ppt/notesSlides/notesSlide12.xml" Id="R9631207719184c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04bb0afc74d4e" /><Relationship Type="http://schemas.openxmlformats.org/officeDocument/2006/relationships/notesSlide" Target="/ppt/notesSlides/notesSlide13.xml" Id="R57b031946f924e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00d0ec448442e" /><Relationship Type="http://schemas.openxmlformats.org/officeDocument/2006/relationships/notesSlide" Target="/ppt/notesSlides/notesSlide14.xml" Id="R604530455fbd43b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37bd98a2448b5" /><Relationship Type="http://schemas.openxmlformats.org/officeDocument/2006/relationships/notesSlide" Target="/ppt/notesSlides/notesSlide15.xml" Id="R832a3ee36393469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1387543824001" /><Relationship Type="http://schemas.openxmlformats.org/officeDocument/2006/relationships/notesSlide" Target="/ppt/notesSlides/notesSlide16.xml" Id="R0fc5ed0e00bf4b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bc1c2328b4ad9" /><Relationship Type="http://schemas.openxmlformats.org/officeDocument/2006/relationships/notesSlide" Target="/ppt/notesSlides/notesSlide17.xml" Id="R3c96d65f3b31464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1aed1e6064577" /><Relationship Type="http://schemas.openxmlformats.org/officeDocument/2006/relationships/notesSlide" Target="/ppt/notesSlides/notesSlide18.xml" Id="R0b94005b1cd741d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a137944484c58" /><Relationship Type="http://schemas.openxmlformats.org/officeDocument/2006/relationships/notesSlide" Target="/ppt/notesSlides/notesSlide19.xml" Id="R72eb222a4e2849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18321E-8348-4686-849F-C9F57BB4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D97DE-028A-4D83-A7B8-23AB6269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EB6D-3F9C-4223-A7F7-EEEEEDE4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8094A-92F3-443D-90E4-A22217D4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21D55-32E4-4E22-91A4-4BD775A3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24503-D046-4C77-BD23-FAD3229A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42171-66A4-4AF7-AC1D-92D15812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F2764-D4BB-49A3-A8CC-0F46A6C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617F9-BF78-477D-B517-4D64FC1C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7F9ED-C09B-4871-B832-321C4D1C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82CA1-3FC2-44FF-94E1-1A8D1190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74C754-9EBD-4DA7-9AE0-A040823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3F8FC-4823-4F28-9BDF-5E56CBFC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6FB95-9921-4E95-B9D3-730BE3F1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D06D8-2565-477F-B494-4F661014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F1186-916C-4E5F-B64A-AAC170BA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5D704-8EFF-4703-A040-1947EDF1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96C4A-FB2C-4CB5-BDC0-D2404A4F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15765C-CBD2-4CF2-B2AC-682125EF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CE68A2-4DC1-46F6-A7BB-9EF8F48D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28A3B-8480-49DE-BFB0-0A0813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6C117-F2B8-4576-9953-E28617E0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FCA5F3-4FC7-46D6-81E5-01647676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A39EFB-E40F-401A-B4A2-C792A851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205607-D945-44EC-B841-0DC8148F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03D5FC-7F11-44FA-B387-029F8784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3555B1-AB3C-432A-90E6-B9497264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01E791-A415-46AD-A951-DF8FE6C6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B1C38E-7111-4ECB-96ED-D825F93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55D341-8DB3-4705-8B17-5E29596F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171CCF-2D65-47E3-90E1-4090A1FB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2026 OS 功能挑战赛道第 20 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95E746-E19E-4EBE-8848-449CCE2C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857250"/>
            <a:ext cx="3714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19050">
            <a:solidFill>
              <a:srgbClr val="39D5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424742-8337-45F9-81CE-6925B905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3144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57137E-B4B2-4472-A239-7BA9AFCE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26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972CCE-0B91-477F-B061-8DB9C086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18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P0 最小内核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163419-69DE-4F3D-842E-EFFA89BD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716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F5A332-ECB6-4844-A7B7-EBCE10E0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B82281-8A6E-42A2-AC68-0DA177BD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638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Lab1 启动/控制台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868CB7-5064-4471-B721-1F566194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288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8582EC-7B37-455F-BAFF-5E9D3C24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81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CDBE1E-E1F5-4C35-B028-532DAF08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95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Lab2 Trap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460D24-28A1-4403-B7D1-69E3D4BB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759E5F-07A1-4DCF-9E18-E6079967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38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90FEDA-768D-43C2-97C5-038B2CF7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52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Lab3 物理内存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920EA3-9723-4240-87A3-3E1238F0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4D80DB-E74F-4A4E-815E-2DE75E37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9820AB-172D-44E5-A513-18B17D48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099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Lab4 Sv39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E13FC8-7500-43F4-99DF-1C627CFF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004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C0BDF9-AD86-42A6-9115-1E65FA80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52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209EAE-EB60-4847-9B12-D1D3E95F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67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Lab5 调度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F36D1C-0424-41AF-A39D-1A84D9CF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576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493B6A9-8535-4B42-8BAE-235DCEF7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10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048BCB-2C90-4519-9775-6EC56F62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24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Lab6 用户态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5DB04B-B85B-4E95-B67C-7F90537C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C2B71D0-C1C3-432C-90A6-74C79832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67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97A219-6AA8-4BE8-8054-7685917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1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Lab7 文件 I/O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FD2D711-9270-473D-8613-9621B1F5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720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DD2976-9F11-4D19-9043-C8FBD20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5F9A06-D002-4996-B7F2-E4721F94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BAD0"/>
                </a:solidFill>
              </a:defRPr>
            </a:pPr>
            <a:r>
              <a:rPr sz="1125" b="1">
                <a:solidFill>
                  <a:srgbClr val="A9BAD0"/>
                </a:solidFill>
              </a:rPr>
              <a:t>测试与文档闭环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ECB193-A0FC-45F1-A4B8-CE6B2FE4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8FAFC"/>
                </a:solidFill>
              </a:defRPr>
            </a:pPr>
            <a:r>
              <a:rPr sz="4200" b="1">
                <a:solidFill>
                  <a:srgbClr val="F8FAFC"/>
                </a:solidFill>
              </a:rPr>
              <a:t>AI 合作的操作系统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E27B47-1A7A-4177-A458-0E635142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685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9D5FF"/>
                </a:solidFill>
              </a:defRPr>
            </a:pPr>
            <a:r>
              <a:rPr sz="4800" b="1">
                <a:solidFill>
                  <a:srgbClr val="39D5FF"/>
                </a:solidFill>
              </a:rPr>
              <a:t>教学实验环境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ABE664F-42E7-4EBB-A130-FD8B83C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9BAD0"/>
                </a:solidFill>
              </a:defRPr>
            </a:pPr>
            <a:r>
              <a:rPr sz="1800" b="0">
                <a:solidFill>
                  <a:srgbClr val="A9BAD0"/>
                </a:solidFill>
              </a:rPr>
              <a:t>Rust · RISC-V 64 · QEMU/OpenSBI · P0-Lab7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371712-B513-4517-A536-A6A7F92B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从可运行内核到可直接教学的实验仓库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687B24-A91A-4C55-8A76-4C1A3774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04F3F0-AE9A-423B-BB6C-CBACFD08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设计方案答辩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C968FC-BB67-4DAA-81D1-96D2A271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78DABA-83B7-4121-9AD5-EEB9D078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577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教学实验体系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BEC8A18-DCE8-4202-A1A6-384C2AB1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00600"/>
            <a:ext cx="1714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319BE1-544D-43DE-8195-DE750F58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577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QEMU 自动验收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5735DE-6715-405F-A450-0C655D9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578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项目负责人 / 内核实现：李浩明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教学设计、测试与验收、文档与答辩：李昊然、张义灿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98B2FFB-5E42-4959-9538-18BDD2B4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49859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B60A21-7D1F-40D6-A919-C7B94DE9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A08F1-BE32-4181-8FEC-AEA99E71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F2CDF-FB9F-4573-8042-102B8F6A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99A7A-5C44-4C77-9F61-9EA04F05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D568D-0506-455B-B604-DB268B0E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7B998-5729-4028-85C4-3162C431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E7224-8CF6-42B2-936E-C2E4911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D42D7-6018-4A76-80D8-3BEF02CC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CD551-E029-4B39-9BD2-21E2A74E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B194AC-1C6B-477B-969E-9580FA71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F6998-8EB8-4AC0-9FD9-2AEEB4AF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0BFBD-1D87-4A57-B0EF-DB3A5F21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AB725-599D-4C06-891B-C406F3B4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F04D83-10F6-40F8-BF77-B39EA851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BD1D1-948D-424D-BBE0-1F2B64D0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179BCA-7344-45CA-A30F-0660F51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FBEEF-C14D-427E-B177-0D033A03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30D5F5-13CD-475E-AD5A-A52BA394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CBB2F-A78D-4597-8858-BE69A95D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14020-F798-4B29-BD43-54F390B1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C007F-1DF4-4198-B85D-B5AA648F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188AC-FB01-4F67-B3A6-728C967F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6F81F-1F9E-49E9-BD96-16569605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474D4-4B01-4B6A-9C55-45439159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59D0C-33E4-4894-8D33-34EC3125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99518-0AB2-4864-8075-A53FB9FF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8F7E3B-1482-4923-BF57-AAA0133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9658B-113B-46D6-B888-DB6ECAA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246F72-5290-4E8A-8B33-3B30B2E4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1EC522-191E-4CE3-BB06-DF240EBD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2DC539-5F6E-4C48-AA56-47264EB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赛题分析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B15432-6171-4E62-871E-C5C8D292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题目要求的不是“大而全 OS”，而是可教学的 OS 实验环境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D4A1D0-172D-4E3A-9ABA-196564F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我们把评分关注点拆成工程基线、教学设计、测试证据和文档交付四条线。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1A0504-DA10-42DA-A8FF-A42DC9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C4602E-4ACD-4D8C-B561-F3F59C1D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70895E-A921-4630-8C19-5D441690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CBCFC5-96C8-43B9-8B4F-51E92C18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5FF"/>
                </a:solidFill>
              </a:defRPr>
            </a:pPr>
            <a:r>
              <a:rPr sz="1650" b="1">
                <a:solidFill>
                  <a:srgbClr val="39D5FF"/>
                </a:solidFill>
              </a:rPr>
              <a:t>Rust / RISC-V / QEMU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E2F134-0C7F-43D1-8E1B-32FE046D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内核主体使用 Rust，目标为 RISC-V 64，通过 QEMU virt + OpenSBI 运行。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DED322-0CF8-49D0-8740-07CA2491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4E515A-2928-4EF3-A468-8E2C70D9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D45925-3D32-417F-A29D-CF5D8557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956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C55E"/>
                </a:solidFill>
              </a:defRPr>
            </a:pPr>
            <a:r>
              <a:rPr sz="1650" b="1">
                <a:solidFill>
                  <a:srgbClr val="22C55E"/>
                </a:solidFill>
              </a:rPr>
              <a:t>至少 5 个基础实验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620C79-69CD-4123-A1A5-C9DBA7D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147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最终设计 7 个递进实验，从启动到文件 I/O，知识点前后衔接。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58CA5-FE12-4219-A59C-8651BDA7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3C1A47-9FDF-4BB1-BDB1-CE576486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3C1B5FF-6C67-4CB8-99FE-A5383C6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DBA74"/>
                </a:solidFill>
              </a:defRPr>
            </a:pPr>
            <a:r>
              <a:rPr sz="1650" b="1">
                <a:solidFill>
                  <a:srgbClr val="FDBA74"/>
                </a:solidFill>
              </a:rPr>
              <a:t>Crate 与测试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A504BC-6543-401F-B2FA-A523394F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Rust workspace + kernel crate，配套主机单测与 QEMU 系统测试。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A6BB1D-9106-407C-B404-D551543C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1F46B8-7358-4515-A6E0-7EA067FD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66D407-438B-428C-8181-34E90601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482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8BFA"/>
                </a:solidFill>
              </a:defRPr>
            </a:pPr>
            <a:r>
              <a:rPr sz="1650" b="1">
                <a:solidFill>
                  <a:srgbClr val="A78BFA"/>
                </a:solidFill>
              </a:rPr>
              <a:t>Markdown 与 Mermaid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BA8C56-DC5B-46DE-80BE-4693036A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673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README、任务书、提示、教师指南、设计文档均使用 Markdown。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5757C5-6F33-488B-BCF6-2FB84E84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23311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D337F0-A45D-4A6D-AAFD-CBE65F38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48029-0764-4FBF-9E0B-A5B16AAF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83C17-E778-4B13-9080-2C156DFF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D38CF-4CEE-4A8B-B4A6-251CFCB6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C6664-3328-46F5-B30E-1E058B52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2F9B9-EBED-425C-87D9-BB5E65F1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74CF5-43BB-41F5-A613-FD97D58A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4B340-F1F4-4B1D-AE72-0E1F4529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F7778-37AB-481A-89B9-A0CD52B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75DC8-8B06-4BA1-A542-A89931C4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D1F08-CD1B-4C71-8E64-41A11486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0EB91-97AA-4749-93C8-9B4E983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F5064-EBBC-4D7D-B5E6-BEC4D59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879F9-EF76-4F36-81E1-F4E7B57B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AACBB-F964-4AA9-9BD3-B956817D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F75B1-B9F1-4DEA-80CD-7576E00F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DF1BC-9CB5-40AE-82F5-AF23AD59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7F6A1-96EE-410C-B087-194121CD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9AF06-24B9-4BC2-8FC7-34D0D9B2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4267D-62E0-4D0E-B84D-0A9C365B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29291-5AD3-4C97-825A-37A8C5F8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8A8F1B-4FF4-4E62-896E-78947A2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865F4C-9EFB-4257-9195-900FF61C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4B141-035A-44E3-A4AE-2B43DE37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11D6AC-28AB-4DBF-BB5B-5B29D622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B60A2-4F05-48B8-AECF-9FC44F91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3AF49-D423-4977-BE85-D82B03E6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537AA3-E2E5-40EA-AA26-119BC667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B32ADF-CE1B-4B05-A505-EB3A0DF4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976F1-216B-4D79-A70A-0E9D6014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DB6838-64CB-4B3B-92FB-0E9F4BD6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核心判断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2B2E38-0DBF-4DB0-8F5A-724CEE93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把赛题从“实现更多功能”转化为“构建可教学体系”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09883E-5D64-4460-AAB4-2F90785B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功能是基础，教学可用性才是本题区别于普通 OS 作业的关键。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0DE61D-4BFD-4B21-A573-2A7C7F1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469BB2-8D66-4BAE-A6D5-3CB186B8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94068A-82FE-455C-B2FF-E60B487B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76A4D3-4C0D-4F79-8895-D4A1E80B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B7185"/>
                </a:solidFill>
              </a:defRPr>
            </a:pPr>
            <a:r>
              <a:rPr sz="2100" b="1">
                <a:solidFill>
                  <a:srgbClr val="FB7185"/>
                </a:solidFill>
              </a:rPr>
              <a:t>如果只做功能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9ABC8C-6AFE-43C6-AF44-5177C33C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评委看到能跑的内核，但学生未必知道从哪里学。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文档和测试容易变成附属品。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A130CE-C13A-4D4D-B6CD-F4D5F50D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C2235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250702-AFDD-492F-A5D6-F4855950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D847D6-9CBA-4040-B29D-3805A397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我们的设计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07219D-3A9A-4D98-A29D-50818F53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P0 先保证可重复运行。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Lab1-Lab7 每个实验都有 starter/solution。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每个实验约 3 个任务，任务完成即可阶段测试。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8C1D8E-444E-4527-8A9C-5241301B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A75684-3FDB-4AC4-8158-361F51A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5A8A4E-8FAD-467A-BAEE-75717CAF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最终效果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D2BB96-4B28-4B58-BDF4-92724868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学生有任务书与分级提示。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教师有参考实现与教师指南。</a:t>
            </a:r>
          </a:p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评委可用脚本复现验收。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5CAFE2-AAAB-4347-B51F-0303A36A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E41B22-3A82-4BD2-829A-7E791000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4C3A5C-6641-4DFC-815D-2BA7274C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4830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一句话定位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B6F19-06EF-407C-A568-D71162C0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34050"/>
            <a:ext cx="872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这不是工业级通用 OS，而是一套能把 OS 核心机制讲清楚、跑起来、测出来的本科教学实验环境。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FA8996-66F2-4DC5-9F04-93149924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48083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0FEA60-AE82-4759-A664-9DBA0512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03036-65F9-4F21-A485-A2CC4D90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09E51-A13E-400D-AE60-7248C2BC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11403-5C97-4B6D-A163-A8BDF4C9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73CC8-8495-4A1E-B649-3D756A72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36B76-BDFB-4F86-BA87-44BA8485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AE0AB-774C-43AD-B77C-705C1A1B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75346-212A-431E-84F5-2208FAC2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A3912-EA15-4A66-A105-CAE91635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920C1-1144-4C4A-90E9-E5186A72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0FEB02-2D56-42ED-864C-B3EF2F11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84878-4E86-492F-A31A-73861F92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DAB51B-558C-47D3-9C22-F51901F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4DE21-78B0-47EA-9BEE-466CFB7A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45CE3B-C3BF-44B0-B1F3-53A123E3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343B9E-810E-4F92-83CF-823A0CE5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EB356-F773-4986-89FE-36D0B9C2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ED2790-3B44-4032-9BA4-76857231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4F0B92-8659-4515-96CC-5524AA6D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D92B1F-D085-419F-806B-E5E0206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8CAB3-8494-4D74-99ED-0FC6EC30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11371-1863-49D0-BA57-E16DFCB9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07C9E-4209-49B8-A541-3795DBC8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8B433A-D4B9-4D41-AEDC-0621E3CA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14251-9511-4E9C-AF6D-4EDA8E35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E1A8B-E040-4FAA-88B1-92E33AD4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6D8301-9D0D-4362-9949-06864A12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377DD1-3DBC-4650-8440-83219BDB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A7C188-DA36-424B-9241-D84AFD55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628622-7018-457C-BED3-504A83FE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91446A-0B9B-4CA3-8B81-9A10BAE8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成果展示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C7D16B-CB41-4166-B399-2DB2F7FE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项目已经形成完整 P0-Lab7 教学闭环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D30A7C-4054-42BA-879A-BA0D0617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成果不只是一份代码，而是一组可切换、可学习、可验收的 GitLab 分支与文档。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22C10D-30AC-4AD1-A2DE-5991284D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771729-DBD2-4C46-967B-072C2A4B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2000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1C3D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83703B-5A03-4F5B-ADC8-018EED0F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B1B1B8-0BEE-4A27-87E6-9408CC9B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58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D5FF"/>
                </a:solidFill>
              </a:defRPr>
            </a:pPr>
            <a:r>
              <a:rPr sz="3150" b="1">
                <a:solidFill>
                  <a:srgbClr val="39D5FF"/>
                </a:solidFill>
              </a:rPr>
              <a:t>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7BE739-4537-4F23-BCEB-C061173A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递进式正式教学实验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47B51C-180B-41DF-9DE2-2C2520AA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2000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1C3D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840E40-8AD3-4473-9E89-F5FF2131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1538C3-3DAD-4C29-ACEA-537CAC48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47925"/>
            <a:ext cx="158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DBA74"/>
                </a:solidFill>
              </a:defRPr>
            </a:pPr>
            <a:r>
              <a:rPr sz="3150" b="1">
                <a:solidFill>
                  <a:srgbClr val="FDBA74"/>
                </a:solidFill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F18577-009D-4653-911B-67674CF8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1467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每个实验约 3 个任务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6C584C-F59B-4DDD-A579-1BAF257F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38375"/>
            <a:ext cx="2000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1C3D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8C7AE6-C8BC-4D4A-AA1C-21285818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38375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F861DD-FF21-4D55-BB76-DEA7D74D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47925"/>
            <a:ext cx="158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2C55E"/>
                </a:solidFill>
              </a:defRPr>
            </a:pPr>
            <a:r>
              <a:rPr sz="3150" b="1">
                <a:solidFill>
                  <a:srgbClr val="22C55E"/>
                </a:solidFill>
              </a:rPr>
              <a:t>46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5333EA-5588-47D8-BFC6-D6BADCF8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1467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主机单元测试通过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26BE0D-BDE4-4313-8B91-C4D4CA80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38375"/>
            <a:ext cx="2000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1C3D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9C799-2A99-486F-8C4D-237A72DA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38375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09871E-2229-420D-9DCC-10433BF9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58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D5FF"/>
                </a:solidFill>
              </a:defRPr>
            </a:pPr>
            <a:r>
              <a:rPr sz="3150" b="1">
                <a:solidFill>
                  <a:srgbClr val="39D5FF"/>
                </a:solidFill>
              </a:rPr>
              <a:t>15+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6D285E-6DF7-4A68-ABC9-DC05392B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1467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P0 与 Lab 分支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FBE831-6182-43D5-BC7E-CDF93322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38375"/>
            <a:ext cx="2000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1C3D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26A86CB-6A3D-4C44-9382-D5D7E97E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38375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539C49-FDAA-4CE0-806A-9A8AFDEC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447925"/>
            <a:ext cx="158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DBA74"/>
                </a:solidFill>
              </a:defRPr>
            </a:pPr>
            <a:r>
              <a:rPr sz="3150" b="1">
                <a:solidFill>
                  <a:srgbClr val="FDBA74"/>
                </a:solidFill>
              </a:rPr>
              <a:t>PASS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063B35-7281-4FA2-A638-DA833DFC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1467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Lab1-Lab7 QEMU 验收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A1F599D-5F79-451F-ADA6-6012B07B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000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283A912-4E97-4898-A4C1-14156927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36576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[Lab1]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[Lab2]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[Lab3]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[Lab4]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[Lab5]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[Lab6] PASS</a:t>
            </a:r>
          </a:p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[Lab7] PASS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28DA10-68BD-4DC0-BD29-E0DE08C1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00550"/>
            <a:ext cx="5810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2C76FE-12FF-4C7C-9122-BA40D22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0055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D28C6B5-A8C9-418E-9037-AD1E088A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1485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提交材料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33CFF5-804F-4F29-8950-9EF9F348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800600"/>
            <a:ext cx="5391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DESIGN.md：设计方案与开发文档。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docs/final-report.md：报告备份。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docs/demo-script.md：演示脚本。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Lab1-Lab7：starter/solution 教学分支。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B7C0F9-969E-4FA4-A715-53BDCEF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77603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B367C4-957E-4B8F-A3C8-428555A6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F28DD-EE51-49AA-A365-8244466C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CDAF7-75AC-439D-9531-6B7DC5C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379C8-BCE1-4938-A379-E9CC6EB4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BA249-1031-4625-A6DF-F445AB96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6BE12-BCB9-4549-BFB3-258AC034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3AA5B-F58B-48C0-B244-CD909577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0AA84-A868-4A03-BEC7-9418DA4E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B726A-688E-4942-BBFD-348FCBC6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ED467-CB12-47A6-9AB1-409C80F9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29E6B-21FB-4ABC-A636-6AE1B5EF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84B15-AF66-413E-A840-843523D9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BB2E1-A1C8-440B-A6F9-AAFCAB86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D3040-F5B8-4B1A-A4A8-9FFFD1FB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0D5C4A-3F4E-448D-8414-AF09711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385A0-C561-4101-9819-587F2B60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5C680-DA65-4946-A1D4-A91931A7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2569D7-62BE-4FD6-974B-CF06CFC4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F38BDE-7739-4BE9-8538-B8BCA5B1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21C11-A7F9-4ED7-9483-9D11FFD6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65BC7-1B38-4546-AC77-0E10C046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9939B-A6BE-4885-82FD-E2B099EB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28190-2EDB-4DED-A640-0D326CE5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9E89F-B96A-4795-9EDE-80A8537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D7974-8373-4877-897E-57345B2A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E775AF-7375-4E80-AA3E-FF16981A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4A583C-5D51-44B3-961D-CC0D03E1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192F3D-F0FF-46DB-BDC4-0A688929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1FBF24-7534-4A74-885C-02DC7CAA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D76683-331D-47CE-B7CF-20B3CB7B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A2B236-F87A-4CF1-81D2-095E439C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教学设计方法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861B12-1C65-4D05-9340-72B98E82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每个实验都按“低门槛进入、分阶段验证、答案隔离”设计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F02FF3-EC72-4974-816A-EF12EB0B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面向普通本科生，不默认学生已经具备复杂内核开发经验。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35607C-AE6D-467A-B58A-34E59B46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5BECBD-1E5A-4610-95CD-3D958C28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30F797-8BDD-4688-B4E1-E05D921F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B771D0-8143-4AC5-B0EE-D02DDC74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431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9D5FF"/>
                </a:solidFill>
              </a:defRPr>
            </a:pPr>
            <a:r>
              <a:rPr sz="1875" b="1">
                <a:solidFill>
                  <a:srgbClr val="39D5FF"/>
                </a:solidFill>
              </a:rPr>
              <a:t>约 3 个任务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E43B77-5649-496E-8BE9-9106251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431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每个实验拆成 3 个由易到难的小任务，避免一次性跨越过大。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4BA94B-1EC4-4CBF-9B6F-340BAEBB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EA4F95-76DC-42AF-9592-2987F686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EBF1FD-5B03-4174-973C-2D3F36B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431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2C55E"/>
                </a:solidFill>
              </a:defRPr>
            </a:pPr>
            <a:r>
              <a:rPr sz="1875" b="1">
                <a:solidFill>
                  <a:srgbClr val="22C55E"/>
                </a:solidFill>
              </a:rPr>
              <a:t>每步可验证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EE8CD4-B74B-459A-A127-7293B8C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431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Stage 1/2/3 独立 PASS，学生完成一小步就能看到结果。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184715-A1F5-4B64-A5C5-F9E4BF8E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6145E4-FD0F-47C6-974E-DA4D41C5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1F78F5-3BC2-4C75-8B76-BA560891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DBA74"/>
                </a:solidFill>
              </a:defRPr>
            </a:pPr>
            <a:r>
              <a:rPr sz="1875" b="1">
                <a:solidFill>
                  <a:srgbClr val="FDBA74"/>
                </a:solidFill>
              </a:rPr>
              <a:t>分级提示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600348F-23B6-48F9-848D-1CA82288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100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HINTS 从概念方向到伪代码，不直接给可复制答案。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7B8916-F376-4605-8EDC-483B2302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FC0F35-AC69-4F5D-AFC6-EACFE954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10BA62-2E0F-48FC-B15D-5F822D94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210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78BFA"/>
                </a:solidFill>
              </a:defRPr>
            </a:pPr>
            <a:r>
              <a:rPr sz="1875" b="1">
                <a:solidFill>
                  <a:srgbClr val="A78BFA"/>
                </a:solidFill>
              </a:rPr>
              <a:t>答案隔离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362E019-CFC4-41B6-9141-E70687A0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starter 不含 SOLUTION，solution 才给参考实现和教师指南。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91DD57-511E-45D6-88B7-FEDB0048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534488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BB7894-B112-4D96-9B05-71D3664F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E6ED6-E49D-4949-B884-50847176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BE624-FA3E-478D-8B21-707AC02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C5AA3-E8D1-4961-AD74-02832E75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4E7E2-DEC6-407B-8B50-5C07141D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D73EC-C543-4CF8-8CDD-DC32E218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08F8-045E-44B6-A374-971D6E63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2A2-6D0D-4D56-BAAC-3AB9A717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8134E-0704-4AB1-9237-C1DC8ED0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4D867-F31A-4EED-B1EA-1357EE04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A80F8-579F-4E08-A4AD-E5E27742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14543-052A-4E30-99E3-C7352F18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E6D7F-F57E-4FB9-818E-F6753359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168BB-A6C1-44CA-B22F-6AD042F4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24293-CE5F-444C-9F17-EB63C3A1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872B7-5ED1-4584-84EA-9E132DB7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05CA4-EB85-4F91-97C5-E560AE8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5CE2A0-B2B6-404B-98A6-90D96B1B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F4743-4D2B-4830-9F7F-BB658A5C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6DD94E-B960-4CA3-8FAD-C740E382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ECEA2-12B2-4241-AA9F-177AD7F8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3CF43-3C18-4455-90DD-F4C7821E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5A7B12-92CF-4812-B9E0-5DF5A2CE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C35C0-67D4-40A9-95DD-54AEDC6A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0062A-884E-41F4-9B50-76ABC383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E9F2E-6650-4BFE-AE8C-F2308F2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DA891A-1B9A-4601-B01C-72746426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DAB4E4-6557-4A92-8508-2906FA56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CF1813-DB5E-4C02-ABF6-985272DA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980754-839E-4C6E-B893-AB6287E1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3194A2-22AD-4AE5-8E05-8F5AE649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系统总体架构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26B308-7CB2-4392-A38F-8E170A5A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 boot 到 fs 的教学内核路径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8EFE03-8DF1-4672-8482-E66D14DE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保留真实 OS 机制，但每一层都控制在本科教学可理解范围。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E50F87-0A5D-4BB3-AFCD-EF431DAA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B856CA-5B2E-4492-BB97-721AD514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47637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8F2403-6260-49E6-A685-8330EFAF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171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boot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2840BE-A0C1-4C9E-9F8C-AEB4A82A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62275"/>
            <a:ext cx="1171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_start / stack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DC5941-FF61-43A6-A3D8-EBC62943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90700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E340F1-7E7D-4C25-B0C8-74B84CC3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240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sbi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FB96A8-F29C-4B62-8B1A-646DC5DA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2885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console / reset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B75992-C4BD-4126-95C1-9D6B3180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38500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454E77-B2B9-4530-AB50-182288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718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console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950C43-0563-42A3-B626-652F889C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7665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日志输出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2AC395-8C6F-4CDD-8A12-3B758B47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24125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C1202B-F32A-4C53-96B9-DF39A4B4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657475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trap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2F1FB2-70F2-40EC-BFA3-4F6B6C3A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622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stvec / scause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578F07-3D8E-4B4B-80B2-81C36ED0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71450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90290A-0A20-4D10-BB2E-8211F456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8478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memory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9E109F-1B34-4C53-A55F-0F81841E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526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frame + Sv39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400D9A-B712-43E5-9856-2F49D7FE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37ECED-DFBF-4164-A6D4-578DAC74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478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task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256D6F4-B3A1-485D-860E-75B90901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yield + switch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8A8D4A-5F15-4AC5-A9E3-7EAE2C10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71475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E4C7F1-AA04-4F42-B17A-134DE283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481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user/syscall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20B5525-C52D-4122-A156-C0086966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529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U-mode + ecall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728845-A9CC-4F6D-AC98-B674D15B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1475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8B0BAD8-9BA8-4362-94A2-27B92F36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481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fs/drivers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049EE4-C1A1-4C49-9658-7F9BA2EF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529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SimpleFs + RAM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C38802-D249-49B0-9D24-CA6C8B38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14650"/>
            <a:ext cx="428625" cy="-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B3200E-A0B7-4714-8355-6CD45C66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14650"/>
            <a:ext cx="428625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C4A267-E9F0-4497-8D75-B878420B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38550"/>
            <a:ext cx="571500" cy="-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D28B3EB-F464-4510-873A-30F7AF0C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523875" cy="-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E4DFA0-C73D-4AEF-A6C7-48F1426F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0502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42D4F1C-4B56-40BA-A096-4A65CE34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523875" cy="1190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859FE7-B2FE-4A42-A3B4-BCCCCB12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052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9792724-CD82-42F8-8BA7-2FC6F2C2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933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661BBA1-90D9-467E-A6BF-83FD4BD5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23387FF-589C-4848-928F-7DF3BB29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0067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架构亮点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0DC6717-9669-4AEF-8B25-127BE0A1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86425"/>
            <a:ext cx="891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模块顺序与实验顺序一致，学生看到的代码结构和课程路线一致。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测试脚本贯穿所有模块，用稳定 marker 验证真实行为。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850FF80-6F6E-4A28-8F31-4B03261C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677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C7DE6A-2D5A-4779-A7D5-98CAD22C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A7A8C-D764-41D0-9AD8-E78AF331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DEF38-A3DF-41AD-A2EF-49EE72A7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2AADC-EFF0-408D-A29E-71B826A6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83D4A-AB1B-4C44-817B-137C4444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7FE50-7D0A-491B-85A4-BE18CF5C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7A898-FDFE-4956-8455-0752D4E0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8FE331-409B-4BE8-865B-BAD79FE7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F911F-A8C9-4A51-8682-24F2D097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F01B5-C78F-4333-A07F-FEB09260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35534-3FE0-4EA7-878F-56A1D483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4F04E-0FFC-4435-84EB-E3C582DA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1EBBF-D690-4E91-BB21-269B1E17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E1463-13AF-42CE-87A9-8A15AEF7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46F2E-40A8-4B34-9CD3-B0625EAE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7346E-96F8-4829-8C47-59CA970B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310B7-8DF8-43D0-BF51-8DF094B4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50D810-0AB6-4A17-B747-DB2B48A6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43C4B-59D5-45BC-9B40-B6D1CFEF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CF672-EFFC-4620-9FBA-3AE6DF53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06277-5CBF-49DB-ADD2-EBF240BE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8DBC0-9632-4732-9A4E-F225FFBC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1CC9E5-094A-4BAB-8AB6-9978AAAD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33E1BB-F544-44DA-89D5-85ADAE62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35C14-EDA9-4071-8F1C-03B2280C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86221-92EF-4863-B1C1-DAECF09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F14587-2B76-407C-99CE-4C3F2289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69CF3-CE7F-4429-9C3A-49C6B26A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EB80F8-F2D5-4E9C-8227-8C44F3B2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E191-3500-4342-9FA1-9E9FD2B4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8C4F0C-AD33-43D9-9250-0E1FC246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分支与教学材料架构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7AA262-AE0D-4307-A089-152A9779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学生、教师、评委各有入口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CD035A-054A-46A2-A5F1-17957FFC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Git 分支不只是版本管理，也承担教学组织和答案隔离。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B8AF2E-6ECF-48B3-A8A6-A9DB4370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92FB2-3AF2-4305-A1EB-DA57050B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2E33E4-F484-4B6E-8CDC-2731FBB4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B6F486-E18E-4217-A7E9-B7D59FFC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D5FF"/>
                </a:solidFill>
              </a:defRPr>
            </a:pPr>
            <a:r>
              <a:rPr sz="2250" b="1">
                <a:solidFill>
                  <a:srgbClr val="39D5FF"/>
                </a:solidFill>
              </a:rPr>
              <a:t>学生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2345B7-7DEC-4976-8C9D-7AA4529D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8A25AA-EC1D-4507-B993-3278258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labN-starter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0C7546-96E9-42FC-B196-0748C931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README / TASKS / HINTS / TESTING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C2A22D-3296-4D4D-AE2B-ACBACD8A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不包含参考答案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F7146C-B43A-4908-ADBE-B5F4D446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D89521-88F4-4DFE-ACF1-67AE7860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DB97A4-BA51-414B-92A7-01046EAD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2C55E"/>
                </a:solidFill>
              </a:defRPr>
            </a:pPr>
            <a:r>
              <a:rPr sz="2250" b="1">
                <a:solidFill>
                  <a:srgbClr val="22C55E"/>
                </a:solidFill>
              </a:rPr>
              <a:t>教师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B06840-688E-4991-BA83-B9AB1148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C61B2-A5B8-4F30-9C3B-46B22258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labN-solution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25DB39-7386-4B94-84B0-C8E0E14C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SOLUTION / TEACHER_GUIDE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311CC-D759-4F71-81B8-6C4609A4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包含参考实现与验收说明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37CB93-DD88-4708-965C-992D2DCC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265E18-8BF4-430C-9F43-12512FBF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82F022-19D4-4FDA-9B39-43F61098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评委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505835-8687-4CD2-8621-E0B881B6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C1561-7D67-42D2-9F00-F9AB4E7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main / lab7-solution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6E18737-1F1B-402E-9FE7-F9DFC90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DESIGN.md / demo-script /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10A806-0A33-45EC-BC02-1B7F8EFD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完整成果与提交材料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0563C3-30C8-4843-A666-C143E34D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AB8F70-154E-4BE6-924A-AA34C0B5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57192B-1029-4F52-A653-39C007F9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为什么这样设计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144A323-B126-4C0F-8A10-37E269CF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19750"/>
            <a:ext cx="853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starter 适合发布给学生，solution 适合教师讲解和评分，main 适合评委直接浏览最终成果。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1D446D7-C5B9-46E6-822C-1F8CB5F4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045518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DBB9B-0EEA-4046-8A96-4A6B8CE2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AB432-4A8C-422A-B62A-4AA0D55C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E8F1D-7573-4B9E-9829-B364BB2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1F643-3DB6-4413-AEC1-FB67DC71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507DB-0F18-4F25-9578-FF178307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12108-4B4C-4097-AB07-B8C17FA4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B3ACF-DDCB-4D27-9879-80485905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16735-9FE7-4A4F-AC04-D99994BC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0D72D-61F9-4869-A059-82F5507F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8DA5DA-47E8-4362-ACF7-DFCDE7F8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DB9DC-D027-4928-94F6-2C1782FB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B77DB-1118-42A2-8997-CDE50331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0F377-51AD-4019-915C-6CB2A46B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5E731-B6FC-4492-B96B-3358578C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60043-876E-4B65-91AB-F99FE693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B8BC0A-66D6-45D8-8C6A-9EF50277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5DC4D-9507-4B3E-BC5E-38784414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F1539-6F1F-4270-AC9A-281E14C9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82E2C-511E-4F68-BBE5-CC1CA7FC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2081E-AB44-43C3-995B-E36C6794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72B71C-0608-47AB-B57C-196F7F4A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EBAD0-8D28-4BBF-9907-F127AD00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18B26A-B3DB-4414-A449-5640A48B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EAF6F5-DAD7-4921-A117-7FB080C8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64B98D-0BBC-49AC-AC77-300E6520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2AD58-27C1-4520-BF75-7411729E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EF3CF4-9A30-4B1D-B8DE-7DAA3E7E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5238F5-5139-4606-8D4A-4F862A62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6A4B5A-1570-49C4-8682-D642E7A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3819B7-61E3-4E5D-90CE-1E78B6F1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FDF38-B145-4B2F-ADA2-F7C102DD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P0 与 Lab1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61A5C6-3998-43EC-81E9-56C47DED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从第一条启动日志进入内核世界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204BCA-3F28-492F-A550-EE39D9CE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先建立可运行基线，再让学生理解 boot、启动栈、SBI 输出和正常关机。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792A42-B853-4E78-9C5E-B2249977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8787FC-31D8-4C62-B783-0854DDCA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C65745-1A33-4C99-99DE-3BD14422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100984-E8B4-408E-89C6-33EB06C5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DD1FDC-C4E9-4E15-B5A8-2DFD4A97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P0 建立 Rust/RISC-V/QEMU 运行闭环。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Lab1 把启动流程变成可观察日志。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学生理解 _start、启动栈与 kernel_main。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70EA04-65C1-4409-879F-B69A0ED8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9EEFDE-3891-4939-9B6C-8275D732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boot.rs / sbi.rs / console.rs；不改测试脚本和链接脚本。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C91DB5-9BCE-48D0-A63F-A893BB37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593320-5DE0-4780-BDF3-45B07582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708ABF-5B54-4D95-83BD-0308210B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A9198-4BD8-440C-85E2-A0C01E1D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8954C0-DDA1-45CF-95B2-FE8683EA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理解内核启动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A91BF0-9282-48D0-A6A4-579A1A62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识别入口、启动栈和 Rust kernel_main，输出 Lab1-T1。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5F6B43-87C1-46A9-B74E-DB68B6C7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0B0B7A-F3A7-4A74-8B94-A3A42ADB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8BBD6F-DB5E-4C57-8FC9-53EFAA55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实现 SBI 输出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8080AA-BF58-4FB9-A66F-9B117E3D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完成字符/字符串输出接口，输出 Lab1-T2。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637130-0D91-48F4-AEF2-CCC6E026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6AFBD5-D0BD-4CEB-AA25-24D7F802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CBA62D-3F24-4F93-82E6-A1547271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启动日志与退出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AD5EF5-3C52-46C2-9C8B-2703B080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组织完整启动日志并通过 SBI reset 退出 QEMU。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D3816D-A9F0-491A-8637-B8CE56E4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7D8EE2-54AE-4234-BBDB-CA8C99B7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46EB620-927C-4AA7-9C3C-969B5689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6DB5D3-E97F-449D-9D1A-4C3F2C97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关键输出：`[Lab1-T1] PASS`、`[Lab1-T2] PASS`、`[Lab1]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亮点：第一节课就能看到真实内核在 QEMU 中启动和退出。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9F769C-7C0A-45DC-A0B7-36275E2A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7030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44109A-1A12-489D-9CAE-A3E19CF9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F6254-EDB8-464B-876D-847F87FD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FC857-D9D1-48BF-95AC-0D3F002F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0CC96-FB98-45AC-B561-437C0F2B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6E1A1-7ABE-4208-98EF-961DF95E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7F0C0-56C6-4123-B9AC-FC7E07AA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FF3A9-5C9D-4D20-9B00-85169323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9C130-6B41-441A-96B3-98F44B6F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3D301-CD80-43CC-A546-47B1B058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E262D-D60D-4114-A86B-25FFC2DD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819E4-9E7A-425B-AD78-2B07735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EF1A7-AE19-43E9-9FF3-B3481F03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6B6CCA-2951-4EB7-9EDE-A0238CCB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E98EF-C111-4B77-9BE8-391381BB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3D5AD-8747-4E21-9FB1-2A8D9DBA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61FA6F-270B-4838-9108-B205B203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E4D18-4FB3-4768-9A2B-55F3E030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07F42-371C-4E28-919E-2C125389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627F0-EF5C-4D7C-BDD1-F615FCBB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93D44-6CF4-46FF-9693-834441CD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D08A3-9FE4-4465-841E-CB183550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3FAA4-4BAC-4EB1-B0E7-DD43FEE3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BECC5-A1BB-4604-90F5-960BA163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FB467A-3B07-4C8F-BBFA-CABB9EEA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80BB0E-8E47-464F-B2A6-F2C58322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B4241A-19EA-410C-864F-345DEB7D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82BA82-ED1C-4F04-8842-FA6BC2E7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D22508-DD4C-4CF1-B68D-5AE7D75A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0B571-1243-4C65-B91F-6DCB992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A2EE1E-CDD1-4ADC-8C74-8264E4D9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96913D-88C6-4F69-83A0-CCB43B0E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E22B81-28B4-4D94-9BF2-F86D3ACC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Trap 与异常处理：让 CPU 异常变成可观察流程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F8D89C-5305-4D28-B466-FBF202D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Lab2 选择 breakpoint 作为低风险入口，讲清 stvec、scause、sepc 和 stval。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4015C7-A53E-4C12-ABE8-F5C92446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48A4CC-F79F-45AE-8CC6-C3ABE5DA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C555B0-DBBD-4B4D-BB39-D6BF3C9D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78076A-CF88-499A-9FBC-E95D2C28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4792F7-72B8-4B40-B0E9-313D1438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设置 stvec 指向 trap 入口。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读取 scause/sepc/stval 解释异常来源。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处理 breakpoint 后推进 sepc，避免重复异常。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279CB-97A4-455B-9D17-BEA81F2D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42E331-E611-43E1-AC9A-9CD1A025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trap.rs 与 trap 入口汇编；不引入内存管理、任务和系统调用。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611B19-EB05-4E48-9BC0-6690B07C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59BDF4-0253-41D7-A4E0-129E97E7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F44A81-DFFA-4648-8BC0-E6AB94EE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0DF2F9-7DA4-4F39-87E0-1C713008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5858FA-9FD1-40D0-B766-6AF07A12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配置 trap 入口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252353-C297-4CFC-9EA6-D43FB387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设置 stvec 并确认异常进入内核处理路径。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F9420D-6E63-4768-ACF0-803D3D83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62F64C-BE76-469A-9F5F-E592E140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AE7BB3-3345-492D-AEBE-94B1C5B8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解析异常寄存器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59B4F4-698E-4666-9319-BD4E161C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读取 scause、sepc、stval，识别 breakpoint。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1FE388-892C-411B-97C6-E4E737E6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5E88D2-F98C-4F8F-9AE4-08662AD0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EDA028-BA37-4AD7-B97F-290494A6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恢复执行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D08CF7-A72C-470A-9C02-125240D9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正确推进 sepc 并返回，输出最终 Lab2 PASS。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41F285-7453-464E-B582-B619C22C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322369-84C3-496B-A17B-422AE07B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6C463C-0384-4D4A-AD80-743B411E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09483A-0D67-48ED-8A8F-8CAE3F33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关键输出：`[Lab2-T1] PASS`、`[Lab2-T2] PASS`、`[Lab2]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难点：`sepc += 4` 是避免同一条 ebreak 反复触发的关键。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3BD6071-7840-4F57-AD46-88A5D309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447197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2C6D50-0FA5-4B43-B258-E5637B7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800E7-7D6B-4C2B-9946-F51FAE0C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165DD-B2AE-4660-8E8F-F94E7B0F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F3D2A-9072-46E9-98F4-94C33329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423D0-CBB9-46CD-A91B-75D5A79D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25F5E-A690-43DD-AADF-7D8541A7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FB372-8A13-411E-AD20-A916C24C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9BAEA-AF07-45BE-9F6B-B10C43ED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A850-6564-4E9F-8777-2D03F34C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83FEF-379D-49EA-B556-278C6CEE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6D0DB-E9DE-4637-8349-6397F7B1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BAFD7-444B-49AD-B406-A08852C8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17725-4A11-4E8B-A5BD-5890FBA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A574D-62F4-4B13-8D8D-8914042A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B62AE-FBF3-49DA-9BAC-55FAD8FF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3F8DCE-9935-4152-B896-083C7B8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E700D-161C-40EB-82A8-E3F62CED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D86CA-D7D2-46C4-BA3E-6DB1375A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096F0-A043-4521-A800-26A459D4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8169A-61E5-4087-B22B-8222BC74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1D07A-0C82-44E5-8F3D-573C9599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7F866-AABE-49C5-88DA-1C4F45F7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4FD85-1FB3-4699-B0E9-4C7CEB47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C14905-0C4D-41E0-BBDA-E2173DE1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DE6F6C-3863-467D-A222-FBAB8669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D64C2F-20FA-4BD9-9F64-EC22D0D9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720D5B-DF3E-4AD4-BE99-617A3E56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912700-BDB3-4E27-9574-B43E5F66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70D097-9392-4DF2-AAB8-C4347DAC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453AA2-6F9C-4643-B11F-14FA2782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E3622-3209-4B8D-9E45-4AE96E6F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36B33-8E5E-435C-B67E-1A1D2825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物理内存管理：从地址计算到页帧分配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B6352D-C601-46C7-A5A2-FD5F38A5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用 PhysAddr、PPN 和 FrameAllocator 讲清内核如何管理 4 KiB 物理页。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C56B4E-5C85-4EA5-87EE-7A535EC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744BE7-780E-4369-BAA2-24F7F453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A1D206-FCF5-456C-9D77-F49EC24B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A03C1C-477C-4750-8661-D93217C0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8670A8-933F-48AC-AEBF-BA612E22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PAGE_SIZE 固定为 4 KiB。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分配起点来自链接脚本 ekernel，避免覆盖内核镜像。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实现分配、释放、复用、非法释放和重复释放检测。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07A4FC-82BE-4A13-83CA-A9C32FFD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76C2D4-B64A-48F0-9B36-55E89FF3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memory/address.rs 与 frame_allocator.rs；不实现 Sv39 页表。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36E8F4-1D3A-4DD9-86AB-4C1A0803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563A70-3AAE-4424-9676-2BF409DC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01E6CA-E47C-4B87-B8F4-796044B3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2D90C0-B80A-4FF1-8495-94D6C0AC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B47690-591E-47DF-BA09-BE550F26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地址与页号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D38F4F-625D-4ED7-A3C9-BE312B67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 floor、ceil、page_offset 与地址/页号转换。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B83F9-1BF7-452D-AF7E-154DC656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373C5C-F12A-4B18-BD0F-524382FE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9C6657-538B-4C98-9F4A-E1327E2C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初始化与分配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E9D90F-404C-4BDB-B2CE-1093B25A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初始化可用物理页范围，实现基本 alloc。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2A3937-9B35-4314-B88F-41EFD5DD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F55132-C210-474F-BAB4-4C54333C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3E89A3-89FA-4561-9854-33C06A73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释放与错误检查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B67B60-D52A-4DE3-AB64-7069BF5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dealloc、回收复用、非法释放和重复释放检测。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42EAF7-0CC1-4172-9ED2-F7B4A37A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374396-333D-4F16-88EC-39817C16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A74FD8-BBC5-4F3C-84A0-BE2702BB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B37302B-F071-45FD-BDC5-BEFCDA5A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主机单测覆盖地址计算和分配器边界；QEMU 验证真实物理页分配。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亮点：学生能看到内核占用区不会被分配器覆盖。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4D9D706-CF4E-4E31-95B0-66B42D4C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47412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CC606-5A00-478A-A10B-0A9481DF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85741-6D30-469F-A936-9C403162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7F649-A02D-4CE6-BF98-0779C7CC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186AD-CD1E-4823-A597-9425FCB2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3AB99-C3A6-464B-A26B-684701C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BBFD3-B8BD-4868-9613-FB1473EE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11553-DCE7-4A5F-B8A6-3572EA0D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E2036-781C-4429-AB7F-AA5B6790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3E3AE-6121-4FDD-9AA0-FBA5B71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9B37A-D199-4966-A808-439EAB24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DB39D-7B42-4381-B54E-B7A30628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0D7E2-9CE2-4E91-952A-8B59A310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3AD96-BC96-4BE8-AB99-A7B77865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3FB1C-D29D-4AF9-9144-E674ABD2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DC6AF-EC2E-4AB4-99A5-B969B94E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6EC77-63DD-42E0-A988-C5919F97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BD5F0-FE28-45FA-A20A-9C4A1DE7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20F13-B60E-4EDF-802F-531B165D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BE21B-6EEC-470F-8BD8-448A727A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F27F5-C6AC-4C0B-A3EE-54886F11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06809-C0A6-4C17-B6E5-9A62F947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7ACB1-41AB-4890-B1CA-B9275AC3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E49D0B-66D7-42A4-8586-6AE7EE30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CD07F5-8645-44FB-8129-BECBA2AD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1CE831-EFE4-4215-81C4-8391A57B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5C11C1-CC77-41CB-889C-C6F0756D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3304E7-63A5-4CFF-A5D2-9D7CB808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87F1B5-5C12-4BDF-BF86-C907811A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B31F60-CC72-4CDB-A0E1-5B2B545F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66AB90-7971-4D51-8E6C-84BD4A53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99F6DE-1FEF-4A77-915E-D32C067B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A089D-E781-434A-874E-5D071798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Sv39 虚拟内存：把地址空间机制讲清楚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B5BC43-F58F-40D6-B473-5FF3E7D3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第一版采用恒等映射，降低高地址内核复杂度，把重点放在页表和权限。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97B5F3-1AA2-4F01-ADA2-5E9F17B7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810A2A-5247-4DEC-BA7D-75428512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B51DA9-6934-4A74-8F6B-7937F992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40D1B4-4AA0-489E-B6CB-7A8F69AE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2C2C3C-A123-4527-B337-9EFEEECC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VirtAddr/VPN 计算三级索引。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PTE 管理 PPN 与 V/R/W/X/U/A/D。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固定容量结构保存页表页所有权。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A95A86-0135-43AC-BE41-07D18EEB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455450-AFBB-473F-9CDD-F8E40B2D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virtual_address.rs / page_table.rs；不引入任务、用户态和文件系统。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0BA40F-AE2A-4D00-ABF1-66F42BC3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8A037A-D326-4629-855D-9C3F89F8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2343BB-E711-4C3E-BE92-32A2B052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8EBF78-9D50-4712-B4A8-8FB3BD30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77A916-5389-471C-9C59-9F8E5956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 PTE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76FE19-1507-4B6C-A52C-1E6B5AB7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实现虚拟地址转换、VPN 索引和 PTE 标志读取。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5771EB-AE9B-4187-860D-F86DBB4C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6D5097-E335-4531-9B67-0491ED12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7968FB-75FB-4915-9400-5B476581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页表操作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89578F-764C-490A-ADA7-CE91F6A1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find_pte_create、map、unmap、translate。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A0AE8C-7EE8-4F88-A9BA-993E69E2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C472A9-0F76-4068-89EA-101FB459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719F38-BD73-4723-9121-ADA4EFE2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启用分页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431AE25-8867-4630-B28B-9EB17125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建立内核恒等映射，写 satp 并执行 sfence.vma。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9A7C7FD-3DFF-485F-9242-991044F4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C64DEB-D009-474F-8BE1-96C027A5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AEFF5E7-8836-4D89-A069-E5372B82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46E17D-D681-40CF-B817-23B273E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关键输出：`page table built`、`satp activated`、`paging is active`、`[Lab4]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亮点：按段设置权限，不把全部内存简单设为 RWX。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A54BC9A-1092-42F0-90B0-F8CDB11D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608130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58C4ED-2315-4C1B-9F02-63310FC3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99422-A527-4D4E-A10E-0510EE34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2BD4B-96CE-40F6-8AFB-155FE9E8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E93F0-27CF-4989-9456-ADC08D0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28DAD-D6C8-4BBD-BAF6-89EF21EE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D62A5-5F68-4CF5-B2A7-A6710DB6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BD127-92AF-42E0-AF2D-824910FD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C45D8-4683-4768-8968-CB635BC4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F7B0C-D329-4C5D-A879-476D0F08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F631F-4017-4087-9E21-1AD63C0E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805DB-09F7-4A49-B03E-908C0479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6B689-70EC-42A8-BA3E-1DB8DE11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95535-926D-46CE-8285-10261804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78E26-041E-4671-8192-812499AC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90BEB-4F6D-40B9-A53B-F15D9A38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25A6B-D21E-4943-BAB3-A42E1FD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FF9B0-C75F-415C-9DB7-E79992E7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D2A9A7-2F0E-4FC0-97E2-CA0FCD4A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AF008-F7C9-45F9-B7CB-54D67F59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F3833-E445-45A4-99D4-12CFB58D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16D76-9577-4DD2-9757-6597246F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0E800-2AC0-40C1-89B0-EEF1ECAE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D7D81-1658-4D1A-A51E-E8DA5CA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DEE731-59A7-4430-AA0C-30F3A577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03558E-062B-4452-9523-F1F201EA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5E057-1CC4-481F-AA6C-3E7CBCF3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E443B-D0D5-4F4F-8905-9B76B414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3530D7-9145-4B6F-B62A-CA977378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92CEB-3E36-482A-B8A6-4BCB4EA6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2AFF64-1820-4E26-AB7D-F99C922E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3D711F-58C8-486B-8364-E69BBDED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7DA4F-6592-423D-B6A4-A3317A7D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协作式调度：先理解上下文切换，再谈复杂调度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54A3AA-F020-4AB6-9A70-C30FA65D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只做单核、内核态、主动 yield 的 round-robin，难度控制在中等。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62068-F6BC-4284-A981-EADC7834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ECA004-9C22-47B0-A97E-878F45F4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D4F683-70C0-4559-B88C-1F3206E1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06167E-473C-40F5-803D-4725303D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5F71A8-01F2-4ED9-B579-A8A40590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TaskContext 保存 ra/sp/s0..s11。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 MAX_TASKS=4，每个任务栈 16 KiB。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状态机只保留 Ready、Running、Exited。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5A56AA-BD12-4EB9-B50D-7BD9B854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5FF7F5-161C-48C7-A6B4-01D72898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task/mod.rs 与 task/switch.S；不做抢占、多核、用户态任务和优先级。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73E2EC-0732-4920-B56E-81E6B63F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ED3032-D8DF-4BFC-8125-CF5FD2B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FE1A85-4FAB-4925-9EB3-F1361277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A7BF5D-9717-4495-A558-AA1890BA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91C03C-FAA4-41F6-AF47-56CE466F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任务抽象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69F682-5216-439F-A6E0-2EB012DB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TaskContext::goto、TCB、任务栈和 add_task。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6A62FC-A8CD-4A94-AD0B-CFE718B5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C4B2B40-CABC-4CBD-8040-CC04D757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6531E9E-3E01-424E-9C97-0BB87650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轮转调度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A8B030-3E57-4190-9C59-ACF1ADF9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fetch_next、yield_now、schedule 的状态转换。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80E004-5F3A-444C-A97B-34222D21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98DA3A-B7F5-43FB-8A26-5153CFBE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3BBF82-82E5-4FF4-A12C-DFB94CA6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上下文切换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393683D-76AF-4086-9EE8-BAF7A779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__switch，让多个内核任务交替输出。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21852E-ED44-4D14-A8B6-4E36FEFF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F3396F1-842D-4548-8E09-F57A1E41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7FE4F57-2367-4C4C-B0A5-6569BA9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41AD2C-66F6-4DE6-88AE-69557FD9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关键输出：任务交替执行、`[Lab5] scheduler finished`、`[Lab5]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亮点：汇编只保存 callee-saved 寄存器，贴合 RISC-V 调用约定。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CE2E0E-A42F-4036-B2EA-C30A55B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65026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D2D05D-F486-4038-A974-CE9E7E8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0E975-2939-4023-83FC-DABF352F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01625-7A86-41A6-8E69-865FEE0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D6E82-BEAD-44B3-8A3F-D66D3D60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93D61-A56F-4533-ABE8-73D6B41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4DE5E-3E56-4554-941F-93392836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01FB6-2BA8-4AB6-B1A0-8D884FC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C16F3-8902-4F4F-95F0-F78CC885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84389-7992-463D-84BA-E5EF87CC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02B8E-37BE-4D17-9DB1-0FA508D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3DAB3-3AEF-47C0-87CC-9B811A1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03714-A094-473C-81FE-BEE92704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2C039-4026-45A3-912D-E75B9D88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52908-6AD2-49DD-BE70-42EFF390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8970FC-834C-4499-B188-B88917D5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FF33A9-7289-41EA-A8EC-9E7C03FB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1A4F0-6B0E-4F7A-88A7-59CC83DD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56DD2-5721-4DED-9F7A-F47C22F1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C3115-317A-4C70-8BB3-2C37739D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26963-B30A-43C7-9C92-6C3DC98C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6E2E5-D45D-4EAE-80CE-F7404249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CD1F5-2DC3-4E59-8FB9-DF945868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14E2DD-6C95-469A-8569-DDEB019B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ED2207-E026-4ABC-A479-19D2736F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04C52-F88C-4640-98D7-9CDB1F3C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D2EE98-6363-410B-A3F0-A9A955D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7254B-4FE2-4302-95F0-3D4DA818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71564-FB3F-456C-A913-1FFC326A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59602E-B2C6-45A5-891F-6021F81A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DA566-80DA-4153-BDF5-850C9212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8F3C8-2AB3-4DFC-B0DA-12F7717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C10E0B-43E9-40E1-8460-325B2D75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用户态与系统调用：打通 U-mode 到 S-mode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8843B0-26BD-4597-AC8F-0A8F2812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运行一个内置用户程序，最小实现 write 与 exit，避免 ELF 和多进程复杂度。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240705-300C-4D60-B4E5-8EAE6C84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9FDE9F-68D6-4C16-9E6C-5FF39262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584C95-7620-42C2-83FC-8719E72A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CBC1E9-DA41-4E45-B7CC-329D9032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5EB25D-F838-413E-8949-13872CD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UserContext 设置 sepc、用户栈和 sstatus。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通过 sret 进入 U-mode。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ecall 读取 a7 与 a0..a5，分发 syscall。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612142-3276-4489-9AD5-53C23410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D38E5B-6C5D-4A90-9BF7-05FB02A5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user.rs / syscall.rs / trap.rs；不实现 ELF 加载、多进程和复杂用户指针校验。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C3A410-AD87-4CE7-AA66-4811D081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750810-9B93-4113-89C6-F3821B34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A3DB24-BBF6-42AC-B207-3A4158AB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FE595A-0C71-4D2D-919B-A7BEFA16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AC7174-9945-4F14-9149-30B22FD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用户上下文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7F71FE-B700-48BC-B794-04EBF511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准备入口地址、用户栈和 sstatus.SPP/SPIE。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CD8561-6BCD-415E-935C-06D130BA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185456-E43B-485F-9D07-2B5B98F6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5F53DD-602A-42FC-AD3E-10D4D0AE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系统调用 ABI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958D77-AA60-42D9-AA45-B5CF29F0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定义 write/yield/exit 编号、参数和返回值约定。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A95F64-7DB0-4D75-839B-4CA8EB08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A0D18C5-931D-4CEC-A048-9F3C664A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65D1FE-0703-4B75-B392-25FB3EE6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用户程序验收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130737-A895-4051-859C-30D08E92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用户程序触发 write 和 exit，内核处理后返回结果。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A3681BB-15F6-4DBF-80F7-50EEE216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8A4854D-31F2-4F10-9C50-E393E7CC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2F67052-4AF7-4ADD-B340-D097FEB0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C53769D-B7DA-44C6-832E-7447B833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关键输出：`user program: hello`、`syscall write handled`、`syscall exit handled`、`[Lab6]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亮点：用最小路径让学生理解用户态不是黑盒。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3FC44E8-F511-497C-9FEA-E14B5FDF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333025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755C6F-1DE8-4B4A-9B78-205E8BEA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53C1F-4882-459D-9019-C5CA355D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690D-BEDF-4317-B493-CA357A51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4E96E-6663-4860-9286-DEBB181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17DBB-D726-41AC-A8C1-446EC197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06CDE-2C47-443B-9EF7-45D9EEB8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3BF428-54AE-4D49-B7C5-308F29BC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441E9-746F-41B7-92A5-5A16EA5F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68F82-44D6-4F5C-A102-D1B2C922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070F9-16AA-4044-81A9-9F273FBB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BBC68-35E5-4926-A18F-F9FB2B15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C886B-6497-44A6-8D05-5EFFA2B5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72006-9E5B-4686-AAD0-AA241E47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6F742-C0BF-42CB-914B-EBE5559C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FE2680-C37C-420B-96F2-B7CD2DE9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08323-F20D-49E7-93AB-81D000C0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6FD9C-49D0-4EA9-A7B3-EEFE5D8E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CF7A7-0DDF-4E9F-A394-59DBAA81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DCE52-B00F-43A3-A3DD-2C471025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4B6D7E-44B0-4E82-873D-F9A55988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345FD2-C8E6-424C-BCD9-0442CCDB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F49A07-512F-493B-9D65-9A9B1DE5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093A49-1840-487D-BBF2-8CBED354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F1358-69BB-4B57-B102-E03F99BE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277F39-442B-454E-B888-2077FE05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24FC46-56B1-4956-9F50-65461F83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BEE892-2700-40C4-AB8A-19F3B956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B83455-8B71-42AA-B868-6BE2DD6F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C6FD74-0840-4E1D-B8D7-18C73E66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B2C1D4-D1B5-4D39-851E-3B388BD2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28E882-89D2-4BED-874A-735D253F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AB3D49-FB75-41E9-8CF7-2F85926F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设备与简化文件系统：形成最小 OS 服务闭环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09E227-AD24-4165-9B89-DF508755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以 RAM 字节设备和 SimpleFs 讲清文件描述符、偏移和 read/write 调用链。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02EC99-CB8D-4682-B837-BAC06161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981B27-3663-4C3C-95E5-4D9F0B5D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EA8B80-A586-46AC-B8A5-CC1B644D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33EAF9-CE93-483E-9589-DC1E0C32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ADF96D-AF2F-45EA-80AA-B18C67F6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RamDevice 提供 read_at/write_at。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SimpleFs 管理固定容量文件表和 fd 表。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用户程序通过 open/read/write/close 完成文件 I/O。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59B0B3-A6DE-4C13-B722-D5A5B9E9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3EBE82-17C4-41BF-8129-0BABB33C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drivers/mod.rs、fs/mod.rs、syscall.rs；不实现真实磁盘、复杂路径和 virtio-block。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31AFA8-466A-47A7-B4FE-FE89350B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F8C819-1D60-4C9C-A89E-EA60A9A4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83EBBE-4673-48EC-B752-A1471AC2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552523-D62A-437A-AD8A-7C323A3B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DB2464-BAA8-4696-BC09-8922D6C0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RAM 字节设备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8CE99B-B6FB-44E1-B596-C23251A7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实现读写和越界检查。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C88B13-2EE1-4CF9-8D26-A22BA2E9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7E1826-8EC9-49B3-87AB-AE5CBEA4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25A11B-0C67-4EE6-8017-E7E5E525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SimpleFs 与 fd 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BC8F49-1572-4F7F-927E-1BA9F3D5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open/read/write/close、偏移更新和错误 fd。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984215-DA69-4B8A-BDDF-59CBF3F6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FAA46F-4739-495E-BCCB-7FFF5586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1EA5D5-B448-44DD-95FA-36ECC91D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用户态文件 I/O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D6C388-45DD-44EC-B03B-2DEE4C6A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扩展 syscall，用户程序完成写入和读取验证。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9C5C8D-2AA5-459E-97AE-153C3668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4F41DA-F02D-4FF8-A785-0562276C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0779EF-0308-42CB-B8A6-6A831800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2A87EC-9887-4CBB-BB53-EC8342F2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关键输出：`[Lab7] file opened`、`[Lab7] write/read verified`、`[Lab7] PASS`。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亮点：用最小设备抽象讲清从用户调用到设备读写的闭环。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56451F1-C87C-4970-8B5B-EC18D5C7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027058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5ED113-7ADE-4241-A882-AFACA6FA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A8A0E-54EC-487E-812C-8752079B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DAEE0-FDBA-44F4-8AE3-F8301B31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BC2F5-E855-4951-97D8-F2453A99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8830E-EEA0-4181-B3E3-5BCC1DF5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8354A-C82D-4325-A5AD-E3D74D3E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367FF-9EE2-4AA3-9EEC-CF18720C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35FF1-21AF-4808-88FC-46E37E5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771A2-82F2-429B-A3CE-E2C4408B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72A4A-055A-4A66-AEEB-40D1FA8E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50342-607E-481D-8F0A-5C53AD09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F429F-EEFD-4367-8C69-5791EAD9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B8B00-9D51-42F4-9263-331005D7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CF2C5-145A-40D2-8626-DE99FD3C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F66ED-D48C-45DE-B633-CF21512E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61F38-F0C7-43ED-896F-DA19427B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67E1C-34D5-49DD-AC41-B0AECD4F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6213A-F8DE-42D4-ACB2-90E3F5C4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22832-D6E7-4DED-B4C9-F81C0357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51647-2FD0-4C1F-8D61-A1573C1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523CC-4828-4D32-A712-A05173DF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C22091-1EE6-466D-A537-F1E39E5E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12AC6D-AAF9-4250-A5B7-F8FC3F3D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CC9721-2AE2-41AC-B383-2D87413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E2F8CF-3F23-4D34-B8B7-AF6AB568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D32180-8EB8-46BA-937B-5E8C51B5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E83F98-94B8-43F4-99E9-9F9DC40C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201B8A-E048-422B-923B-338402AF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E1F7E3-8B1A-46D9-A1E5-7B947E4D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337A26-DC52-49C1-B061-A2051EC3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A76BF7-CA9E-44D9-9254-837CFC97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创新性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EBD1E6-3652-4098-B78D-D870B586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把 OS 实验变成可交付的教学闭环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A8A62D-912E-4B9F-B0B7-11C09341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AI 协作、教学分支、分级提示和阶段测试共同服务于教学可用性。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D7E7E3-335D-4E04-A16D-0DEC2E69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D30FED-CA6D-4A42-8195-A10B9C47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248C59-F282-433C-A385-D0B9017F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345E9-FC6D-461B-A0BA-333E023B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D5FF"/>
                </a:solidFill>
              </a:defRPr>
            </a:pPr>
            <a:r>
              <a:rPr sz="1800" b="1">
                <a:solidFill>
                  <a:srgbClr val="39D5FF"/>
                </a:solidFill>
              </a:rPr>
              <a:t>AI 协作流程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A56941-2FB3-4288-8B75-B0962D8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AI 参与赛题拆解、路线设计、代码草稿、测试定位和文档整理；关键取舍由人工确认。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D2DB47-0A11-4902-8A0F-A9F09061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8BBFF3-3D14-4FB5-BC9F-D697572B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3F46E3-EAE9-4A5F-A7BC-ADC4D2EF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C55E"/>
                </a:solidFill>
              </a:defRPr>
            </a:pPr>
            <a:r>
              <a:rPr sz="1800" b="1">
                <a:solidFill>
                  <a:srgbClr val="22C55E"/>
                </a:solidFill>
              </a:rPr>
              <a:t>教学分支隔离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DB2457-B187-4D98-82A9-549DC720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76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学生分支不泄露答案，教师分支提供参考实现和验收指南。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B30A0D-36DD-47A3-992E-006587EC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170FF2-1ED0-4A13-B39E-37C85311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BBC29-0DC8-485A-9EE2-1BB62AAC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DBA74"/>
                </a:solidFill>
              </a:defRPr>
            </a:pPr>
            <a:r>
              <a:rPr sz="1800" b="1">
                <a:solidFill>
                  <a:srgbClr val="FDBA74"/>
                </a:solidFill>
              </a:rPr>
              <a:t>三段式任务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5EB8F0-CB4C-4144-9A0B-17E4FDEB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101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每个实验约 3 个任务，完成一小步即可运行阶段测试。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81B9F7-14B2-4EF7-9212-39B822E7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048247-6C19-4E3B-A8A4-77AB90C7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7AC5F9-1ED9-4D25-BAB3-93E9BFEC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10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8BFA"/>
                </a:solidFill>
              </a:defRPr>
            </a:pPr>
            <a:r>
              <a:rPr sz="1800" b="1">
                <a:solidFill>
                  <a:srgbClr val="A78BFA"/>
                </a:solidFill>
              </a:rPr>
              <a:t>PASS marker 验收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157E7D-A0D5-457A-820C-62110764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每个阶段用稳定输出证明真实行为，避免只看进程是否启动。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376A4A-FA61-4D37-9893-3B425AEA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240227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95BAEB-8EF4-4C6B-8D25-92E0C528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95DDD-EBBA-4DD8-8850-A8455DE8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D0CF0-FD25-4E14-B694-64D9A85C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3AFAD9-6177-4D1A-92F3-34036BC5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97132-978A-4AA7-8630-30A9C105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2023BB-7830-41A9-9414-F15A8F38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59C96-3FDE-464D-B3FB-727DC5E1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FE357-CB1E-421F-A9B7-FFF69D89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BB836-F9EC-415A-9755-EE515547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65A56-805E-48A1-ABC7-477F059B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00EFFA-C433-43ED-9DF9-F7D5F8B8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027C9-7183-4C7B-A383-751F31E4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A0DFAD-32D5-4140-B398-9A49BBEE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948AE9-9318-437A-864F-69F714E3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AA82E-31B9-4B44-9922-D4989527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7EC71-F1E5-4C40-880F-4D06DDDA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A2151-2BA1-4EAE-9B86-24BE8F6A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AD8DBC-E5CA-4070-9547-85337E58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18A75-48BA-4A60-9EB3-93ADCC49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9A09E-081F-42FE-8CEB-E6E4C211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5196F-B1D8-41C3-8589-14AE2CD3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425B27-778A-4F80-A7F7-45C79388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101D86-E8F4-4913-850D-3F0CDED9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2A7E8B-F6ED-4537-AB0A-9DCB1FAA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BE1124-ECF7-4D07-9AF9-74909793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BC09EE-8791-4F05-B12F-A064F35D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C222C4-EF6D-4853-9D98-4CE81A4C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3B0355-E486-441B-AB3B-CEDC1B43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0DF1-3523-423B-8134-FE7F9407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52D937-8E2B-4426-98CB-85972C6C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A2D564-1F92-4675-B2E8-CBBFF231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难点与解决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3984D8-9EB4-4545-B5F0-41540A67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每个风险都落到实现边界和测试证据上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94D71D-419F-46D4-8037-F343DC55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我们把容易失控的内核问题改造成可讲、可测、可回退的教学任务。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76FF09-B419-42E3-949F-5430EA8D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756224-AE9E-49D6-90D9-11CF2511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43125"/>
            <a:ext cx="10382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1B8427-167A-4506-8746-4F97A6D2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43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9900C6-A438-4095-B2F9-E0688BEB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764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QEMU/OpenSBI 环境差异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87AC7-83CD-4C10-AF6E-464B66A6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860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提供 check-env 与 run/test 脚本，缺依赖时明确报错，不伪造通过。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FD3585-AB1F-4E35-ADA6-AE98E740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86075"/>
            <a:ext cx="10382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AB99AA-32CA-4ADA-A876-4AD10636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860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079600-4B18-42DF-BA6D-2A2BE4D2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19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DBA74"/>
                </a:solidFill>
              </a:defRPr>
            </a:pPr>
            <a:r>
              <a:rPr sz="1500" b="1">
                <a:solidFill>
                  <a:srgbClr val="FDBA74"/>
                </a:solidFill>
              </a:rPr>
              <a:t>Trap 返回易重复异常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576A97-FD64-4FE5-B0F1-3F2AA0B0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2895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Lab2 明确推进 sepc，使用 breakpoint 作为低风险教学入口。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7C02BC-538B-4C5D-A76E-70EE274B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29025"/>
            <a:ext cx="10382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80A12E-A42B-4F7E-9C43-EE5748E1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290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174CFC-E800-4197-A069-B48A4C4F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62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内存边界易覆盖内核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72955B-1C49-4D84-843C-0EA83FC5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719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Lab3 从 ekernel 之后分配，Lab4 按段设置权限。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8EFD6D-25D2-4139-8149-E3D856A6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0382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21ACAD-249C-4E2A-9C03-122D819F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147432-F229-4D80-8F8E-4E812DCF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05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78BFA"/>
                </a:solidFill>
              </a:defRPr>
            </a:pPr>
            <a:r>
              <a:rPr sz="1500" b="1">
                <a:solidFill>
                  <a:srgbClr val="A78BFA"/>
                </a:solidFill>
              </a:rPr>
              <a:t>分页启用后易卡死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88B271-7501-4B7F-85B8-815E9C30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1485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第一版采用恒等映射，保证写 satp 后当前代码和栈仍可访问。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831925-A6C9-4989-BDA7-4F3FCD33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14925"/>
            <a:ext cx="10382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BA00109-5251-4529-8B26-EE6AA0CD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149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D92897-4604-422D-9ED5-C82B5C4B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starter 泄露答案风险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2EBB5D-04DE-4184-AD32-ED1623A2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578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9BAD0"/>
                </a:solidFill>
              </a:defRPr>
            </a:pPr>
            <a:r>
              <a:rPr sz="1200" b="0">
                <a:solidFill>
                  <a:srgbClr val="A9BAD0"/>
                </a:solidFill>
              </a:rPr>
              <a:t>引入 -ExpectIncomplete，要求能启动但不能出现最终 PASS。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A7F990A-122B-41CA-8DCE-616E069C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471811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A5FE59-E2F4-4EBA-B5F7-03E5A3EA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E8F6-2CF7-4640-BFA2-85B8EF8F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BBA53-68CC-4F7D-B917-C731494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D836E-25F8-4C00-AEE1-80B6602B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36901-ADE7-42F4-B1C1-5C6AD310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19CE2-FD76-4A7F-814F-05C8E1D2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CB8349-968A-45BB-8E12-383B97EF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5A8D9-0BF0-4C3D-9204-81A63F50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FD4B8-12E1-4892-9592-86204C70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EA881-463D-4BE4-9AAF-A968174E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2E343-6329-447B-B984-B8ABDF03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DC25C6-0371-4B7F-9E47-2F55AF91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ED8C1-457B-4F8B-92D4-4908C6E4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7787E-0ED7-4E73-B67C-063E1E01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E87C4-1A2B-44B0-90A8-2D5AD8D5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C3701-9B39-4E82-AA75-2C6C6E3B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07E132-835E-485F-AB0F-F75245C4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3961F9-6058-40E0-845E-AEC75A57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D863FC-EF76-4F22-85C1-5EAC93A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6A9208-E375-45BC-8E7E-958C1924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C52AE-0F30-448D-BE3A-CF4FEAE4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1FAC3-91AC-4C5E-B312-6B96E6ED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3F9178-746C-4F10-A4B1-ED5BC482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3FEEA2-5A2F-446B-9D61-E4846411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90948D-FC59-4067-A0B0-7E5EA00B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E4A02D-FC78-4CC5-96B5-01FC5AF3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F392E4-D5EA-4A4B-8CE3-C267CFFA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C68DCE-AF0D-45C3-86C7-1E301A4B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CEA4D8-B4F3-47FA-B9C9-C300D66E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A08AC5-59E2-4F74-B3B3-D49A53A0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81E723-97EE-4B9F-BE78-06CB624F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测试闭环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5ADDB1-0A07-4602-8831-A12A7E1A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不是“能启动”，而是能被重复验收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ADA80D-A753-4659-82D6-3635108D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fmt、build、clippy、unit、QEMU、Stage 与 starter 检查共同构成闭环。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58581C-E359-40F1-9936-9BD3665F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2D1BB-C92D-4D0E-BFC7-F2238B7D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95475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5B535F-D7CB-4621-8F70-F7970DE1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95475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2C1CF0-FF1A-482C-AB83-D9F01007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859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fmt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3762AB-D93E-4073-8787-A95591B7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479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格式检查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E5FBAE-F793-4461-A16D-48DAF33B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0510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143927-D73C-48C4-B63A-BE505B9F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051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25E96D-C538-4376-81BF-C6925B49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956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build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8ED11F-F3C0-4407-BD91-69150B63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575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交叉编译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934904-509B-4487-9BF7-9FFE99F0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243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8970DE-6E65-413A-9580-227446F3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24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580D2F-1144-4DE3-899D-14B6A0E9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148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DBA74"/>
                </a:solidFill>
              </a:defRPr>
            </a:pPr>
            <a:r>
              <a:rPr sz="2100" b="1">
                <a:solidFill>
                  <a:srgbClr val="FDBA74"/>
                </a:solidFill>
              </a:rPr>
              <a:t>clippy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FF9D40-201C-46E5-B797-B592F7FB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768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静态检查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0A5ADB-2446-4C1F-AC53-E47B3710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243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0A70E9-0DA5-4EB0-90D1-B47BD9D9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24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EBD626-2279-4276-A636-10B7068F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148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unit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84CB1C4-FEB3-497A-9ACD-9C219E44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768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主机单测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7B4569-07BF-49FE-96EC-20B3C898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A7F2DB-7D01-47B6-B5A4-286691E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60BD5D-C678-46D8-A7A9-852BE18F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956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QEMU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32C0B9-506E-43F1-B49B-CE46ABBE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575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系统验收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DAE2AD-5C0F-46FA-91B3-FF72EF69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3625"/>
            <a:ext cx="2286000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FDD0F1-0F8C-4BDD-8600-755ED58C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-57150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A0854D-4997-4015-814C-F42C1B1C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62500"/>
            <a:ext cx="-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C6C161B-87B4-4DC0-AA90-192452E9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62500"/>
            <a:ext cx="-571500" cy="-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D9FAF8-19E6-47B1-A572-A7171D9D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43250"/>
            <a:ext cx="2286000" cy="-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721DBAB-B0FB-4AB1-85DD-6AF4CA1F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38450"/>
            <a:ext cx="1752600" cy="1752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A2E"/>
          </a:solidFill>
          <a:ln xmlns:a="http://schemas.openxmlformats.org/drawingml/2006/main" w="19050">
            <a:solidFill>
              <a:srgbClr val="F9731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7664060-256D-45D4-8093-39DD14D7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86125"/>
            <a:ext cx="1257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PASS</a:t>
            </a:r>
          </a:p>
          <a:p xmlns:a="http://schemas.openxmlformats.org/drawingml/2006/main">
            <a:pPr algn="ctr"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marker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79B33D-95BD-4B7F-944E-741A07DA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81625"/>
            <a:ext cx="4572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D5A7AC-05F2-4C40-A780-B1025F86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4229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9D5FF"/>
                </a:solidFill>
              </a:defRPr>
            </a:pPr>
            <a:r>
              <a:rPr sz="1125" b="0">
                <a:solidFill>
                  <a:srgbClr val="39D5FF"/>
                </a:solidFill>
              </a:rPr>
              <a:t>solution: [LabN] PASS</a:t>
            </a:r>
          </a:p>
          <a:p xmlns:a="http://schemas.openxmlformats.org/drawingml/2006/main">
            <a:pPr algn="l">
              <a:defRPr sz="1125" b="0">
                <a:solidFill>
                  <a:srgbClr val="39D5FF"/>
                </a:solidFill>
              </a:defRPr>
            </a:pPr>
            <a:r>
              <a:rPr sz="1125" b="0">
                <a:solidFill>
                  <a:srgbClr val="39D5FF"/>
                </a:solidFill>
              </a:rPr>
              <a:t>starter: TODO + no PASS</a:t>
            </a:r>
          </a:p>
          <a:p xmlns:a="http://schemas.openxmlformats.org/drawingml/2006/main">
            <a:pPr algn="l">
              <a:defRPr sz="1125" b="0">
                <a:solidFill>
                  <a:srgbClr val="39D5FF"/>
                </a:solidFill>
              </a:defRPr>
            </a:pPr>
            <a:r>
              <a:rPr sz="1125" b="0">
                <a:solidFill>
                  <a:srgbClr val="39D5FF"/>
                </a:solidFill>
              </a:rPr>
              <a:t>host test: 46 passed; 0 failed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0112369-9371-461A-B272-FCDF00F2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39052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9F50A7-DC01-43F5-833C-6F593AAD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C8689CD-7707-47CE-8150-EC087DF6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9592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验收策略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900F576-5BBE-4CAB-9272-BACDE2C0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781675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Solution 默认模式必须看到对应 PASS。</a:t>
            </a:r>
          </a:p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Starter 使用 -ExpectIncomplete，防止提前泄露答案。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C49227-5576-49CC-9538-B8EFA441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371626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D6466C-812C-48B5-8383-D8E33680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7B05D-AEE8-44A3-B5F9-D7D318F2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C0943-D1AA-45E5-8092-D610BB4A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173BB-22D8-4A16-94F1-135D1D62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35CD4-A178-4234-AD11-BB661088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4540E-F38A-45F8-800D-09091AB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4E72F-C205-432E-9706-2FBF8002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5587E2-FC09-4F7E-857F-FE0FFCC2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98C45-2B6D-4A24-ACAA-E477ED6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93319-D44A-484D-80FE-6A4D2563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23584-E614-410A-A867-9233647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195D3-7E2A-4905-B01F-2228AA33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BD80BF-8E7B-43FE-829D-7DE6C93C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36544-3556-4E44-9D21-C603F8CA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D7C12-FCF9-47F5-9B99-CB149FEF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93FF7B-8BB1-4541-B24F-18BB78DC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14FBA-0513-49C5-B036-31382069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5EAD7-0F3F-4F63-89A7-54D5F476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FEBF2-C474-43E9-B810-8167341F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52E4E-D4C0-4FB6-8475-64959D74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77A7B6-A789-41F8-B505-DCF6D4EF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E47B9-861B-43FC-9E10-63D1958C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BED14B-3773-427F-A8B7-04D90A4C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E12510-88AB-4C55-B249-19C9F5A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8EF093-B848-4D40-8DAF-5877D89D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66E84A-A024-4015-BB0C-609E7C8D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61DC7-97DD-4C3E-8408-897E6460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F9DD2D-A824-4481-A22C-B365F7D7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5F02D3-6E40-47B4-B2C7-E04DADF8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B8F918-BEE5-44D7-BCCA-D71C0E81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2ACC7D-EBF1-4039-BFE1-7FC5909E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对比与边界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2EA556-F6F7-44F8-BF44-D7955ED9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我们借鉴教学思想，但交付的是自有教学仓库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2803F4-B9B7-41F7-8FB4-5B5FD8B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明确边界可以避免把教学版 OS 误解为工业级完整系统。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D0AF50-D25A-489E-8715-104E90A9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BB4B0E-0889-44F1-93D4-2253D534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7625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8DD5A6-EB99-4A4F-B084-F0555102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EB875B-2D4B-471A-B716-8BB44C97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71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相对普通 OS 作业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1B9146-3E8E-428F-80EA-7DB923D6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90875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不只提交一份最终代码。</a:t>
            </a:r>
          </a:p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每个实验有 starter、提示、测试和教师指南。</a:t>
            </a:r>
          </a:p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学生可以按阶段验证，不必一次写完整内核。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A050D7-1BAB-4FA5-BCF3-95903DCB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47625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F7BADD-0AF7-44FD-9E72-185E8B38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41AB9B-6DFD-46FD-8C04-28744073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DBA74"/>
                </a:solidFill>
              </a:defRPr>
            </a:pPr>
            <a:r>
              <a:rPr sz="2100" b="1">
                <a:solidFill>
                  <a:srgbClr val="FDBA74"/>
                </a:solidFill>
              </a:rPr>
              <a:t>教学版边界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545CE7-5159-46B4-B3A5-F051E142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不实现 virtio-block、ELF、多进程、复杂路径解析。</a:t>
            </a:r>
          </a:p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不声称 POSIX 兼容或工业级硬件支持。</a:t>
            </a:r>
          </a:p>
          <a:p xmlns:a="http://schemas.openxmlformats.org/drawingml/2006/main">
            <a:pPr algn="l"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• 扩展方向保留在思考题和后续计划中。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284CAB-9244-43FB-968F-CCFF0F9E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86375"/>
            <a:ext cx="857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121D5B-F3A1-44B3-8758-4B4297A0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86375"/>
            <a:ext cx="57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7DA533-2B92-4376-BAED-1EE7ACC2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400675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参考来源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36EEE9-4F37-42E8-AD2B-6450756D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686425"/>
            <a:ext cx="815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参考 rCore / LearningOS 的教学组织思想、RISC-V 规范与公开教材；源码主体在比赛仓库内完成。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3A3ACF-4109-48A0-9627-83F4090F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251305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EB3BC3-3798-4CB5-A10B-E4AFBED8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29313-B30F-4F86-A23D-F197C67E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5DCEF-48CC-444F-A960-24B69E2A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DFF6B-DECE-46F2-AC15-CBDEE287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E2D91B-8626-4041-8DDB-8CB997F3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77084-1A89-427F-A28E-36CCC40B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F41B9-B957-491D-A8E7-604879AE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5BF76-574C-4A48-B3DE-033DF860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53ECC-1099-48D8-A030-921B494F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053D2-8702-4F96-A0DC-624CEA28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E0DB3-04A7-463D-B7AE-CDFAE46D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8142C-CA19-43EA-BEDB-37613BAD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1FF5AF-499A-461F-B7CD-58701367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C1C1A-D970-4CBD-8112-99807FA9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723DA0-E6F7-4130-B8F0-C46673D9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CA1502-DF80-4F7C-B2D2-8F8CCF6A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34EC3A-0045-4AF6-A948-5035BE4D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88EEC8-1FA0-465A-AF72-7F475B27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363BA7-0F70-4065-9E23-E6AB5C4D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26D3C-F1F9-476C-AA38-1D72F370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E3646B-25E8-4381-AEEC-6D179362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1AAEB3-69DE-4F9D-8709-CA838C73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CD2E1-9B52-4DEE-AB23-10EC89FB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93FE2-1C06-472C-80FA-1C244C4C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B90D38-4FD7-47ED-9464-2F17615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F22EFB-6F32-4245-9617-90C96D68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3A44A2-D15D-4620-A16B-45A0E8BB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A3BCD1-E08C-4715-969F-A09D7A17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5F2E23-2B94-4C56-BC6F-FC562D9D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52BBE-234C-47F9-8947-BA8BB32C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7848E5-BAC1-4863-B07E-69631CB7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Final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B3E26E-CED2-4946-98F5-1B6AC39B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ACCD0-033A-490C-9085-C80B6EF3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52500"/>
            <a:ext cx="20955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AE7B1D-3D9C-44ED-9CA9-EF2F095D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52500"/>
            <a:ext cx="18288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EDAB97-22B3-470A-9D4E-8677E791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952500"/>
            <a:ext cx="15621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01D00C-78BD-4418-869D-E5FBDECF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952500"/>
            <a:ext cx="12954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D0AD19-C620-4819-BBFE-939EAA1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952500"/>
            <a:ext cx="10287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8D63E8-E934-43FC-BCFB-B7490966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52500"/>
            <a:ext cx="7620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D4FF76-69FB-41B1-AE4A-286CA763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952500"/>
            <a:ext cx="4953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B2F74E-97D2-4727-87DD-28C0F8D2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952500"/>
            <a:ext cx="2286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B34914-C606-40B6-BA8C-B54F877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952500"/>
            <a:ext cx="-381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CB3A24-76E1-4672-9B64-5028CDFE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952500"/>
            <a:ext cx="-3048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7CCF96-0267-4F3A-BB8E-FE1CB937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952500"/>
            <a:ext cx="-5715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E4C5C2-7DDD-4BE7-8409-98E5C8E5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952500"/>
            <a:ext cx="-8382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09CDB7-AAC9-4B5C-B045-4B17FA16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952500"/>
            <a:ext cx="-11049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D2691C-F0FF-47EE-9E6A-F5FDA059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52500"/>
            <a:ext cx="-13716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C518C7-AC4A-4437-AF8F-F4DA614B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952500"/>
            <a:ext cx="-16383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E7A18B-9862-4806-9BA9-A598A3E0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952500"/>
            <a:ext cx="-19050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7E98BA-4079-4E71-922F-FAB58587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952500"/>
            <a:ext cx="-21717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A55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5D3C3F-B8A2-4CC3-823D-84584A0A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952500"/>
            <a:ext cx="-2438400" cy="523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43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D970DE-4E16-4F78-9EC4-7D1D70CE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D5FF"/>
                </a:solidFill>
              </a:defRPr>
            </a:pPr>
            <a:r>
              <a:rPr sz="3300" b="1">
                <a:solidFill>
                  <a:srgbClr val="39D5FF"/>
                </a:solidFill>
              </a:rPr>
              <a:t>最终结论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D84B26-70E0-4A95-A0A6-040F12B4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8FAFC"/>
                </a:solidFill>
              </a:defRPr>
            </a:pPr>
            <a:r>
              <a:rPr sz="3900" b="1">
                <a:solidFill>
                  <a:srgbClr val="F8FAFC"/>
                </a:solidFill>
              </a:rPr>
              <a:t>完成的不只是一个能跑的内核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A5DEBE-F658-467A-A332-FD3F3BE6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1009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DBA74"/>
                </a:solidFill>
              </a:defRPr>
            </a:pPr>
            <a:r>
              <a:rPr sz="3600" b="1">
                <a:solidFill>
                  <a:srgbClr val="FDBA74"/>
                </a:solidFill>
              </a:rPr>
              <a:t>而是一套可直接面向本科生使用的 OS 教学实验环境。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30BDB0-EFB3-4BD7-A71F-ACCB863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9906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81A2E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6754B1B-4331-4308-BC20-20BAEA55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168E5A-994E-4832-920C-AE78DD0A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720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现场演示建议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D7C074-EFC7-4677-A78D-CEB7BB7B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591050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9BAD0"/>
                </a:solidFill>
              </a:defRPr>
            </a:pPr>
            <a:r>
              <a:rPr sz="1575" b="0">
                <a:solidFill>
                  <a:srgbClr val="A9BAD0"/>
                </a:solidFill>
              </a:rPr>
              <a:t>GitLab main / DESIGN.md → 一个 starter 任务书 → lab7-solution 运行 test-lab7.ps1 → 解释 [Lab7] PASS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C95F32-D678-4A94-A7D6-0535C0A2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3450" b="1">
                <a:solidFill>
                  <a:srgbClr val="FDBA74"/>
                </a:solidFill>
              </a:defRPr>
            </a:pPr>
            <a:r>
              <a:rPr sz="3450" b="1">
                <a:solidFill>
                  <a:srgbClr val="FDBA74"/>
                </a:solidFill>
              </a:rPr>
              <a:t>Q &amp; 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93DE59-454A-4B95-A4AF-FE90F034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20544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2026-06-30T10:31:36.1710000Z</dcterms:created>
  <dcterms:modified xsi:type="dcterms:W3CDTF">2026-06-30T10:31:36.1710000Z</dcterms:modified>
</coreProperties>
</file>